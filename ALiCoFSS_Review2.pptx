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8" r:id="rId3"/>
    <p:sldId id="259" r:id="rId4"/>
    <p:sldId id="260" r:id="rId5"/>
    <p:sldId id="261" r:id="rId6"/>
    <p:sldId id="262"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0A27B938-F04F-B417-9148-6085D5ED9118}">
          <p14:sldIdLst>
            <p14:sldId id="256"/>
          </p14:sldIdLst>
        </p14:section>
        <p14:section name="1 Problem" id="{E55977E2-B668-6055-A42D-6D7F16EC566B}">
          <p14:sldIdLst>
            <p14:sldId id="258"/>
            <p14:sldId id="259"/>
            <p14:sldId id="260"/>
            <p14:sldId id="261"/>
            <p14:sldId id="262"/>
            <p14:sldId id="264"/>
          </p14:sldIdLst>
        </p14:section>
        <p14:section name="2 Requirements" id="{2EE80490-0013-4699-06A2-9BFBF256D37D}">
          <p14:sldIdLst>
            <p14:sldId id="265"/>
            <p14:sldId id="266"/>
            <p14:sldId id="267"/>
            <p14:sldId id="268"/>
          </p14:sldIdLst>
        </p14:section>
        <p14:section name="3 Literature survey" id="{2FE4C462-63DA-45A3-78CE-3DA402E91132}">
          <p14:sldIdLst>
            <p14:sldId id="269"/>
            <p14:sldId id="270"/>
            <p14:sldId id="271"/>
            <p14:sldId id="272"/>
            <p14:sldId id="273"/>
          </p14:sldIdLst>
        </p14:section>
        <p14:section name="4 Concept" id="{2C0611A6-671D-2940-B7A6-848F10907DFF}">
          <p14:sldIdLst>
            <p14:sldId id="274"/>
            <p14:sldId id="275"/>
            <p14:sldId id="276"/>
            <p14:sldId id="277"/>
          </p14:sldIdLst>
        </p14:section>
        <p14:section name="5 Plan" id="{BAAE4466-D828-7CE9-27F3-AC5A70B533C9}">
          <p14:sldIdLst>
            <p14:sldId id="278"/>
            <p14:sldId id="279"/>
            <p14:sldId id="280"/>
            <p14:sldId id="281"/>
            <p14:sldId id="282"/>
          </p14:sldIdLst>
        </p14:section>
        <p14:section name="References" id="{CFC868FE-87DE-F50F-77BB-5F9259C3233A}">
          <p14:sldIdLst>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0" d="100"/>
          <a:sy n="130" d="100"/>
        </p:scale>
        <p:origin x="82"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Late braking</c:v>
                </c:pt>
              </c:strCache>
            </c:strRef>
          </c:tx>
          <c:spPr>
            <a:ln w="31750" cap="flat">
              <a:solidFill>
                <a:srgbClr val="B3202A"/>
              </a:solidFill>
              <a:prstDash val="solid"/>
              <a:round/>
            </a:ln>
            <a:effectLst/>
          </c:spPr>
          <c:marker>
            <c:symbol val="none"/>
          </c:marker>
          <c:cat>
            <c:strRef>
              <c:f>Sheet1!$A$2:$A$32</c:f>
              <c:strCache>
                <c:ptCount val="31"/>
                <c:pt idx="0">
                  <c:v>0</c:v>
                </c:pt>
                <c:pt idx="1">
                  <c:v> </c:v>
                </c:pt>
                <c:pt idx="2">
                  <c:v> </c:v>
                </c:pt>
                <c:pt idx="3">
                  <c:v> </c:v>
                </c:pt>
                <c:pt idx="4">
                  <c:v> </c:v>
                </c:pt>
                <c:pt idx="5">
                  <c:v>50</c:v>
                </c:pt>
                <c:pt idx="6">
                  <c:v> </c:v>
                </c:pt>
                <c:pt idx="7">
                  <c:v> </c:v>
                </c:pt>
                <c:pt idx="8">
                  <c:v> </c:v>
                </c:pt>
                <c:pt idx="9">
                  <c:v> </c:v>
                </c:pt>
                <c:pt idx="10">
                  <c:v>100</c:v>
                </c:pt>
                <c:pt idx="11">
                  <c:v> </c:v>
                </c:pt>
                <c:pt idx="12">
                  <c:v> </c:v>
                </c:pt>
                <c:pt idx="13">
                  <c:v> </c:v>
                </c:pt>
                <c:pt idx="14">
                  <c:v> </c:v>
                </c:pt>
                <c:pt idx="15">
                  <c:v>150</c:v>
                </c:pt>
                <c:pt idx="16">
                  <c:v> </c:v>
                </c:pt>
                <c:pt idx="17">
                  <c:v> </c:v>
                </c:pt>
                <c:pt idx="18">
                  <c:v> </c:v>
                </c:pt>
                <c:pt idx="19">
                  <c:v> </c:v>
                </c:pt>
                <c:pt idx="20">
                  <c:v>200</c:v>
                </c:pt>
                <c:pt idx="21">
                  <c:v> </c:v>
                </c:pt>
                <c:pt idx="22">
                  <c:v> </c:v>
                </c:pt>
                <c:pt idx="23">
                  <c:v> </c:v>
                </c:pt>
                <c:pt idx="24">
                  <c:v> </c:v>
                </c:pt>
                <c:pt idx="25">
                  <c:v>250</c:v>
                </c:pt>
                <c:pt idx="26">
                  <c:v> </c:v>
                </c:pt>
                <c:pt idx="27">
                  <c:v> </c:v>
                </c:pt>
                <c:pt idx="28">
                  <c:v> </c:v>
                </c:pt>
                <c:pt idx="29">
                  <c:v> </c:v>
                </c:pt>
                <c:pt idx="30">
                  <c:v>300</c:v>
                </c:pt>
              </c:strCache>
            </c:strRef>
          </c:cat>
          <c:val>
            <c:numRef>
              <c:f>Sheet1!$B$2:$B$32</c:f>
              <c:numCache>
                <c:formatCode>General</c:formatCode>
                <c:ptCount val="31"/>
                <c:pt idx="0">
                  <c:v>40</c:v>
                </c:pt>
                <c:pt idx="1">
                  <c:v>40</c:v>
                </c:pt>
                <c:pt idx="2">
                  <c:v>40</c:v>
                </c:pt>
                <c:pt idx="3">
                  <c:v>40</c:v>
                </c:pt>
                <c:pt idx="4">
                  <c:v>40</c:v>
                </c:pt>
                <c:pt idx="5">
                  <c:v>40</c:v>
                </c:pt>
                <c:pt idx="6">
                  <c:v>40</c:v>
                </c:pt>
                <c:pt idx="7">
                  <c:v>40</c:v>
                </c:pt>
                <c:pt idx="8">
                  <c:v>40</c:v>
                </c:pt>
                <c:pt idx="9">
                  <c:v>40</c:v>
                </c:pt>
                <c:pt idx="10">
                  <c:v>40</c:v>
                </c:pt>
                <c:pt idx="11">
                  <c:v>40</c:v>
                </c:pt>
                <c:pt idx="12">
                  <c:v>40</c:v>
                </c:pt>
                <c:pt idx="13">
                  <c:v>40</c:v>
                </c:pt>
                <c:pt idx="14">
                  <c:v>40</c:v>
                </c:pt>
                <c:pt idx="15">
                  <c:v>40</c:v>
                </c:pt>
                <c:pt idx="16">
                  <c:v>40</c:v>
                </c:pt>
                <c:pt idx="17">
                  <c:v>40</c:v>
                </c:pt>
                <c:pt idx="18">
                  <c:v>40</c:v>
                </c:pt>
                <c:pt idx="19">
                  <c:v>40</c:v>
                </c:pt>
                <c:pt idx="20">
                  <c:v>40</c:v>
                </c:pt>
                <c:pt idx="21">
                  <c:v>40</c:v>
                </c:pt>
                <c:pt idx="22">
                  <c:v>40</c:v>
                </c:pt>
                <c:pt idx="23">
                  <c:v>40</c:v>
                </c:pt>
                <c:pt idx="24">
                  <c:v>40</c:v>
                </c:pt>
                <c:pt idx="25">
                  <c:v>40</c:v>
                </c:pt>
                <c:pt idx="26">
                  <c:v>40</c:v>
                </c:pt>
                <c:pt idx="27">
                  <c:v>40</c:v>
                </c:pt>
                <c:pt idx="28">
                  <c:v>40</c:v>
                </c:pt>
                <c:pt idx="29">
                  <c:v>40</c:v>
                </c:pt>
                <c:pt idx="30">
                  <c:v>15</c:v>
                </c:pt>
              </c:numCache>
            </c:numRef>
          </c:val>
          <c:smooth val="0"/>
          <c:extLst>
            <c:ext xmlns:c16="http://schemas.microsoft.com/office/drawing/2014/chart" uri="{C3380CC4-5D6E-409C-BE32-E72D297353CC}">
              <c16:uniqueId val="{00000000-B4DA-481F-B182-84E8EA5F8EEB}"/>
            </c:ext>
          </c:extLst>
        </c:ser>
        <c:ser>
          <c:idx val="1"/>
          <c:order val="1"/>
          <c:tx>
            <c:strRef>
              <c:f>Sheet1!$C$1</c:f>
              <c:strCache>
                <c:ptCount val="1"/>
                <c:pt idx="0">
                  <c:v>Lift-and-coast</c:v>
                </c:pt>
              </c:strCache>
            </c:strRef>
          </c:tx>
          <c:spPr>
            <a:ln w="31750" cap="flat">
              <a:solidFill>
                <a:srgbClr val="2F6F8F"/>
              </a:solidFill>
              <a:prstDash val="solid"/>
              <a:round/>
            </a:ln>
            <a:effectLst/>
          </c:spPr>
          <c:marker>
            <c:symbol val="none"/>
          </c:marker>
          <c:cat>
            <c:strRef>
              <c:f>Sheet1!$A$2:$A$32</c:f>
              <c:strCache>
                <c:ptCount val="31"/>
                <c:pt idx="0">
                  <c:v>0</c:v>
                </c:pt>
                <c:pt idx="1">
                  <c:v> </c:v>
                </c:pt>
                <c:pt idx="2">
                  <c:v> </c:v>
                </c:pt>
                <c:pt idx="3">
                  <c:v> </c:v>
                </c:pt>
                <c:pt idx="4">
                  <c:v> </c:v>
                </c:pt>
                <c:pt idx="5">
                  <c:v>50</c:v>
                </c:pt>
                <c:pt idx="6">
                  <c:v> </c:v>
                </c:pt>
                <c:pt idx="7">
                  <c:v> </c:v>
                </c:pt>
                <c:pt idx="8">
                  <c:v> </c:v>
                </c:pt>
                <c:pt idx="9">
                  <c:v> </c:v>
                </c:pt>
                <c:pt idx="10">
                  <c:v>100</c:v>
                </c:pt>
                <c:pt idx="11">
                  <c:v> </c:v>
                </c:pt>
                <c:pt idx="12">
                  <c:v> </c:v>
                </c:pt>
                <c:pt idx="13">
                  <c:v> </c:v>
                </c:pt>
                <c:pt idx="14">
                  <c:v> </c:v>
                </c:pt>
                <c:pt idx="15">
                  <c:v>150</c:v>
                </c:pt>
                <c:pt idx="16">
                  <c:v> </c:v>
                </c:pt>
                <c:pt idx="17">
                  <c:v> </c:v>
                </c:pt>
                <c:pt idx="18">
                  <c:v> </c:v>
                </c:pt>
                <c:pt idx="19">
                  <c:v> </c:v>
                </c:pt>
                <c:pt idx="20">
                  <c:v>200</c:v>
                </c:pt>
                <c:pt idx="21">
                  <c:v> </c:v>
                </c:pt>
                <c:pt idx="22">
                  <c:v> </c:v>
                </c:pt>
                <c:pt idx="23">
                  <c:v> </c:v>
                </c:pt>
                <c:pt idx="24">
                  <c:v> </c:v>
                </c:pt>
                <c:pt idx="25">
                  <c:v>250</c:v>
                </c:pt>
                <c:pt idx="26">
                  <c:v> </c:v>
                </c:pt>
                <c:pt idx="27">
                  <c:v> </c:v>
                </c:pt>
                <c:pt idx="28">
                  <c:v> </c:v>
                </c:pt>
                <c:pt idx="29">
                  <c:v> </c:v>
                </c:pt>
                <c:pt idx="30">
                  <c:v>300</c:v>
                </c:pt>
              </c:strCache>
            </c:strRef>
          </c:cat>
          <c:val>
            <c:numRef>
              <c:f>Sheet1!$C$2:$C$32</c:f>
              <c:numCache>
                <c:formatCode>General</c:formatCode>
                <c:ptCount val="31"/>
                <c:pt idx="0">
                  <c:v>40</c:v>
                </c:pt>
                <c:pt idx="1">
                  <c:v>40</c:v>
                </c:pt>
                <c:pt idx="2">
                  <c:v>40</c:v>
                </c:pt>
                <c:pt idx="3">
                  <c:v>40</c:v>
                </c:pt>
                <c:pt idx="4">
                  <c:v>40</c:v>
                </c:pt>
                <c:pt idx="5">
                  <c:v>40</c:v>
                </c:pt>
                <c:pt idx="6">
                  <c:v>40</c:v>
                </c:pt>
                <c:pt idx="7">
                  <c:v>40</c:v>
                </c:pt>
                <c:pt idx="8">
                  <c:v>40</c:v>
                </c:pt>
                <c:pt idx="9">
                  <c:v>39.799999999999997</c:v>
                </c:pt>
                <c:pt idx="10">
                  <c:v>39</c:v>
                </c:pt>
                <c:pt idx="11">
                  <c:v>38.200000000000003</c:v>
                </c:pt>
                <c:pt idx="12">
                  <c:v>37.299999999999997</c:v>
                </c:pt>
                <c:pt idx="13">
                  <c:v>36.4</c:v>
                </c:pt>
                <c:pt idx="14">
                  <c:v>35.5</c:v>
                </c:pt>
                <c:pt idx="15">
                  <c:v>34.6</c:v>
                </c:pt>
                <c:pt idx="16">
                  <c:v>33.6</c:v>
                </c:pt>
                <c:pt idx="17">
                  <c:v>32.700000000000003</c:v>
                </c:pt>
                <c:pt idx="18">
                  <c:v>31.7</c:v>
                </c:pt>
                <c:pt idx="19">
                  <c:v>30.6</c:v>
                </c:pt>
                <c:pt idx="20">
                  <c:v>29.5</c:v>
                </c:pt>
                <c:pt idx="21">
                  <c:v>28.4</c:v>
                </c:pt>
                <c:pt idx="22">
                  <c:v>27.3</c:v>
                </c:pt>
                <c:pt idx="23">
                  <c:v>26</c:v>
                </c:pt>
                <c:pt idx="24">
                  <c:v>24.8</c:v>
                </c:pt>
                <c:pt idx="25">
                  <c:v>23.4</c:v>
                </c:pt>
                <c:pt idx="26">
                  <c:v>22</c:v>
                </c:pt>
                <c:pt idx="27">
                  <c:v>20.5</c:v>
                </c:pt>
                <c:pt idx="28">
                  <c:v>18.8</c:v>
                </c:pt>
                <c:pt idx="29">
                  <c:v>17</c:v>
                </c:pt>
                <c:pt idx="30">
                  <c:v>15</c:v>
                </c:pt>
              </c:numCache>
            </c:numRef>
          </c:val>
          <c:smooth val="0"/>
          <c:extLst>
            <c:ext xmlns:c16="http://schemas.microsoft.com/office/drawing/2014/chart" uri="{C3380CC4-5D6E-409C-BE32-E72D297353CC}">
              <c16:uniqueId val="{00000001-B4DA-481F-B182-84E8EA5F8EEB}"/>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000" b="0" i="0" u="none" strike="noStrike">
                    <a:solidFill>
                      <a:srgbClr val="52606D"/>
                    </a:solidFill>
                    <a:latin typeface="+mn-lt"/>
                  </a:defRPr>
                </a:pPr>
                <a:r>
                  <a:rPr lang="en-US" sz="1000" b="0" i="0" u="none" strike="noStrike">
                    <a:solidFill>
                      <a:srgbClr val="52606D"/>
                    </a:solidFill>
                    <a:latin typeface="+mn-lt"/>
                  </a:rPr>
                  <a:t>Distance (m), turn at 300</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2606D"/>
                </a:solidFill>
                <a:latin typeface="+mn-lt"/>
              </a:defRPr>
            </a:pPr>
            <a:endParaRPr lang="en-US"/>
          </a:p>
        </c:txPr>
        <c:crossAx val="2094734552"/>
        <c:crosses val="autoZero"/>
        <c:auto val="1"/>
        <c:lblAlgn val="ctr"/>
        <c:lblOffset val="100"/>
        <c:noMultiLvlLbl val="1"/>
      </c:catAx>
      <c:valAx>
        <c:axId val="2094734552"/>
        <c:scaling>
          <c:orientation val="minMax"/>
          <c:max val="45"/>
          <c:min val="0"/>
        </c:scaling>
        <c:delete val="0"/>
        <c:axPos val="l"/>
        <c:majorGridlines>
          <c:spPr>
            <a:ln w="6350" cap="flat">
              <a:solidFill>
                <a:srgbClr val="E5E7EB"/>
              </a:solidFill>
              <a:prstDash val="solid"/>
              <a:round/>
            </a:ln>
          </c:spPr>
        </c:majorGridlines>
        <c:title>
          <c:tx>
            <c:rich>
              <a:bodyPr/>
              <a:lstStyle/>
              <a:p>
                <a:pPr>
                  <a:defRPr sz="1000" b="0" i="0" u="none" strike="noStrike">
                    <a:solidFill>
                      <a:srgbClr val="52606D"/>
                    </a:solidFill>
                    <a:latin typeface="+mn-lt"/>
                  </a:defRPr>
                </a:pPr>
                <a:r>
                  <a:rPr lang="en-IN" sz="1000" b="0" i="0" u="none" strike="noStrike">
                    <a:solidFill>
                      <a:srgbClr val="52606D"/>
                    </a:solidFill>
                    <a:latin typeface="+mn-lt"/>
                  </a:rPr>
                  <a:t>Speed (km/h)</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2606D"/>
                </a:solidFill>
                <a:latin typeface="+mn-lt"/>
              </a:defRPr>
            </a:pPr>
            <a:endParaRPr lang="en-US"/>
          </a:p>
        </c:txPr>
        <c:crossAx val="2094734554"/>
        <c:crosses val="autoZero"/>
        <c:crossBetween val="between"/>
        <c:majorUnit val="15"/>
      </c:valAx>
      <c:spPr>
        <a:noFill/>
        <a:ln>
          <a:noFill/>
        </a:ln>
        <a:effectLst/>
      </c:spPr>
    </c:plotArea>
    <c:legend>
      <c:legendPos val="b"/>
      <c:overlay val="0"/>
      <c:txPr>
        <a:bodyPr/>
        <a:lstStyle/>
        <a:p>
          <a:pPr>
            <a:defRPr sz="1100">
              <a:solidFill>
                <a:srgbClr val="1F29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0682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the racing figures are simulator-based, from sim-racing sources, not real race data. The 2-3 L per Nurburgring lap is the presenter's own informal observation and is not logged. The road-relevance evidence is the eco-driving paper (Bakibillah et al.), which compares anticipatory driving with human-style driving in simulation. We commit to measuring our own savings in simulation.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deliberately not quoting a percentage target. It depends on the fuel model and baseline, which are not validated yet. The target will be set after baseline runs.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Tolerances are intentionally not numeric yet. They will be set after baseline runs, consistent with not committing to a target percentage.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1 to 4 are cited as listed in the two prior-art papers. The sim-racing sources are simulator-based and used only as indicative evidence.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is an illustrative schematic generated from the formula with an assumed coasting deceleration of 0.25 m/s2. It is not simulator data. The coast-down test will give the real value for the simulated vehicle.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map loaded, car spawned, GNSS sensor attached, autopilot driving, speed printed along with throttle, brake and steering values read from the vehicle (a stand-in for reading its control unit). Be ready to say which source the speed comes from.</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293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554480"/>
            <a:ext cx="7863840" cy="82296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a:spLocks noGrp="1"/>
          </p:cNvSpPr>
          <p:nvPr>
            <p:ph type="body" idx="101" hasCustomPrompt="1"/>
          </p:nvPr>
        </p:nvSpPr>
        <p:spPr>
          <a:xfrm>
            <a:off x="640080" y="2560320"/>
            <a:ext cx="7315200" cy="91440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02920"/>
            <a:ext cx="8229600" cy="59436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3" name="Text 0"/>
          <p:cNvSpPr/>
          <p:nvPr/>
        </p:nvSpPr>
        <p:spPr>
          <a:xfrm>
            <a:off x="457200" y="4791456"/>
            <a:ext cx="3657600" cy="201168"/>
          </a:xfrm>
          <a:prstGeom prst="rect">
            <a:avLst/>
          </a:prstGeom>
          <a:noFill/>
          <a:ln/>
        </p:spPr>
        <p:txBody>
          <a:bodyPr wrap="square" lIns="0" tIns="0" rIns="0" bIns="0" rtlCol="0" anchor="ctr"/>
          <a:lstStyle/>
          <a:p>
            <a:pPr marL="0" indent="0">
              <a:buNone/>
            </a:pPr>
            <a:r>
              <a:rPr lang="en-US" sz="1000" dirty="0">
                <a:solidFill>
                  <a:schemeClr val="tx2"/>
                </a:solidFill>
              </a:rPr>
              <a:t>ALiCoFSS  |  Review 2</a:t>
            </a:r>
            <a:endParaRPr lang="en-US" sz="10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eview tag"/>
          <p:cNvSpPr/>
          <p:nvPr/>
        </p:nvSpPr>
        <p:spPr>
          <a:xfrm>
            <a:off x="640080" y="914400"/>
            <a:ext cx="1188720" cy="347472"/>
          </a:xfrm>
          <a:prstGeom prst="roundRect">
            <a:avLst>
              <a:gd name="adj" fmla="val 15789"/>
            </a:avLst>
          </a:prstGeom>
          <a:solidFill>
            <a:schemeClr val="accent1"/>
          </a:solidFill>
          <a:ln/>
        </p:spPr>
        <p:txBody>
          <a:bodyPr wrap="square" lIns="0" tIns="0" rIns="0" bIns="0" rtlCol="0" anchor="ctr"/>
          <a:lstStyle/>
          <a:p>
            <a:pPr marL="0" indent="0" algn="ctr">
              <a:buNone/>
            </a:pPr>
            <a:r>
              <a:rPr lang="en-US" sz="1200" b="1" kern="0" spc="200" dirty="0">
                <a:solidFill>
                  <a:schemeClr val="bg1"/>
                </a:solidFill>
              </a:rPr>
              <a:t>REVIEW 2</a:t>
            </a:r>
            <a:endParaRPr lang="en-US" sz="1200" dirty="0"/>
          </a:p>
        </p:txBody>
      </p:sp>
      <p:sp>
        <p:nvSpPr>
          <p:cNvPr id="3" name="Text 0"/>
          <p:cNvSpPr>
            <a:spLocks noGrp="1"/>
          </p:cNvSpPr>
          <p:nvPr>
            <p:ph type="title" idx="100" hasCustomPrompt="1"/>
          </p:nvPr>
        </p:nvSpPr>
        <p:spPr>
          <a:xfrm>
            <a:off x="640080" y="1554480"/>
            <a:ext cx="7863840" cy="822960"/>
          </a:xfrm>
          <a:prstGeom prst="rect">
            <a:avLst/>
          </a:prstGeom>
          <a:noFill/>
          <a:ln/>
        </p:spPr>
        <p:txBody>
          <a:bodyPr wrap="square" lIns="0" tIns="0" rIns="0" bIns="0" rtlCol="0" anchor="t"/>
          <a:lstStyle/>
          <a:p>
            <a:pPr marL="0" indent="0" algn="l">
              <a:buNone/>
            </a:pPr>
            <a:r>
              <a:rPr lang="en-US" sz="4800" b="1" dirty="0">
                <a:solidFill>
                  <a:schemeClr val="bg1"/>
                </a:solidFill>
              </a:rPr>
              <a:t>ALiCoFSS</a:t>
            </a:r>
            <a:endParaRPr lang="en-US" sz="4800" dirty="0"/>
          </a:p>
        </p:txBody>
      </p:sp>
      <p:sp>
        <p:nvSpPr>
          <p:cNvPr id="4" name="Text 0"/>
          <p:cNvSpPr>
            <a:spLocks noGrp="1"/>
          </p:cNvSpPr>
          <p:nvPr>
            <p:ph type="body" idx="101" hasCustomPrompt="1"/>
          </p:nvPr>
        </p:nvSpPr>
        <p:spPr>
          <a:xfrm>
            <a:off x="640080" y="2560320"/>
            <a:ext cx="7315200" cy="914400"/>
          </a:xfrm>
          <a:prstGeom prst="rect">
            <a:avLst/>
          </a:prstGeom>
          <a:noFill/>
          <a:ln/>
        </p:spPr>
        <p:txBody>
          <a:bodyPr wrap="square" lIns="0" tIns="0" rIns="0" bIns="0" rtlCol="0" anchor="t"/>
          <a:lstStyle/>
          <a:p>
            <a:pPr marL="0" indent="0">
              <a:buNone/>
            </a:pPr>
            <a:r>
              <a:rPr lang="en-US" sz="1800" dirty="0">
                <a:solidFill>
                  <a:schemeClr val="bg2"/>
                </a:solidFill>
              </a:rPr>
              <a:t>Problem definition, requirements, literature survey, concept and project plan</a:t>
            </a:r>
            <a:endParaRPr lang="en-US" sz="1800" dirty="0"/>
          </a:p>
        </p:txBody>
      </p:sp>
      <p:sp>
        <p:nvSpPr>
          <p:cNvPr id="5" name="Text 3"/>
          <p:cNvSpPr txBox="1"/>
          <p:nvPr/>
        </p:nvSpPr>
        <p:spPr>
          <a:xfrm>
            <a:off x="640080" y="4114800"/>
            <a:ext cx="7315200" cy="274320"/>
          </a:xfrm>
          <a:prstGeom prst="rect">
            <a:avLst/>
          </a:prstGeom>
          <a:noFill/>
          <a:ln/>
        </p:spPr>
        <p:txBody>
          <a:bodyPr wrap="square" lIns="0" tIns="0" rIns="0" bIns="0" rtlCol="0" anchor="t"/>
          <a:lstStyle/>
          <a:p>
            <a:pPr marL="0" indent="0">
              <a:buNone/>
            </a:pPr>
            <a:r>
              <a:rPr lang="en-US" sz="1400" dirty="0">
                <a:solidFill>
                  <a:schemeClr val="bg2"/>
                </a:solidFill>
              </a:rPr>
              <a:t>Multidisciplinary project  |  EEE  |  Civil  |  AI/ML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1  PROBLEM IDENTIFICATION AND DEFINITION</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The problem</a:t>
            </a:r>
            <a:endParaRPr lang="en-US" sz="2800" dirty="0"/>
          </a:p>
        </p:txBody>
      </p:sp>
      <p:sp>
        <p:nvSpPr>
          <p:cNvPr id="4" name="Problem statement"/>
          <p:cNvSpPr/>
          <p:nvPr/>
        </p:nvSpPr>
        <p:spPr>
          <a:xfrm>
            <a:off x="457200" y="1280160"/>
            <a:ext cx="8229600" cy="1508760"/>
          </a:xfrm>
          <a:prstGeom prst="roundRect">
            <a:avLst>
              <a:gd name="adj" fmla="val 4848"/>
            </a:avLst>
          </a:prstGeom>
          <a:solidFill>
            <a:schemeClr val="bg2"/>
          </a:solidFill>
          <a:ln/>
        </p:spPr>
      </p:sp>
      <p:sp>
        <p:nvSpPr>
          <p:cNvPr id="5" name="Text 3"/>
          <p:cNvSpPr txBox="1"/>
          <p:nvPr/>
        </p:nvSpPr>
        <p:spPr>
          <a:xfrm>
            <a:off x="685800" y="1417320"/>
            <a:ext cx="7772400" cy="1280160"/>
          </a:xfrm>
          <a:prstGeom prst="rect">
            <a:avLst/>
          </a:prstGeom>
          <a:noFill/>
          <a:ln/>
        </p:spPr>
        <p:txBody>
          <a:bodyPr wrap="square" lIns="0" tIns="0" rIns="0" bIns="0" rtlCol="0" anchor="ctr"/>
          <a:lstStyle/>
          <a:p>
            <a:pPr marL="0" indent="0">
              <a:buNone/>
            </a:pPr>
            <a:r>
              <a:rPr lang="en-US" sz="1700" dirty="0">
                <a:solidFill>
                  <a:schemeClr val="tx1"/>
                </a:solidFill>
              </a:rPr>
              <a:t>Lift and Coast (LiCo) saves fuel and reduces brake and tyre wear, and skilled racing drivers use it routinely. But it demands mastery and precision, so an average driver cannot do it consistently. Done badly, it is also a safety risk to the driver and the people around them.</a:t>
            </a:r>
            <a:endParaRPr lang="en-US" sz="1700" dirty="0"/>
          </a:p>
        </p:txBody>
      </p:sp>
      <p:sp>
        <p:nvSpPr>
          <p:cNvPr id="6" name="Point 1"/>
          <p:cNvSpPr/>
          <p:nvPr/>
        </p:nvSpPr>
        <p:spPr>
          <a:xfrm>
            <a:off x="457200" y="3017520"/>
            <a:ext cx="2651760" cy="1417320"/>
          </a:xfrm>
          <a:prstGeom prst="roundRect">
            <a:avLst>
              <a:gd name="adj" fmla="val 5161"/>
            </a:avLst>
          </a:prstGeom>
          <a:solidFill>
            <a:schemeClr val="bg2"/>
          </a:solidFill>
          <a:ln/>
        </p:spPr>
      </p:sp>
      <p:sp>
        <p:nvSpPr>
          <p:cNvPr id="7" name="Text 5"/>
          <p:cNvSpPr txBox="1"/>
          <p:nvPr/>
        </p:nvSpPr>
        <p:spPr>
          <a:xfrm>
            <a:off x="640080" y="3154680"/>
            <a:ext cx="2286000" cy="320040"/>
          </a:xfrm>
          <a:prstGeom prst="rect">
            <a:avLst/>
          </a:prstGeom>
          <a:noFill/>
          <a:ln/>
        </p:spPr>
        <p:txBody>
          <a:bodyPr wrap="square" lIns="0" tIns="0" rIns="0" bIns="0" rtlCol="0" anchor="t"/>
          <a:lstStyle/>
          <a:p>
            <a:pPr marL="0" indent="0">
              <a:buNone/>
            </a:pPr>
            <a:r>
              <a:rPr lang="en-US" sz="1600" b="1" dirty="0">
                <a:solidFill>
                  <a:schemeClr val="accent2"/>
                </a:solidFill>
              </a:rPr>
              <a:t>What it is</a:t>
            </a:r>
            <a:endParaRPr lang="en-US" sz="1600" dirty="0"/>
          </a:p>
        </p:txBody>
      </p:sp>
      <p:sp>
        <p:nvSpPr>
          <p:cNvPr id="8" name="Text 6"/>
          <p:cNvSpPr txBox="1"/>
          <p:nvPr/>
        </p:nvSpPr>
        <p:spPr>
          <a:xfrm>
            <a:off x="640080" y="3520440"/>
            <a:ext cx="2286000" cy="777240"/>
          </a:xfrm>
          <a:prstGeom prst="rect">
            <a:avLst/>
          </a:prstGeom>
          <a:noFill/>
          <a:ln/>
        </p:spPr>
        <p:txBody>
          <a:bodyPr wrap="square" lIns="0" tIns="0" rIns="0" bIns="0" rtlCol="0" anchor="t"/>
          <a:lstStyle/>
          <a:p>
            <a:pPr marL="0" indent="0">
              <a:buNone/>
            </a:pPr>
            <a:r>
              <a:rPr lang="en-US" sz="1400" dirty="0">
                <a:solidFill>
                  <a:schemeClr val="tx1"/>
                </a:solidFill>
              </a:rPr>
              <a:t>Lift off the throttle early and let the car slow itself, instead of braking late.</a:t>
            </a:r>
            <a:endParaRPr lang="en-US" sz="1400" dirty="0"/>
          </a:p>
        </p:txBody>
      </p:sp>
      <p:sp>
        <p:nvSpPr>
          <p:cNvPr id="9" name="Point 2"/>
          <p:cNvSpPr/>
          <p:nvPr/>
        </p:nvSpPr>
        <p:spPr>
          <a:xfrm>
            <a:off x="3246120" y="3017520"/>
            <a:ext cx="2651760" cy="1417320"/>
          </a:xfrm>
          <a:prstGeom prst="roundRect">
            <a:avLst>
              <a:gd name="adj" fmla="val 5161"/>
            </a:avLst>
          </a:prstGeom>
          <a:solidFill>
            <a:schemeClr val="bg2"/>
          </a:solidFill>
          <a:ln/>
        </p:spPr>
      </p:sp>
      <p:sp>
        <p:nvSpPr>
          <p:cNvPr id="10" name="Text 8"/>
          <p:cNvSpPr txBox="1"/>
          <p:nvPr/>
        </p:nvSpPr>
        <p:spPr>
          <a:xfrm>
            <a:off x="3429000" y="3154680"/>
            <a:ext cx="2286000" cy="320040"/>
          </a:xfrm>
          <a:prstGeom prst="rect">
            <a:avLst/>
          </a:prstGeom>
          <a:noFill/>
          <a:ln/>
        </p:spPr>
        <p:txBody>
          <a:bodyPr wrap="square" lIns="0" tIns="0" rIns="0" bIns="0" rtlCol="0" anchor="t"/>
          <a:lstStyle/>
          <a:p>
            <a:pPr marL="0" indent="0">
              <a:buNone/>
            </a:pPr>
            <a:r>
              <a:rPr lang="en-US" sz="1600" b="1" dirty="0">
                <a:solidFill>
                  <a:schemeClr val="accent2"/>
                </a:solidFill>
              </a:rPr>
              <a:t>The barrier</a:t>
            </a:r>
            <a:endParaRPr lang="en-US" sz="1600" dirty="0"/>
          </a:p>
        </p:txBody>
      </p:sp>
      <p:sp>
        <p:nvSpPr>
          <p:cNvPr id="11" name="Text 9"/>
          <p:cNvSpPr txBox="1"/>
          <p:nvPr/>
        </p:nvSpPr>
        <p:spPr>
          <a:xfrm>
            <a:off x="3429000" y="3520440"/>
            <a:ext cx="2286000" cy="777240"/>
          </a:xfrm>
          <a:prstGeom prst="rect">
            <a:avLst/>
          </a:prstGeom>
          <a:noFill/>
          <a:ln/>
        </p:spPr>
        <p:txBody>
          <a:bodyPr wrap="square" lIns="0" tIns="0" rIns="0" bIns="0" rtlCol="0" anchor="t"/>
          <a:lstStyle/>
          <a:p>
            <a:pPr marL="0" indent="0">
              <a:buNone/>
            </a:pPr>
            <a:r>
              <a:rPr lang="en-US" sz="1400" dirty="0">
                <a:solidFill>
                  <a:schemeClr val="tx1"/>
                </a:solidFill>
              </a:rPr>
              <a:t>It takes judgement of distance and vehicle behaviour that most drivers lack.</a:t>
            </a:r>
            <a:endParaRPr lang="en-US" sz="1400" dirty="0"/>
          </a:p>
        </p:txBody>
      </p:sp>
      <p:sp>
        <p:nvSpPr>
          <p:cNvPr id="12" name="Point 3"/>
          <p:cNvSpPr/>
          <p:nvPr/>
        </p:nvSpPr>
        <p:spPr>
          <a:xfrm>
            <a:off x="6035040" y="3017520"/>
            <a:ext cx="2651760" cy="1417320"/>
          </a:xfrm>
          <a:prstGeom prst="roundRect">
            <a:avLst>
              <a:gd name="adj" fmla="val 5161"/>
            </a:avLst>
          </a:prstGeom>
          <a:solidFill>
            <a:schemeClr val="bg2"/>
          </a:solidFill>
          <a:ln/>
        </p:spPr>
      </p:sp>
      <p:sp>
        <p:nvSpPr>
          <p:cNvPr id="13" name="Text 11"/>
          <p:cNvSpPr txBox="1"/>
          <p:nvPr/>
        </p:nvSpPr>
        <p:spPr>
          <a:xfrm>
            <a:off x="6217920" y="3154680"/>
            <a:ext cx="2286000" cy="320040"/>
          </a:xfrm>
          <a:prstGeom prst="rect">
            <a:avLst/>
          </a:prstGeom>
          <a:noFill/>
          <a:ln/>
        </p:spPr>
        <p:txBody>
          <a:bodyPr wrap="square" lIns="0" tIns="0" rIns="0" bIns="0" rtlCol="0" anchor="t"/>
          <a:lstStyle/>
          <a:p>
            <a:pPr marL="0" indent="0">
              <a:buNone/>
            </a:pPr>
            <a:r>
              <a:rPr lang="en-US" sz="1600" b="1" dirty="0">
                <a:solidFill>
                  <a:schemeClr val="accent2"/>
                </a:solidFill>
              </a:rPr>
              <a:t>The risk</a:t>
            </a:r>
            <a:endParaRPr lang="en-US" sz="1600" dirty="0"/>
          </a:p>
        </p:txBody>
      </p:sp>
      <p:sp>
        <p:nvSpPr>
          <p:cNvPr id="14" name="Text 12"/>
          <p:cNvSpPr txBox="1"/>
          <p:nvPr/>
        </p:nvSpPr>
        <p:spPr>
          <a:xfrm>
            <a:off x="6217920" y="3520440"/>
            <a:ext cx="2286000" cy="777240"/>
          </a:xfrm>
          <a:prstGeom prst="rect">
            <a:avLst/>
          </a:prstGeom>
          <a:noFill/>
          <a:ln/>
        </p:spPr>
        <p:txBody>
          <a:bodyPr wrap="square" lIns="0" tIns="0" rIns="0" bIns="0" rtlCol="0" anchor="t"/>
          <a:lstStyle/>
          <a:p>
            <a:pPr marL="0" indent="0">
              <a:buNone/>
            </a:pPr>
            <a:r>
              <a:rPr lang="en-US" sz="1400" dirty="0">
                <a:solidFill>
                  <a:schemeClr val="tx1"/>
                </a:solidFill>
              </a:rPr>
              <a:t>Done wrong, it is a safety risk for the driver and people nearby.</a:t>
            </a:r>
            <a:endParaRPr lang="en-US" sz="14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1  PROBLEM IDENTIFICATION AND DEFINITION</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Who is affected, and when</a:t>
            </a:r>
            <a:endParaRPr lang="en-US" sz="2800" dirty="0"/>
          </a:p>
        </p:txBody>
      </p:sp>
      <p:sp>
        <p:nvSpPr>
          <p:cNvPr id="4" name="Who"/>
          <p:cNvSpPr/>
          <p:nvPr/>
        </p:nvSpPr>
        <p:spPr>
          <a:xfrm>
            <a:off x="457200" y="1280160"/>
            <a:ext cx="4023360" cy="1280160"/>
          </a:xfrm>
          <a:prstGeom prst="roundRect">
            <a:avLst>
              <a:gd name="adj" fmla="val 5714"/>
            </a:avLst>
          </a:prstGeom>
          <a:solidFill>
            <a:schemeClr val="bg2"/>
          </a:solidFill>
          <a:ln/>
        </p:spPr>
      </p:sp>
      <p:sp>
        <p:nvSpPr>
          <p:cNvPr id="5" name="Text 3"/>
          <p:cNvSpPr txBox="1"/>
          <p:nvPr/>
        </p:nvSpPr>
        <p:spPr>
          <a:xfrm>
            <a:off x="640080" y="1417320"/>
            <a:ext cx="3657600" cy="320040"/>
          </a:xfrm>
          <a:prstGeom prst="rect">
            <a:avLst/>
          </a:prstGeom>
          <a:noFill/>
          <a:ln/>
        </p:spPr>
        <p:txBody>
          <a:bodyPr wrap="square" lIns="0" tIns="0" rIns="0" bIns="0" rtlCol="0" anchor="t"/>
          <a:lstStyle/>
          <a:p>
            <a:pPr marL="0" indent="0">
              <a:buNone/>
            </a:pPr>
            <a:r>
              <a:rPr lang="en-US" sz="1600" b="1" dirty="0">
                <a:solidFill>
                  <a:schemeClr val="accent1"/>
                </a:solidFill>
              </a:rPr>
              <a:t>Who</a:t>
            </a:r>
            <a:endParaRPr lang="en-US" sz="1600" dirty="0"/>
          </a:p>
        </p:txBody>
      </p:sp>
      <p:sp>
        <p:nvSpPr>
          <p:cNvPr id="6" name="Text 4"/>
          <p:cNvSpPr txBox="1"/>
          <p:nvPr/>
        </p:nvSpPr>
        <p:spPr>
          <a:xfrm>
            <a:off x="640080" y="1783080"/>
            <a:ext cx="3657600" cy="640080"/>
          </a:xfrm>
          <a:prstGeom prst="rect">
            <a:avLst/>
          </a:prstGeom>
          <a:noFill/>
          <a:ln/>
        </p:spPr>
        <p:txBody>
          <a:bodyPr wrap="square" lIns="0" tIns="0" rIns="0" bIns="0" rtlCol="0" anchor="t"/>
          <a:lstStyle/>
          <a:p>
            <a:pPr marL="0" indent="0">
              <a:buNone/>
            </a:pPr>
            <a:r>
              <a:rPr lang="en-US" sz="1400" dirty="0">
                <a:solidFill>
                  <a:schemeClr val="tx1"/>
                </a:solidFill>
              </a:rPr>
              <a:t>Everyday ICE drivers. IC vehicles will remain a large share of the fleet for years.</a:t>
            </a:r>
            <a:endParaRPr lang="en-US" sz="1400" dirty="0"/>
          </a:p>
        </p:txBody>
      </p:sp>
      <p:sp>
        <p:nvSpPr>
          <p:cNvPr id="7" name="Situation"/>
          <p:cNvSpPr/>
          <p:nvPr/>
        </p:nvSpPr>
        <p:spPr>
          <a:xfrm>
            <a:off x="4663440" y="1280160"/>
            <a:ext cx="4023360" cy="1280160"/>
          </a:xfrm>
          <a:prstGeom prst="roundRect">
            <a:avLst>
              <a:gd name="adj" fmla="val 5714"/>
            </a:avLst>
          </a:prstGeom>
          <a:solidFill>
            <a:schemeClr val="bg2"/>
          </a:solidFill>
          <a:ln/>
        </p:spPr>
      </p:sp>
      <p:sp>
        <p:nvSpPr>
          <p:cNvPr id="8" name="Text 6"/>
          <p:cNvSpPr txBox="1"/>
          <p:nvPr/>
        </p:nvSpPr>
        <p:spPr>
          <a:xfrm>
            <a:off x="4846320" y="1417320"/>
            <a:ext cx="3657600" cy="320040"/>
          </a:xfrm>
          <a:prstGeom prst="rect">
            <a:avLst/>
          </a:prstGeom>
          <a:noFill/>
          <a:ln/>
        </p:spPr>
        <p:txBody>
          <a:bodyPr wrap="square" lIns="0" tIns="0" rIns="0" bIns="0" rtlCol="0" anchor="t"/>
          <a:lstStyle/>
          <a:p>
            <a:pPr marL="0" indent="0">
              <a:buNone/>
            </a:pPr>
            <a:r>
              <a:rPr lang="en-US" sz="1600" b="1" dirty="0">
                <a:solidFill>
                  <a:schemeClr val="accent1"/>
                </a:solidFill>
              </a:rPr>
              <a:t>Situation</a:t>
            </a:r>
            <a:endParaRPr lang="en-US" sz="1600" dirty="0"/>
          </a:p>
        </p:txBody>
      </p:sp>
      <p:sp>
        <p:nvSpPr>
          <p:cNvPr id="9" name="Text 7"/>
          <p:cNvSpPr txBox="1"/>
          <p:nvPr/>
        </p:nvSpPr>
        <p:spPr>
          <a:xfrm>
            <a:off x="4846320" y="1783080"/>
            <a:ext cx="3657600" cy="640080"/>
          </a:xfrm>
          <a:prstGeom prst="rect">
            <a:avLst/>
          </a:prstGeom>
          <a:noFill/>
          <a:ln/>
        </p:spPr>
        <p:txBody>
          <a:bodyPr wrap="square" lIns="0" tIns="0" rIns="0" bIns="0" rtlCol="0" anchor="t"/>
          <a:lstStyle/>
          <a:p>
            <a:pPr marL="0" indent="0">
              <a:buNone/>
            </a:pPr>
            <a:r>
              <a:rPr lang="en-US" sz="1400" dirty="0">
                <a:solidFill>
                  <a:schemeClr val="tx1"/>
                </a:solidFill>
              </a:rPr>
              <a:t>Approaching a sharp junction turn where speed must drop substantially, for example 40 to 15 km/h.</a:t>
            </a:r>
            <a:endParaRPr lang="en-US" sz="1400" dirty="0"/>
          </a:p>
        </p:txBody>
      </p:sp>
      <p:sp>
        <p:nvSpPr>
          <p:cNvPr id="10" name="Typical"/>
          <p:cNvSpPr/>
          <p:nvPr/>
        </p:nvSpPr>
        <p:spPr>
          <a:xfrm>
            <a:off x="457200" y="2834640"/>
            <a:ext cx="4023360" cy="1554480"/>
          </a:xfrm>
          <a:prstGeom prst="roundRect">
            <a:avLst>
              <a:gd name="adj" fmla="val 4706"/>
            </a:avLst>
          </a:prstGeom>
          <a:solidFill>
            <a:schemeClr val="bg2"/>
          </a:solidFill>
          <a:ln/>
        </p:spPr>
      </p:sp>
      <p:sp>
        <p:nvSpPr>
          <p:cNvPr id="11" name="Text 9"/>
          <p:cNvSpPr txBox="1"/>
          <p:nvPr/>
        </p:nvSpPr>
        <p:spPr>
          <a:xfrm>
            <a:off x="640080" y="2971800"/>
            <a:ext cx="3657600" cy="320040"/>
          </a:xfrm>
          <a:prstGeom prst="rect">
            <a:avLst/>
          </a:prstGeom>
          <a:noFill/>
          <a:ln/>
        </p:spPr>
        <p:txBody>
          <a:bodyPr wrap="square" lIns="0" tIns="0" rIns="0" bIns="0" rtlCol="0" anchor="t"/>
          <a:lstStyle/>
          <a:p>
            <a:pPr marL="0" indent="0">
              <a:buNone/>
            </a:pPr>
            <a:r>
              <a:rPr lang="en-US" sz="1600" b="1" dirty="0">
                <a:solidFill>
                  <a:schemeClr val="tx2"/>
                </a:solidFill>
              </a:rPr>
              <a:t>Typical driver</a:t>
            </a:r>
            <a:endParaRPr lang="en-US" sz="1600" dirty="0"/>
          </a:p>
        </p:txBody>
      </p:sp>
      <p:sp>
        <p:nvSpPr>
          <p:cNvPr id="12" name="Text 10"/>
          <p:cNvSpPr txBox="1"/>
          <p:nvPr/>
        </p:nvSpPr>
        <p:spPr>
          <a:xfrm>
            <a:off x="640080" y="3337560"/>
            <a:ext cx="3657600" cy="914400"/>
          </a:xfrm>
          <a:prstGeom prst="rect">
            <a:avLst/>
          </a:prstGeom>
          <a:noFill/>
          <a:ln/>
        </p:spPr>
        <p:txBody>
          <a:bodyPr wrap="square" lIns="0" tIns="0" rIns="0" bIns="0" rtlCol="0" anchor="t"/>
          <a:lstStyle/>
          <a:p>
            <a:pPr marL="0" indent="0">
              <a:buNone/>
            </a:pPr>
            <a:r>
              <a:rPr lang="en-US" sz="1400" dirty="0">
                <a:solidFill>
                  <a:schemeClr val="tx1"/>
                </a:solidFill>
              </a:rPr>
              <a:t>Holds speed, then brakes hard about 10 m before the turn. Wastes fuel and wears brakes.</a:t>
            </a:r>
            <a:endParaRPr lang="en-US" sz="1400" dirty="0"/>
          </a:p>
        </p:txBody>
      </p:sp>
      <p:sp>
        <p:nvSpPr>
          <p:cNvPr id="13" name="LiCo"/>
          <p:cNvSpPr/>
          <p:nvPr/>
        </p:nvSpPr>
        <p:spPr>
          <a:xfrm>
            <a:off x="4663440" y="2834640"/>
            <a:ext cx="4023360" cy="1554480"/>
          </a:xfrm>
          <a:prstGeom prst="roundRect">
            <a:avLst>
              <a:gd name="adj" fmla="val 4706"/>
            </a:avLst>
          </a:prstGeom>
          <a:solidFill>
            <a:schemeClr val="bg2"/>
          </a:solidFill>
          <a:ln/>
        </p:spPr>
      </p:sp>
      <p:sp>
        <p:nvSpPr>
          <p:cNvPr id="14" name="Text 12"/>
          <p:cNvSpPr txBox="1"/>
          <p:nvPr/>
        </p:nvSpPr>
        <p:spPr>
          <a:xfrm>
            <a:off x="4846320" y="2971800"/>
            <a:ext cx="3657600" cy="320040"/>
          </a:xfrm>
          <a:prstGeom prst="rect">
            <a:avLst/>
          </a:prstGeom>
          <a:noFill/>
          <a:ln/>
        </p:spPr>
        <p:txBody>
          <a:bodyPr wrap="square" lIns="0" tIns="0" rIns="0" bIns="0" rtlCol="0" anchor="t"/>
          <a:lstStyle/>
          <a:p>
            <a:pPr marL="0" indent="0">
              <a:buNone/>
            </a:pPr>
            <a:r>
              <a:rPr lang="en-US" sz="1600" b="1" dirty="0">
                <a:solidFill>
                  <a:schemeClr val="accent2"/>
                </a:solidFill>
              </a:rPr>
              <a:t>Lift and coast</a:t>
            </a:r>
            <a:endParaRPr lang="en-US" sz="1600" dirty="0"/>
          </a:p>
        </p:txBody>
      </p:sp>
      <p:sp>
        <p:nvSpPr>
          <p:cNvPr id="15" name="Text 13"/>
          <p:cNvSpPr txBox="1"/>
          <p:nvPr/>
        </p:nvSpPr>
        <p:spPr>
          <a:xfrm>
            <a:off x="4846320" y="3337560"/>
            <a:ext cx="3657600" cy="914400"/>
          </a:xfrm>
          <a:prstGeom prst="rect">
            <a:avLst/>
          </a:prstGeom>
          <a:noFill/>
          <a:ln/>
        </p:spPr>
        <p:txBody>
          <a:bodyPr wrap="square" lIns="0" tIns="0" rIns="0" bIns="0" rtlCol="0" anchor="t"/>
          <a:lstStyle/>
          <a:p>
            <a:pPr marL="0" indent="0">
              <a:buNone/>
            </a:pPr>
            <a:r>
              <a:rPr lang="en-US" sz="1400" dirty="0">
                <a:solidFill>
                  <a:schemeClr val="tx1"/>
                </a:solidFill>
              </a:rPr>
              <a:t>Lifts off 200 to 500 m before the turn, depending on the vehicle and scenario. The car slows without braking.</a:t>
            </a:r>
            <a:endParaRPr lang="en-US" sz="1400" dirty="0"/>
          </a:p>
        </p:txBody>
      </p:sp>
      <p:sp>
        <p:nvSpPr>
          <p:cNvPr id="16" name="vs"/>
          <p:cNvSpPr/>
          <p:nvPr/>
        </p:nvSpPr>
        <p:spPr>
          <a:xfrm>
            <a:off x="4361688" y="3429000"/>
            <a:ext cx="420624" cy="420624"/>
          </a:xfrm>
          <a:prstGeom prst="ellipse">
            <a:avLst/>
          </a:prstGeom>
          <a:solidFill>
            <a:schemeClr val="tx1"/>
          </a:solidFill>
          <a:ln/>
        </p:spPr>
        <p:txBody>
          <a:bodyPr wrap="square" lIns="0" tIns="0" rIns="0" bIns="0" rtlCol="0" anchor="ctr"/>
          <a:lstStyle/>
          <a:p>
            <a:pPr marL="0" indent="0" algn="ctr">
              <a:buNone/>
            </a:pPr>
            <a:r>
              <a:rPr lang="en-US" sz="1200" b="1" dirty="0">
                <a:solidFill>
                  <a:schemeClr val="bg1"/>
                </a:solidFill>
              </a:rPr>
              <a:t>vs</a:t>
            </a:r>
            <a:endParaRPr lang="en-US" sz="12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1  PROBLEM IDENTIFICATION AND DEFINITION</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Evidence that the problem is real</a:t>
            </a:r>
            <a:endParaRPr lang="en-US" sz="2800" dirty="0"/>
          </a:p>
        </p:txBody>
      </p:sp>
      <p:sp>
        <p:nvSpPr>
          <p:cNvPr id="5" name="Racing"/>
          <p:cNvSpPr/>
          <p:nvPr/>
        </p:nvSpPr>
        <p:spPr>
          <a:xfrm>
            <a:off x="457200" y="1280160"/>
            <a:ext cx="2651760" cy="2743200"/>
          </a:xfrm>
          <a:prstGeom prst="roundRect">
            <a:avLst>
              <a:gd name="adj" fmla="val 2759"/>
            </a:avLst>
          </a:prstGeom>
          <a:solidFill>
            <a:schemeClr val="bg2"/>
          </a:solidFill>
          <a:ln/>
        </p:spPr>
      </p:sp>
      <p:sp>
        <p:nvSpPr>
          <p:cNvPr id="6" name="Text 3"/>
          <p:cNvSpPr txBox="1"/>
          <p:nvPr/>
        </p:nvSpPr>
        <p:spPr>
          <a:xfrm>
            <a:off x="640080" y="1417320"/>
            <a:ext cx="2286000" cy="320040"/>
          </a:xfrm>
          <a:prstGeom prst="rect">
            <a:avLst/>
          </a:prstGeom>
          <a:noFill/>
          <a:ln/>
        </p:spPr>
        <p:txBody>
          <a:bodyPr wrap="square" lIns="0" tIns="0" rIns="0" bIns="0" rtlCol="0" anchor="t"/>
          <a:lstStyle/>
          <a:p>
            <a:pPr marL="0" indent="0">
              <a:buNone/>
            </a:pPr>
            <a:r>
              <a:rPr lang="en-US" sz="1600" b="1" dirty="0">
                <a:solidFill>
                  <a:schemeClr val="accent1"/>
                </a:solidFill>
              </a:rPr>
              <a:t>Racing practice</a:t>
            </a:r>
            <a:endParaRPr lang="en-US" sz="1600" dirty="0"/>
          </a:p>
        </p:txBody>
      </p:sp>
      <p:sp>
        <p:nvSpPr>
          <p:cNvPr id="7" name="Text 4"/>
          <p:cNvSpPr txBox="1"/>
          <p:nvPr/>
        </p:nvSpPr>
        <p:spPr>
          <a:xfrm>
            <a:off x="640080" y="1783080"/>
            <a:ext cx="2286000" cy="2103120"/>
          </a:xfrm>
          <a:prstGeom prst="rect">
            <a:avLst/>
          </a:prstGeom>
          <a:noFill/>
          <a:ln/>
        </p:spPr>
        <p:txBody>
          <a:bodyPr wrap="square" lIns="0" tIns="0" rIns="0" bIns="0" rtlCol="0" anchor="t"/>
          <a:lstStyle/>
          <a:p>
            <a:pPr marL="0" indent="0">
              <a:buNone/>
            </a:pPr>
            <a:r>
              <a:rPr lang="en-US" sz="1400" dirty="0">
                <a:solidFill>
                  <a:schemeClr val="tx1"/>
                </a:solidFill>
              </a:rPr>
              <a:t>Lift-and-coast is a routine fuel-saving technique in racing. In a Le Mans Ultimate test at Spa, one lap saved nearly 1.5 L for about 0.7 s lost [9]. An iRacing guide puts consistent use at about 5 to 10% less fuel per stint [10].</a:t>
            </a:r>
            <a:endParaRPr lang="en-US" sz="1400" dirty="0"/>
          </a:p>
        </p:txBody>
      </p:sp>
      <p:sp>
        <p:nvSpPr>
          <p:cNvPr id="8" name="Own runs"/>
          <p:cNvSpPr/>
          <p:nvPr/>
        </p:nvSpPr>
        <p:spPr>
          <a:xfrm>
            <a:off x="3246120" y="1280160"/>
            <a:ext cx="2651760" cy="2743200"/>
          </a:xfrm>
          <a:prstGeom prst="roundRect">
            <a:avLst>
              <a:gd name="adj" fmla="val 2759"/>
            </a:avLst>
          </a:prstGeom>
          <a:solidFill>
            <a:schemeClr val="bg2"/>
          </a:solidFill>
          <a:ln/>
        </p:spPr>
      </p:sp>
      <p:sp>
        <p:nvSpPr>
          <p:cNvPr id="9" name="Text 6"/>
          <p:cNvSpPr txBox="1"/>
          <p:nvPr/>
        </p:nvSpPr>
        <p:spPr>
          <a:xfrm>
            <a:off x="3429000" y="1417320"/>
            <a:ext cx="2286000" cy="320040"/>
          </a:xfrm>
          <a:prstGeom prst="rect">
            <a:avLst/>
          </a:prstGeom>
          <a:noFill/>
          <a:ln/>
        </p:spPr>
        <p:txBody>
          <a:bodyPr wrap="square" lIns="0" tIns="0" rIns="0" bIns="0" rtlCol="0" anchor="t"/>
          <a:lstStyle/>
          <a:p>
            <a:pPr marL="0" indent="0">
              <a:buNone/>
            </a:pPr>
            <a:r>
              <a:rPr lang="en-US" sz="1600" b="1" dirty="0">
                <a:solidFill>
                  <a:schemeClr val="accent1"/>
                </a:solidFill>
              </a:rPr>
              <a:t>Our own runs</a:t>
            </a:r>
            <a:endParaRPr lang="en-US" sz="1600" dirty="0"/>
          </a:p>
        </p:txBody>
      </p:sp>
      <p:sp>
        <p:nvSpPr>
          <p:cNvPr id="10" name="Text 7"/>
          <p:cNvSpPr txBox="1"/>
          <p:nvPr/>
        </p:nvSpPr>
        <p:spPr>
          <a:xfrm>
            <a:off x="3429000" y="1783080"/>
            <a:ext cx="2286000" cy="2103120"/>
          </a:xfrm>
          <a:prstGeom prst="rect">
            <a:avLst/>
          </a:prstGeom>
          <a:noFill/>
          <a:ln/>
        </p:spPr>
        <p:txBody>
          <a:bodyPr wrap="square" lIns="0" tIns="0" rIns="0" bIns="0" rtlCol="0" anchor="t"/>
          <a:lstStyle/>
          <a:p>
            <a:pPr marL="0" indent="0">
              <a:buNone/>
            </a:pPr>
            <a:r>
              <a:rPr lang="en-US" sz="1400" dirty="0">
                <a:solidFill>
                  <a:schemeClr val="tx1"/>
                </a:solidFill>
              </a:rPr>
              <a:t>In sim racing, one team member's own runs show roughly 2 to 3 L saved per Nürburgring lap with lift-and-coast versus flat out. This is informal and not yet logged.</a:t>
            </a:r>
            <a:endParaRPr lang="en-US" sz="1400" dirty="0"/>
          </a:p>
        </p:txBody>
      </p:sp>
      <p:sp>
        <p:nvSpPr>
          <p:cNvPr id="11" name="Roads"/>
          <p:cNvSpPr/>
          <p:nvPr/>
        </p:nvSpPr>
        <p:spPr>
          <a:xfrm>
            <a:off x="6035040" y="1280160"/>
            <a:ext cx="2651760" cy="2743200"/>
          </a:xfrm>
          <a:prstGeom prst="roundRect">
            <a:avLst>
              <a:gd name="adj" fmla="val 2759"/>
            </a:avLst>
          </a:prstGeom>
          <a:solidFill>
            <a:schemeClr val="bg2"/>
          </a:solidFill>
          <a:ln/>
        </p:spPr>
      </p:sp>
      <p:sp>
        <p:nvSpPr>
          <p:cNvPr id="12" name="Text 9"/>
          <p:cNvSpPr txBox="1"/>
          <p:nvPr/>
        </p:nvSpPr>
        <p:spPr>
          <a:xfrm>
            <a:off x="6217920" y="1417320"/>
            <a:ext cx="2286000" cy="320040"/>
          </a:xfrm>
          <a:prstGeom prst="rect">
            <a:avLst/>
          </a:prstGeom>
          <a:noFill/>
          <a:ln/>
        </p:spPr>
        <p:txBody>
          <a:bodyPr wrap="square" lIns="0" tIns="0" rIns="0" bIns="0" rtlCol="0" anchor="t"/>
          <a:lstStyle/>
          <a:p>
            <a:pPr marL="0" indent="0">
              <a:buNone/>
            </a:pPr>
            <a:r>
              <a:rPr lang="en-US" sz="1600" b="1" dirty="0">
                <a:solidFill>
                  <a:schemeClr val="accent1"/>
                </a:solidFill>
              </a:rPr>
              <a:t>Ordinary roads</a:t>
            </a:r>
            <a:endParaRPr lang="en-US" sz="1600" dirty="0"/>
          </a:p>
        </p:txBody>
      </p:sp>
      <p:sp>
        <p:nvSpPr>
          <p:cNvPr id="13" name="Text 10"/>
          <p:cNvSpPr txBox="1"/>
          <p:nvPr/>
        </p:nvSpPr>
        <p:spPr>
          <a:xfrm>
            <a:off x="6217920" y="1783080"/>
            <a:ext cx="2286000" cy="2103120"/>
          </a:xfrm>
          <a:prstGeom prst="rect">
            <a:avLst/>
          </a:prstGeom>
          <a:noFill/>
          <a:ln/>
        </p:spPr>
        <p:txBody>
          <a:bodyPr wrap="square" lIns="0" tIns="0" rIns="0" bIns="0" rtlCol="0" anchor="t"/>
          <a:lstStyle/>
          <a:p>
            <a:pPr marL="0" indent="0">
              <a:buNone/>
            </a:pPr>
            <a:r>
              <a:rPr lang="en-US" sz="1400" dirty="0">
                <a:solidFill>
                  <a:schemeClr val="tx1"/>
                </a:solidFill>
              </a:rPr>
              <a:t>Eco-driving that anticipates curves and slows smoothly used less fuel than human-style driving in simulation [1]. Human drivers slow quickly, then re-accelerate.</a:t>
            </a:r>
            <a:endParaRPr lang="en-US" sz="1400" dirty="0"/>
          </a:p>
        </p:txBody>
      </p:sp>
      <p:sp>
        <p:nvSpPr>
          <p:cNvPr id="14" name="Text 11"/>
          <p:cNvSpPr txBox="1"/>
          <p:nvPr/>
        </p:nvSpPr>
        <p:spPr>
          <a:xfrm>
            <a:off x="457200" y="4206240"/>
            <a:ext cx="8229600" cy="457200"/>
          </a:xfrm>
          <a:prstGeom prst="rect">
            <a:avLst/>
          </a:prstGeom>
          <a:noFill/>
          <a:ln/>
        </p:spPr>
        <p:txBody>
          <a:bodyPr wrap="square" lIns="0" tIns="0" rIns="0" bIns="0" rtlCol="0" anchor="t"/>
          <a:lstStyle/>
          <a:p>
            <a:pPr marL="0" indent="0">
              <a:buNone/>
            </a:pPr>
            <a:r>
              <a:rPr lang="en-US" sz="1300" i="1" dirty="0">
                <a:solidFill>
                  <a:schemeClr val="tx2"/>
                </a:solidFill>
              </a:rPr>
              <a:t>Racing figures are simulator-based, from sim-racing sources: indicative, not validated. We will measure our own savings in simulation.</a:t>
            </a:r>
            <a:endParaRPr lang="en-US" sz="13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1  PROBLEM IDENTIFICATION AND DEFINITION</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What already exists and the gap</a:t>
            </a:r>
            <a:endParaRPr lang="en-US" sz="2800" dirty="0"/>
          </a:p>
        </p:txBody>
      </p:sp>
      <p:sp>
        <p:nvSpPr>
          <p:cNvPr id="4" name="Existing A"/>
          <p:cNvSpPr/>
          <p:nvPr/>
        </p:nvSpPr>
        <p:spPr>
          <a:xfrm>
            <a:off x="457200" y="1280160"/>
            <a:ext cx="2651760" cy="1828800"/>
          </a:xfrm>
          <a:prstGeom prst="roundRect">
            <a:avLst>
              <a:gd name="adj" fmla="val 4000"/>
            </a:avLst>
          </a:prstGeom>
          <a:solidFill>
            <a:schemeClr val="bg2"/>
          </a:solidFill>
          <a:ln/>
        </p:spPr>
      </p:sp>
      <p:sp>
        <p:nvSpPr>
          <p:cNvPr id="5" name="Text 3"/>
          <p:cNvSpPr txBox="1"/>
          <p:nvPr/>
        </p:nvSpPr>
        <p:spPr>
          <a:xfrm>
            <a:off x="640080" y="1417320"/>
            <a:ext cx="2286000" cy="320040"/>
          </a:xfrm>
          <a:prstGeom prst="rect">
            <a:avLst/>
          </a:prstGeom>
          <a:noFill/>
          <a:ln/>
        </p:spPr>
        <p:txBody>
          <a:bodyPr wrap="square" lIns="0" tIns="0" rIns="0" bIns="0" rtlCol="0" anchor="t"/>
          <a:lstStyle/>
          <a:p>
            <a:pPr marL="0" indent="0">
              <a:buNone/>
            </a:pPr>
            <a:r>
              <a:rPr lang="en-US" sz="1600" b="1" dirty="0">
                <a:solidFill>
                  <a:schemeClr val="tx2"/>
                </a:solidFill>
              </a:rPr>
              <a:t>Curve-based eco-driving</a:t>
            </a:r>
            <a:endParaRPr lang="en-US" sz="1600" dirty="0"/>
          </a:p>
        </p:txBody>
      </p:sp>
      <p:sp>
        <p:nvSpPr>
          <p:cNvPr id="6" name="Text 4"/>
          <p:cNvSpPr txBox="1"/>
          <p:nvPr/>
        </p:nvSpPr>
        <p:spPr>
          <a:xfrm>
            <a:off x="640080" y="1783080"/>
            <a:ext cx="2286000" cy="1188720"/>
          </a:xfrm>
          <a:prstGeom prst="rect">
            <a:avLst/>
          </a:prstGeom>
          <a:noFill/>
          <a:ln/>
        </p:spPr>
        <p:txBody>
          <a:bodyPr wrap="square" lIns="0" tIns="0" rIns="0" bIns="0" rtlCol="0" anchor="t"/>
          <a:lstStyle/>
          <a:p>
            <a:pPr marL="0" indent="0">
              <a:buNone/>
            </a:pPr>
            <a:r>
              <a:rPr lang="en-US" sz="1400" dirty="0">
                <a:solidFill>
                  <a:schemeClr val="tx1"/>
                </a:solidFill>
              </a:rPr>
              <a:t>Model-predictive control on gradual road curvature and surface conditions [1][2].</a:t>
            </a:r>
            <a:endParaRPr lang="en-US" sz="1400" dirty="0"/>
          </a:p>
        </p:txBody>
      </p:sp>
      <p:sp>
        <p:nvSpPr>
          <p:cNvPr id="7" name="Existing B"/>
          <p:cNvSpPr/>
          <p:nvPr/>
        </p:nvSpPr>
        <p:spPr>
          <a:xfrm>
            <a:off x="3246120" y="1280160"/>
            <a:ext cx="2651760" cy="1828800"/>
          </a:xfrm>
          <a:prstGeom prst="roundRect">
            <a:avLst>
              <a:gd name="adj" fmla="val 4000"/>
            </a:avLst>
          </a:prstGeom>
          <a:solidFill>
            <a:schemeClr val="bg2"/>
          </a:solidFill>
          <a:ln/>
        </p:spPr>
      </p:sp>
      <p:sp>
        <p:nvSpPr>
          <p:cNvPr id="8" name="Text 6"/>
          <p:cNvSpPr txBox="1"/>
          <p:nvPr/>
        </p:nvSpPr>
        <p:spPr>
          <a:xfrm>
            <a:off x="3429000" y="1417320"/>
            <a:ext cx="2286000" cy="320040"/>
          </a:xfrm>
          <a:prstGeom prst="rect">
            <a:avLst/>
          </a:prstGeom>
          <a:noFill/>
          <a:ln/>
        </p:spPr>
        <p:txBody>
          <a:bodyPr wrap="square" lIns="0" tIns="0" rIns="0" bIns="0" rtlCol="0" anchor="t"/>
          <a:lstStyle/>
          <a:p>
            <a:pPr marL="0" indent="0">
              <a:buNone/>
            </a:pPr>
            <a:r>
              <a:rPr lang="en-US" sz="1600" b="1" dirty="0">
                <a:solidFill>
                  <a:schemeClr val="tx2"/>
                </a:solidFill>
              </a:rPr>
              <a:t>Eco-approach at signals</a:t>
            </a:r>
            <a:endParaRPr lang="en-US" sz="1600" dirty="0"/>
          </a:p>
        </p:txBody>
      </p:sp>
      <p:sp>
        <p:nvSpPr>
          <p:cNvPr id="9" name="Text 7"/>
          <p:cNvSpPr txBox="1"/>
          <p:nvPr/>
        </p:nvSpPr>
        <p:spPr>
          <a:xfrm>
            <a:off x="3429000" y="1783080"/>
            <a:ext cx="2286000" cy="1188720"/>
          </a:xfrm>
          <a:prstGeom prst="rect">
            <a:avLst/>
          </a:prstGeom>
          <a:noFill/>
          <a:ln/>
        </p:spPr>
        <p:txBody>
          <a:bodyPr wrap="square" lIns="0" tIns="0" rIns="0" bIns="0" rtlCol="0" anchor="t"/>
          <a:lstStyle/>
          <a:p>
            <a:pPr marL="0" indent="0">
              <a:buNone/>
            </a:pPr>
            <a:r>
              <a:rPr lang="en-US" sz="1400" dirty="0">
                <a:solidFill>
                  <a:schemeClr val="tx1"/>
                </a:solidFill>
              </a:rPr>
              <a:t>Uses traffic-signal timing from connected infrastructure to avoid stops.</a:t>
            </a:r>
            <a:endParaRPr lang="en-US" sz="1400" dirty="0"/>
          </a:p>
        </p:txBody>
      </p:sp>
      <p:sp>
        <p:nvSpPr>
          <p:cNvPr id="10" name="Ours"/>
          <p:cNvSpPr/>
          <p:nvPr/>
        </p:nvSpPr>
        <p:spPr>
          <a:xfrm>
            <a:off x="6035040" y="1280160"/>
            <a:ext cx="2651760" cy="1828800"/>
          </a:xfrm>
          <a:prstGeom prst="roundRect">
            <a:avLst>
              <a:gd name="adj" fmla="val 4000"/>
            </a:avLst>
          </a:prstGeom>
          <a:solidFill>
            <a:schemeClr val="bg2"/>
          </a:solidFill>
          <a:ln/>
        </p:spPr>
      </p:sp>
      <p:sp>
        <p:nvSpPr>
          <p:cNvPr id="11" name="Text 9"/>
          <p:cNvSpPr txBox="1"/>
          <p:nvPr/>
        </p:nvSpPr>
        <p:spPr>
          <a:xfrm>
            <a:off x="6217920" y="1417320"/>
            <a:ext cx="2286000" cy="320040"/>
          </a:xfrm>
          <a:prstGeom prst="rect">
            <a:avLst/>
          </a:prstGeom>
          <a:noFill/>
          <a:ln/>
        </p:spPr>
        <p:txBody>
          <a:bodyPr wrap="square" lIns="0" tIns="0" rIns="0" bIns="0" rtlCol="0" anchor="t"/>
          <a:lstStyle/>
          <a:p>
            <a:pPr marL="0" indent="0">
              <a:buNone/>
            </a:pPr>
            <a:r>
              <a:rPr lang="en-US" sz="1600" b="1" dirty="0">
                <a:solidFill>
                  <a:schemeClr val="accent2"/>
                </a:solidFill>
              </a:rPr>
              <a:t>ALiCoFSS</a:t>
            </a:r>
            <a:endParaRPr lang="en-US" sz="1600" dirty="0"/>
          </a:p>
        </p:txBody>
      </p:sp>
      <p:sp>
        <p:nvSpPr>
          <p:cNvPr id="12" name="Text 10"/>
          <p:cNvSpPr txBox="1"/>
          <p:nvPr/>
        </p:nvSpPr>
        <p:spPr>
          <a:xfrm>
            <a:off x="6217920" y="1783080"/>
            <a:ext cx="2286000" cy="1188720"/>
          </a:xfrm>
          <a:prstGeom prst="rect">
            <a:avLst/>
          </a:prstGeom>
          <a:noFill/>
          <a:ln/>
        </p:spPr>
        <p:txBody>
          <a:bodyPr wrap="square" lIns="0" tIns="0" rIns="0" bIns="0" rtlCol="0" anchor="t"/>
          <a:lstStyle/>
          <a:p>
            <a:pPr marL="0" indent="0">
              <a:buNone/>
            </a:pPr>
            <a:r>
              <a:rPr lang="en-US" sz="1400" dirty="0">
                <a:solidFill>
                  <a:schemeClr val="tx1"/>
                </a:solidFill>
              </a:rPr>
              <a:t>GPS and map only. Sharp junction turns. Lift-and-coast replaces braking.</a:t>
            </a:r>
            <a:endParaRPr lang="en-US" sz="1400" dirty="0"/>
          </a:p>
        </p:txBody>
      </p:sp>
      <p:sp>
        <p:nvSpPr>
          <p:cNvPr id="13" name="Gap statement"/>
          <p:cNvSpPr/>
          <p:nvPr/>
        </p:nvSpPr>
        <p:spPr>
          <a:xfrm>
            <a:off x="457200" y="3337560"/>
            <a:ext cx="8229600" cy="1097280"/>
          </a:xfrm>
          <a:prstGeom prst="roundRect">
            <a:avLst>
              <a:gd name="adj" fmla="val 6667"/>
            </a:avLst>
          </a:prstGeom>
          <a:solidFill>
            <a:schemeClr val="bg2"/>
          </a:solidFill>
          <a:ln/>
        </p:spPr>
      </p:sp>
      <p:sp>
        <p:nvSpPr>
          <p:cNvPr id="14" name="Text 12"/>
          <p:cNvSpPr txBox="1"/>
          <p:nvPr/>
        </p:nvSpPr>
        <p:spPr>
          <a:xfrm>
            <a:off x="685800" y="3337560"/>
            <a:ext cx="7772400" cy="1097280"/>
          </a:xfrm>
          <a:prstGeom prst="rect">
            <a:avLst/>
          </a:prstGeom>
          <a:noFill/>
          <a:ln/>
        </p:spPr>
        <p:txBody>
          <a:bodyPr wrap="square" lIns="0" tIns="0" rIns="0" bIns="0" rtlCol="0" anchor="ctr"/>
          <a:lstStyle/>
          <a:p>
            <a:pPr marL="0" indent="0">
              <a:buNone/>
            </a:pPr>
            <a:r>
              <a:rPr lang="en-US" sz="1600" b="1" dirty="0">
                <a:solidFill>
                  <a:schemeClr val="accent1"/>
                </a:solidFill>
              </a:rPr>
              <a:t>The gap: </a:t>
            </a:r>
            <a:r>
              <a:rPr lang="en-US" sz="1600" dirty="0">
                <a:solidFill>
                  <a:schemeClr val="tx1"/>
                </a:solidFill>
              </a:rPr>
              <a:t>we did not find existing work that replaces braking with lift-and-coast at sharp junction turns, using only GPS and map data, and adapting to the vehicle's condition.</a:t>
            </a:r>
            <a:endParaRPr lang="en-US" sz="16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1  PROBLEM IDENTIFICATION AND DEFINITION</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Scope of the project</a:t>
            </a:r>
            <a:endParaRPr lang="en-US" sz="2800" dirty="0"/>
          </a:p>
        </p:txBody>
      </p:sp>
      <p:sp>
        <p:nvSpPr>
          <p:cNvPr id="4" name="In scope"/>
          <p:cNvSpPr/>
          <p:nvPr/>
        </p:nvSpPr>
        <p:spPr>
          <a:xfrm>
            <a:off x="457200" y="1280160"/>
            <a:ext cx="4023360" cy="3154680"/>
          </a:xfrm>
          <a:prstGeom prst="roundRect">
            <a:avLst>
              <a:gd name="adj" fmla="val 2319"/>
            </a:avLst>
          </a:prstGeom>
          <a:solidFill>
            <a:schemeClr val="bg2"/>
          </a:solidFill>
          <a:ln/>
        </p:spPr>
      </p:sp>
      <p:sp>
        <p:nvSpPr>
          <p:cNvPr id="5" name="Text 3"/>
          <p:cNvSpPr txBox="1"/>
          <p:nvPr/>
        </p:nvSpPr>
        <p:spPr>
          <a:xfrm>
            <a:off x="640080" y="1417320"/>
            <a:ext cx="3657600" cy="320040"/>
          </a:xfrm>
          <a:prstGeom prst="rect">
            <a:avLst/>
          </a:prstGeom>
          <a:noFill/>
          <a:ln/>
        </p:spPr>
        <p:txBody>
          <a:bodyPr wrap="square" lIns="0" tIns="0" rIns="0" bIns="0" rtlCol="0" anchor="t"/>
          <a:lstStyle/>
          <a:p>
            <a:pPr marL="0" indent="0">
              <a:buNone/>
            </a:pPr>
            <a:r>
              <a:rPr lang="en-US" sz="1600" b="1" dirty="0">
                <a:solidFill>
                  <a:schemeClr val="accent2"/>
                </a:solidFill>
              </a:rPr>
              <a:t>In scope</a:t>
            </a:r>
            <a:endParaRPr lang="en-US" sz="1600" dirty="0"/>
          </a:p>
        </p:txBody>
      </p:sp>
      <p:sp>
        <p:nvSpPr>
          <p:cNvPr id="6" name="Text 4"/>
          <p:cNvSpPr txBox="1"/>
          <p:nvPr/>
        </p:nvSpPr>
        <p:spPr>
          <a:xfrm>
            <a:off x="640080" y="1828800"/>
            <a:ext cx="3657600" cy="25603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Simulation only, in CARLA</a:t>
            </a:r>
            <a:endParaRPr lang="en-US" sz="1400" dirty="0"/>
          </a:p>
          <a:p>
            <a:pPr marL="177800" indent="-177800">
              <a:spcAft>
                <a:spcPts val="600"/>
              </a:spcAft>
              <a:buSzPct val="100000"/>
              <a:buChar char="•"/>
            </a:pPr>
            <a:r>
              <a:rPr lang="en-US" sz="1400" dirty="0">
                <a:solidFill>
                  <a:schemeClr val="tx1"/>
                </a:solidFill>
              </a:rPr>
              <a:t>Throttle and brake only; driver input always overrides</a:t>
            </a:r>
            <a:endParaRPr lang="en-US" sz="1400" dirty="0"/>
          </a:p>
          <a:p>
            <a:pPr marL="177800" indent="-177800">
              <a:spcAft>
                <a:spcPts val="600"/>
              </a:spcAft>
              <a:buSzPct val="100000"/>
              <a:buChar char="•"/>
            </a:pPr>
            <a:r>
              <a:rPr lang="en-US" sz="1400" dirty="0">
                <a:solidFill>
                  <a:schemeClr val="tx1"/>
                </a:solidFill>
              </a:rPr>
              <a:t>Sharp junction turns on flat roads, nominal 40 to 15 km/h</a:t>
            </a:r>
            <a:endParaRPr lang="en-US" sz="1400" dirty="0"/>
          </a:p>
          <a:p>
            <a:pPr marL="177800" indent="-177800">
              <a:spcAft>
                <a:spcPts val="600"/>
              </a:spcAft>
              <a:buSzPct val="100000"/>
              <a:buChar char="•"/>
            </a:pPr>
            <a:r>
              <a:rPr lang="en-US" sz="1400" dirty="0">
                <a:solidFill>
                  <a:schemeClr val="tx1"/>
                </a:solidFill>
              </a:rPr>
              <a:t>One base vehicle, then a few variants such as degraded brakes or tyres</a:t>
            </a:r>
            <a:endParaRPr lang="en-US" sz="1400" dirty="0"/>
          </a:p>
          <a:p>
            <a:pPr marL="177800" indent="-177800">
              <a:spcAft>
                <a:spcPts val="600"/>
              </a:spcAft>
              <a:buSzPct val="100000"/>
              <a:buChar char="•"/>
            </a:pPr>
            <a:r>
              <a:rPr lang="en-US" sz="1400" dirty="0">
                <a:solidFill>
                  <a:schemeClr val="tx1"/>
                </a:solidFill>
              </a:rPr>
              <a:t>A small fixed set of surfaces and weather: dry, wet, heavy rain</a:t>
            </a:r>
            <a:endParaRPr lang="en-US" sz="1400" dirty="0"/>
          </a:p>
        </p:txBody>
      </p:sp>
      <p:sp>
        <p:nvSpPr>
          <p:cNvPr id="7" name="Out of scope"/>
          <p:cNvSpPr/>
          <p:nvPr/>
        </p:nvSpPr>
        <p:spPr>
          <a:xfrm>
            <a:off x="4663440" y="1280160"/>
            <a:ext cx="4023360" cy="3154680"/>
          </a:xfrm>
          <a:prstGeom prst="roundRect">
            <a:avLst>
              <a:gd name="adj" fmla="val 2319"/>
            </a:avLst>
          </a:prstGeom>
          <a:solidFill>
            <a:schemeClr val="bg2"/>
          </a:solidFill>
          <a:ln/>
        </p:spPr>
      </p:sp>
      <p:sp>
        <p:nvSpPr>
          <p:cNvPr id="8" name="Text 6"/>
          <p:cNvSpPr txBox="1"/>
          <p:nvPr/>
        </p:nvSpPr>
        <p:spPr>
          <a:xfrm>
            <a:off x="4846320" y="1417320"/>
            <a:ext cx="3657600" cy="320040"/>
          </a:xfrm>
          <a:prstGeom prst="rect">
            <a:avLst/>
          </a:prstGeom>
          <a:noFill/>
          <a:ln/>
        </p:spPr>
        <p:txBody>
          <a:bodyPr wrap="square" lIns="0" tIns="0" rIns="0" bIns="0" rtlCol="0" anchor="t"/>
          <a:lstStyle/>
          <a:p>
            <a:pPr marL="0" indent="0">
              <a:buNone/>
            </a:pPr>
            <a:r>
              <a:rPr lang="en-US" sz="1600" b="1" dirty="0">
                <a:solidFill>
                  <a:schemeClr val="accent1"/>
                </a:solidFill>
              </a:rPr>
              <a:t>Out of scope</a:t>
            </a:r>
            <a:endParaRPr lang="en-US" sz="1600" dirty="0"/>
          </a:p>
        </p:txBody>
      </p:sp>
      <p:sp>
        <p:nvSpPr>
          <p:cNvPr id="9" name="Text 7"/>
          <p:cNvSpPr txBox="1"/>
          <p:nvPr/>
        </p:nvSpPr>
        <p:spPr>
          <a:xfrm>
            <a:off x="4846320" y="1828800"/>
            <a:ext cx="3657600" cy="25603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Real vehicle testing</a:t>
            </a:r>
            <a:endParaRPr lang="en-US" sz="1400" dirty="0"/>
          </a:p>
          <a:p>
            <a:pPr marL="177800" indent="-177800">
              <a:spcAft>
                <a:spcPts val="600"/>
              </a:spcAft>
              <a:buSzPct val="100000"/>
              <a:buChar char="•"/>
            </a:pPr>
            <a:r>
              <a:rPr lang="en-US" sz="1400" dirty="0">
                <a:solidFill>
                  <a:schemeClr val="tx1"/>
                </a:solidFill>
              </a:rPr>
              <a:t>Steering, which stays with the autopilot or driver</a:t>
            </a:r>
            <a:endParaRPr lang="en-US" sz="1400" dirty="0"/>
          </a:p>
          <a:p>
            <a:pPr marL="177800" indent="-177800">
              <a:spcAft>
                <a:spcPts val="600"/>
              </a:spcAft>
              <a:buSzPct val="100000"/>
              <a:buChar char="•"/>
            </a:pPr>
            <a:r>
              <a:rPr lang="en-US" sz="1400" dirty="0">
                <a:solidFill>
                  <a:schemeClr val="tx1"/>
                </a:solidFill>
              </a:rPr>
              <a:t>Other vehicles, pedestrians and traffic signals</a:t>
            </a:r>
            <a:endParaRPr lang="en-US" sz="1400" dirty="0"/>
          </a:p>
          <a:p>
            <a:pPr marL="177800" indent="-177800">
              <a:spcAft>
                <a:spcPts val="600"/>
              </a:spcAft>
              <a:buSzPct val="100000"/>
              <a:buChar char="•"/>
            </a:pPr>
            <a:r>
              <a:rPr lang="en-US" sz="1400" dirty="0">
                <a:solidFill>
                  <a:schemeClr val="tx1"/>
                </a:solidFill>
              </a:rPr>
              <a:t>Camera-based lead-vehicle matching (deferred)</a:t>
            </a:r>
            <a:endParaRPr lang="en-US" sz="1400" dirty="0"/>
          </a:p>
          <a:p>
            <a:pPr marL="177800" indent="-177800">
              <a:spcAft>
                <a:spcPts val="600"/>
              </a:spcAft>
              <a:buSzPct val="100000"/>
              <a:buChar char="•"/>
            </a:pPr>
            <a:r>
              <a:rPr lang="en-US" sz="1400" dirty="0">
                <a:solidFill>
                  <a:schemeClr val="tx1"/>
                </a:solidFill>
              </a:rPr>
              <a:t>Wind (deferred)</a:t>
            </a:r>
            <a:endParaRPr lang="en-US" sz="14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1  PROBLEM IDENTIFICATION AND DEFINITION</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How success will be measured</a:t>
            </a:r>
            <a:endParaRPr lang="en-US" sz="2800" dirty="0"/>
          </a:p>
        </p:txBody>
      </p:sp>
      <p:sp>
        <p:nvSpPr>
          <p:cNvPr id="5" name="Text 2"/>
          <p:cNvSpPr txBox="1"/>
          <p:nvPr/>
        </p:nvSpPr>
        <p:spPr>
          <a:xfrm>
            <a:off x="457200" y="1234440"/>
            <a:ext cx="8229600" cy="640080"/>
          </a:xfrm>
          <a:prstGeom prst="rect">
            <a:avLst/>
          </a:prstGeom>
          <a:noFill/>
          <a:ln/>
        </p:spPr>
        <p:txBody>
          <a:bodyPr wrap="square" lIns="0" tIns="0" rIns="0" bIns="0" rtlCol="0" anchor="t"/>
          <a:lstStyle/>
          <a:p>
            <a:pPr marL="0" indent="0">
              <a:buNone/>
            </a:pPr>
            <a:r>
              <a:rPr lang="en-US" sz="1500" dirty="0">
                <a:solidFill>
                  <a:schemeClr val="tx2"/>
                </a:solidFill>
              </a:rPr>
              <a:t>We are not committing to a target percentage yet, because it depends on a fuel model and baseline we have not validated. What we have defined is how success will be measured.</a:t>
            </a:r>
            <a:endParaRPr lang="en-US" sz="1500" dirty="0"/>
          </a:p>
        </p:txBody>
      </p:sp>
      <p:sp>
        <p:nvSpPr>
          <p:cNvPr id="6" name="Measure 1"/>
          <p:cNvSpPr/>
          <p:nvPr/>
        </p:nvSpPr>
        <p:spPr>
          <a:xfrm>
            <a:off x="457200" y="2057400"/>
            <a:ext cx="1920240" cy="2423160"/>
          </a:xfrm>
          <a:prstGeom prst="roundRect">
            <a:avLst>
              <a:gd name="adj" fmla="val 3810"/>
            </a:avLst>
          </a:prstGeom>
          <a:solidFill>
            <a:schemeClr val="bg2"/>
          </a:solidFill>
          <a:ln/>
        </p:spPr>
      </p:sp>
      <p:sp>
        <p:nvSpPr>
          <p:cNvPr id="7" name="Text 4"/>
          <p:cNvSpPr txBox="1"/>
          <p:nvPr/>
        </p:nvSpPr>
        <p:spPr>
          <a:xfrm>
            <a:off x="640080" y="2194560"/>
            <a:ext cx="1554480" cy="320040"/>
          </a:xfrm>
          <a:prstGeom prst="rect">
            <a:avLst/>
          </a:prstGeom>
          <a:noFill/>
          <a:ln/>
        </p:spPr>
        <p:txBody>
          <a:bodyPr wrap="square" lIns="0" tIns="0" rIns="0" bIns="0" rtlCol="0" anchor="t"/>
          <a:lstStyle/>
          <a:p>
            <a:pPr marL="0" indent="0">
              <a:buNone/>
            </a:pPr>
            <a:r>
              <a:rPr lang="en-US" sz="1600" b="1" dirty="0">
                <a:solidFill>
                  <a:schemeClr val="accent2"/>
                </a:solidFill>
              </a:rPr>
              <a:t>Metric</a:t>
            </a:r>
            <a:endParaRPr lang="en-US" sz="1600" dirty="0"/>
          </a:p>
        </p:txBody>
      </p:sp>
      <p:sp>
        <p:nvSpPr>
          <p:cNvPr id="8" name="Text 5"/>
          <p:cNvSpPr txBox="1"/>
          <p:nvPr/>
        </p:nvSpPr>
        <p:spPr>
          <a:xfrm>
            <a:off x="640080" y="2560320"/>
            <a:ext cx="1554480" cy="1783080"/>
          </a:xfrm>
          <a:prstGeom prst="rect">
            <a:avLst/>
          </a:prstGeom>
          <a:noFill/>
          <a:ln/>
        </p:spPr>
        <p:txBody>
          <a:bodyPr wrap="square" lIns="0" tIns="0" rIns="0" bIns="0" rtlCol="0" anchor="t"/>
          <a:lstStyle/>
          <a:p>
            <a:pPr marL="0" indent="0">
              <a:buNone/>
            </a:pPr>
            <a:r>
              <a:rPr lang="en-US" sz="1400" dirty="0">
                <a:solidFill>
                  <a:schemeClr val="tx1"/>
                </a:solidFill>
              </a:rPr>
              <a:t>Fuel used per turn event.</a:t>
            </a:r>
            <a:endParaRPr lang="en-US" sz="1400" dirty="0"/>
          </a:p>
        </p:txBody>
      </p:sp>
      <p:sp>
        <p:nvSpPr>
          <p:cNvPr id="9" name="Measure 2"/>
          <p:cNvSpPr/>
          <p:nvPr/>
        </p:nvSpPr>
        <p:spPr>
          <a:xfrm>
            <a:off x="2560320" y="2057400"/>
            <a:ext cx="1920240" cy="2423160"/>
          </a:xfrm>
          <a:prstGeom prst="roundRect">
            <a:avLst>
              <a:gd name="adj" fmla="val 3810"/>
            </a:avLst>
          </a:prstGeom>
          <a:solidFill>
            <a:schemeClr val="bg2"/>
          </a:solidFill>
          <a:ln/>
        </p:spPr>
      </p:sp>
      <p:sp>
        <p:nvSpPr>
          <p:cNvPr id="10" name="Text 7"/>
          <p:cNvSpPr txBox="1"/>
          <p:nvPr/>
        </p:nvSpPr>
        <p:spPr>
          <a:xfrm>
            <a:off x="2743200" y="2194560"/>
            <a:ext cx="1554480" cy="320040"/>
          </a:xfrm>
          <a:prstGeom prst="rect">
            <a:avLst/>
          </a:prstGeom>
          <a:noFill/>
          <a:ln/>
        </p:spPr>
        <p:txBody>
          <a:bodyPr wrap="square" lIns="0" tIns="0" rIns="0" bIns="0" rtlCol="0" anchor="t"/>
          <a:lstStyle/>
          <a:p>
            <a:pPr marL="0" indent="0">
              <a:buNone/>
            </a:pPr>
            <a:r>
              <a:rPr lang="en-US" sz="1600" b="1" dirty="0">
                <a:solidFill>
                  <a:schemeClr val="accent2"/>
                </a:solidFill>
              </a:rPr>
              <a:t>Baseline</a:t>
            </a:r>
            <a:endParaRPr lang="en-US" sz="1600" dirty="0"/>
          </a:p>
        </p:txBody>
      </p:sp>
      <p:sp>
        <p:nvSpPr>
          <p:cNvPr id="11" name="Text 8"/>
          <p:cNvSpPr txBox="1"/>
          <p:nvPr/>
        </p:nvSpPr>
        <p:spPr>
          <a:xfrm>
            <a:off x="2743200" y="2560320"/>
            <a:ext cx="1554480" cy="1783080"/>
          </a:xfrm>
          <a:prstGeom prst="rect">
            <a:avLst/>
          </a:prstGeom>
          <a:noFill/>
          <a:ln/>
        </p:spPr>
        <p:txBody>
          <a:bodyPr wrap="square" lIns="0" tIns="0" rIns="0" bIns="0" rtlCol="0" anchor="t"/>
          <a:lstStyle/>
          <a:p>
            <a:pPr marL="0" indent="0">
              <a:buNone/>
            </a:pPr>
            <a:r>
              <a:rPr lang="en-US" sz="1400" dirty="0">
                <a:solidFill>
                  <a:schemeClr val="tx1"/>
                </a:solidFill>
              </a:rPr>
              <a:t>A scripted human-style driver (late, hard braking) on the same route, vehicle and conditions.</a:t>
            </a:r>
            <a:endParaRPr lang="en-US" sz="1400" dirty="0"/>
          </a:p>
        </p:txBody>
      </p:sp>
      <p:sp>
        <p:nvSpPr>
          <p:cNvPr id="12" name="Measure 3"/>
          <p:cNvSpPr/>
          <p:nvPr/>
        </p:nvSpPr>
        <p:spPr>
          <a:xfrm>
            <a:off x="4663440" y="2057400"/>
            <a:ext cx="1920240" cy="2423160"/>
          </a:xfrm>
          <a:prstGeom prst="roundRect">
            <a:avLst>
              <a:gd name="adj" fmla="val 3810"/>
            </a:avLst>
          </a:prstGeom>
          <a:solidFill>
            <a:schemeClr val="bg2"/>
          </a:solidFill>
          <a:ln/>
        </p:spPr>
      </p:sp>
      <p:sp>
        <p:nvSpPr>
          <p:cNvPr id="13" name="Text 10"/>
          <p:cNvSpPr txBox="1"/>
          <p:nvPr/>
        </p:nvSpPr>
        <p:spPr>
          <a:xfrm>
            <a:off x="4846320" y="2194560"/>
            <a:ext cx="1554480" cy="320040"/>
          </a:xfrm>
          <a:prstGeom prst="rect">
            <a:avLst/>
          </a:prstGeom>
          <a:noFill/>
          <a:ln/>
        </p:spPr>
        <p:txBody>
          <a:bodyPr wrap="square" lIns="0" tIns="0" rIns="0" bIns="0" rtlCol="0" anchor="t"/>
          <a:lstStyle/>
          <a:p>
            <a:pPr marL="0" indent="0">
              <a:buNone/>
            </a:pPr>
            <a:r>
              <a:rPr lang="en-US" sz="1600" b="1" dirty="0">
                <a:solidFill>
                  <a:schemeClr val="accent2"/>
                </a:solidFill>
              </a:rPr>
              <a:t>Success criterion</a:t>
            </a:r>
            <a:endParaRPr lang="en-US" sz="1600" dirty="0"/>
          </a:p>
        </p:txBody>
      </p:sp>
      <p:sp>
        <p:nvSpPr>
          <p:cNvPr id="14" name="Text 11"/>
          <p:cNvSpPr txBox="1"/>
          <p:nvPr/>
        </p:nvSpPr>
        <p:spPr>
          <a:xfrm>
            <a:off x="4846320" y="2560320"/>
            <a:ext cx="1554480" cy="1783080"/>
          </a:xfrm>
          <a:prstGeom prst="rect">
            <a:avLst/>
          </a:prstGeom>
          <a:noFill/>
          <a:ln/>
        </p:spPr>
        <p:txBody>
          <a:bodyPr wrap="square" lIns="0" tIns="0" rIns="0" bIns="0" rtlCol="0" anchor="t"/>
          <a:lstStyle/>
          <a:p>
            <a:pPr marL="0" indent="0">
              <a:buNone/>
            </a:pPr>
            <a:r>
              <a:rPr lang="en-US" sz="1400" dirty="0">
                <a:solidFill>
                  <a:schemeClr val="tx1"/>
                </a:solidFill>
              </a:rPr>
              <a:t>A consistent fuel reduction versus baseline across repeated runs and conditions, without missing the turn speed or the safety override.</a:t>
            </a:r>
            <a:endParaRPr lang="en-US" sz="1400" dirty="0"/>
          </a:p>
        </p:txBody>
      </p:sp>
      <p:sp>
        <p:nvSpPr>
          <p:cNvPr id="15" name="Measure 4"/>
          <p:cNvSpPr/>
          <p:nvPr/>
        </p:nvSpPr>
        <p:spPr>
          <a:xfrm>
            <a:off x="6766560" y="2057400"/>
            <a:ext cx="1920240" cy="2423160"/>
          </a:xfrm>
          <a:prstGeom prst="roundRect">
            <a:avLst>
              <a:gd name="adj" fmla="val 3810"/>
            </a:avLst>
          </a:prstGeom>
          <a:solidFill>
            <a:schemeClr val="bg2"/>
          </a:solidFill>
          <a:ln/>
        </p:spPr>
      </p:sp>
      <p:sp>
        <p:nvSpPr>
          <p:cNvPr id="16" name="Text 13"/>
          <p:cNvSpPr txBox="1"/>
          <p:nvPr/>
        </p:nvSpPr>
        <p:spPr>
          <a:xfrm>
            <a:off x="6949440" y="2194560"/>
            <a:ext cx="1554480" cy="320040"/>
          </a:xfrm>
          <a:prstGeom prst="rect">
            <a:avLst/>
          </a:prstGeom>
          <a:noFill/>
          <a:ln/>
        </p:spPr>
        <p:txBody>
          <a:bodyPr wrap="square" lIns="0" tIns="0" rIns="0" bIns="0" rtlCol="0" anchor="t"/>
          <a:lstStyle/>
          <a:p>
            <a:pPr marL="0" indent="0">
              <a:buNone/>
            </a:pPr>
            <a:r>
              <a:rPr lang="en-US" sz="1600" b="1" dirty="0">
                <a:solidFill>
                  <a:schemeClr val="tx2"/>
                </a:solidFill>
              </a:rPr>
              <a:t>Target value</a:t>
            </a:r>
            <a:endParaRPr lang="en-US" sz="1600" dirty="0"/>
          </a:p>
        </p:txBody>
      </p:sp>
      <p:sp>
        <p:nvSpPr>
          <p:cNvPr id="17" name="Text 14"/>
          <p:cNvSpPr txBox="1"/>
          <p:nvPr/>
        </p:nvSpPr>
        <p:spPr>
          <a:xfrm>
            <a:off x="6949440" y="2560320"/>
            <a:ext cx="1554480" cy="1783080"/>
          </a:xfrm>
          <a:prstGeom prst="rect">
            <a:avLst/>
          </a:prstGeom>
          <a:noFill/>
          <a:ln/>
        </p:spPr>
        <p:txBody>
          <a:bodyPr wrap="square" lIns="0" tIns="0" rIns="0" bIns="0" rtlCol="0" anchor="t"/>
          <a:lstStyle/>
          <a:p>
            <a:pPr marL="0" indent="0">
              <a:buNone/>
            </a:pPr>
            <a:r>
              <a:rPr lang="en-US" sz="1400" dirty="0">
                <a:solidFill>
                  <a:schemeClr val="tx1"/>
                </a:solidFill>
              </a:rPr>
              <a:t>Set after baseline runs. No percentage is quoted before then.</a:t>
            </a:r>
            <a:endParaRPr lang="en-US" sz="14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2  REQUIREMENT ANALYSIS</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Functional requirements</a:t>
            </a:r>
            <a:endParaRPr lang="en-US" sz="2800" dirty="0"/>
          </a:p>
        </p:txBody>
      </p:sp>
      <p:sp>
        <p:nvSpPr>
          <p:cNvPr id="4" name="FR 1"/>
          <p:cNvSpPr/>
          <p:nvPr/>
        </p:nvSpPr>
        <p:spPr>
          <a:xfrm>
            <a:off x="457200" y="1280160"/>
            <a:ext cx="8229600" cy="438912"/>
          </a:xfrm>
          <a:prstGeom prst="roundRect">
            <a:avLst>
              <a:gd name="adj" fmla="val 16667"/>
            </a:avLst>
          </a:prstGeom>
          <a:solidFill>
            <a:schemeClr val="bg2"/>
          </a:solidFill>
          <a:ln/>
        </p:spPr>
      </p:sp>
      <p:sp>
        <p:nvSpPr>
          <p:cNvPr id="5" name="Number 1"/>
          <p:cNvSpPr/>
          <p:nvPr/>
        </p:nvSpPr>
        <p:spPr>
          <a:xfrm>
            <a:off x="566928" y="1325880"/>
            <a:ext cx="347472" cy="347472"/>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Text 4"/>
          <p:cNvSpPr txBox="1"/>
          <p:nvPr/>
        </p:nvSpPr>
        <p:spPr>
          <a:xfrm>
            <a:off x="1097280" y="1280160"/>
            <a:ext cx="7406640" cy="438912"/>
          </a:xfrm>
          <a:prstGeom prst="rect">
            <a:avLst/>
          </a:prstGeom>
          <a:noFill/>
          <a:ln/>
        </p:spPr>
        <p:txBody>
          <a:bodyPr wrap="square" lIns="0" tIns="0" rIns="0" bIns="0" rtlCol="0" anchor="ctr"/>
          <a:lstStyle/>
          <a:p>
            <a:pPr marL="0" indent="0">
              <a:buNone/>
            </a:pPr>
            <a:r>
              <a:rPr lang="en-US" sz="1500" dirty="0">
                <a:solidFill>
                  <a:schemeClr val="tx1"/>
                </a:solidFill>
              </a:rPr>
              <a:t>Read the vehicle's speed and position</a:t>
            </a:r>
            <a:endParaRPr lang="en-US" sz="1500" dirty="0"/>
          </a:p>
        </p:txBody>
      </p:sp>
      <p:sp>
        <p:nvSpPr>
          <p:cNvPr id="7" name="FR 2"/>
          <p:cNvSpPr/>
          <p:nvPr/>
        </p:nvSpPr>
        <p:spPr>
          <a:xfrm>
            <a:off x="457200" y="1810512"/>
            <a:ext cx="8229600" cy="438912"/>
          </a:xfrm>
          <a:prstGeom prst="roundRect">
            <a:avLst>
              <a:gd name="adj" fmla="val 16667"/>
            </a:avLst>
          </a:prstGeom>
          <a:solidFill>
            <a:schemeClr val="bg2"/>
          </a:solidFill>
          <a:ln/>
        </p:spPr>
      </p:sp>
      <p:sp>
        <p:nvSpPr>
          <p:cNvPr id="8" name="Number 2"/>
          <p:cNvSpPr/>
          <p:nvPr/>
        </p:nvSpPr>
        <p:spPr>
          <a:xfrm>
            <a:off x="566928" y="1856232"/>
            <a:ext cx="347472" cy="347472"/>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Text 7"/>
          <p:cNvSpPr txBox="1"/>
          <p:nvPr/>
        </p:nvSpPr>
        <p:spPr>
          <a:xfrm>
            <a:off x="1097280" y="1810512"/>
            <a:ext cx="7406640" cy="438912"/>
          </a:xfrm>
          <a:prstGeom prst="rect">
            <a:avLst/>
          </a:prstGeom>
          <a:noFill/>
          <a:ln/>
        </p:spPr>
        <p:txBody>
          <a:bodyPr wrap="square" lIns="0" tIns="0" rIns="0" bIns="0" rtlCol="0" anchor="ctr"/>
          <a:lstStyle/>
          <a:p>
            <a:pPr marL="0" indent="0">
              <a:buNone/>
            </a:pPr>
            <a:r>
              <a:rPr lang="en-US" sz="1500" dirty="0">
                <a:solidFill>
                  <a:schemeClr val="tx1"/>
                </a:solidFill>
              </a:rPr>
              <a:t>Know the upcoming turn's location and required speed from map data</a:t>
            </a:r>
            <a:endParaRPr lang="en-US" sz="1500" dirty="0"/>
          </a:p>
        </p:txBody>
      </p:sp>
      <p:sp>
        <p:nvSpPr>
          <p:cNvPr id="10" name="FR 3"/>
          <p:cNvSpPr/>
          <p:nvPr/>
        </p:nvSpPr>
        <p:spPr>
          <a:xfrm>
            <a:off x="457200" y="2340864"/>
            <a:ext cx="8229600" cy="438912"/>
          </a:xfrm>
          <a:prstGeom prst="roundRect">
            <a:avLst>
              <a:gd name="adj" fmla="val 16667"/>
            </a:avLst>
          </a:prstGeom>
          <a:solidFill>
            <a:schemeClr val="bg2"/>
          </a:solidFill>
          <a:ln/>
        </p:spPr>
      </p:sp>
      <p:sp>
        <p:nvSpPr>
          <p:cNvPr id="11" name="Number 3"/>
          <p:cNvSpPr/>
          <p:nvPr/>
        </p:nvSpPr>
        <p:spPr>
          <a:xfrm>
            <a:off x="566928" y="2386584"/>
            <a:ext cx="347472" cy="347472"/>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2" name="Text 10"/>
          <p:cNvSpPr txBox="1"/>
          <p:nvPr/>
        </p:nvSpPr>
        <p:spPr>
          <a:xfrm>
            <a:off x="1097280" y="2340864"/>
            <a:ext cx="7406640" cy="438912"/>
          </a:xfrm>
          <a:prstGeom prst="rect">
            <a:avLst/>
          </a:prstGeom>
          <a:noFill/>
          <a:ln/>
        </p:spPr>
        <p:txBody>
          <a:bodyPr wrap="square" lIns="0" tIns="0" rIns="0" bIns="0" rtlCol="0" anchor="ctr"/>
          <a:lstStyle/>
          <a:p>
            <a:pPr marL="0" indent="0">
              <a:buNone/>
            </a:pPr>
            <a:r>
              <a:rPr lang="en-US" sz="1500" dirty="0">
                <a:solidFill>
                  <a:schemeClr val="tx1"/>
                </a:solidFill>
              </a:rPr>
              <a:t>Decide when to lift off so coasting, not braking, brings the car to turn speed</a:t>
            </a:r>
            <a:endParaRPr lang="en-US" sz="1500" dirty="0"/>
          </a:p>
        </p:txBody>
      </p:sp>
      <p:sp>
        <p:nvSpPr>
          <p:cNvPr id="13" name="FR 4"/>
          <p:cNvSpPr/>
          <p:nvPr/>
        </p:nvSpPr>
        <p:spPr>
          <a:xfrm>
            <a:off x="457200" y="2871216"/>
            <a:ext cx="8229600" cy="438912"/>
          </a:xfrm>
          <a:prstGeom prst="roundRect">
            <a:avLst>
              <a:gd name="adj" fmla="val 16667"/>
            </a:avLst>
          </a:prstGeom>
          <a:solidFill>
            <a:schemeClr val="bg2"/>
          </a:solidFill>
          <a:ln/>
        </p:spPr>
      </p:sp>
      <p:sp>
        <p:nvSpPr>
          <p:cNvPr id="14" name="Number 4"/>
          <p:cNvSpPr/>
          <p:nvPr/>
        </p:nvSpPr>
        <p:spPr>
          <a:xfrm>
            <a:off x="566928" y="2916936"/>
            <a:ext cx="347472" cy="347472"/>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5" name="Text 13"/>
          <p:cNvSpPr txBox="1"/>
          <p:nvPr/>
        </p:nvSpPr>
        <p:spPr>
          <a:xfrm>
            <a:off x="1097280" y="2871216"/>
            <a:ext cx="7406640" cy="438912"/>
          </a:xfrm>
          <a:prstGeom prst="rect">
            <a:avLst/>
          </a:prstGeom>
          <a:noFill/>
          <a:ln/>
        </p:spPr>
        <p:txBody>
          <a:bodyPr wrap="square" lIns="0" tIns="0" rIns="0" bIns="0" rtlCol="0" anchor="ctr"/>
          <a:lstStyle/>
          <a:p>
            <a:pPr marL="0" indent="0">
              <a:buNone/>
            </a:pPr>
            <a:r>
              <a:rPr lang="en-US" sz="1500" dirty="0">
                <a:solidFill>
                  <a:schemeClr val="tx1"/>
                </a:solidFill>
              </a:rPr>
              <a:t>Brake only when coasting alone cannot reach the turn speed</a:t>
            </a:r>
            <a:endParaRPr lang="en-US" sz="1500" dirty="0"/>
          </a:p>
        </p:txBody>
      </p:sp>
      <p:sp>
        <p:nvSpPr>
          <p:cNvPr id="16" name="FR 5"/>
          <p:cNvSpPr/>
          <p:nvPr/>
        </p:nvSpPr>
        <p:spPr>
          <a:xfrm>
            <a:off x="457200" y="3401568"/>
            <a:ext cx="8229600" cy="438912"/>
          </a:xfrm>
          <a:prstGeom prst="roundRect">
            <a:avLst>
              <a:gd name="adj" fmla="val 16667"/>
            </a:avLst>
          </a:prstGeom>
          <a:solidFill>
            <a:schemeClr val="bg2"/>
          </a:solidFill>
          <a:ln/>
        </p:spPr>
      </p:sp>
      <p:sp>
        <p:nvSpPr>
          <p:cNvPr id="17" name="Number 5"/>
          <p:cNvSpPr/>
          <p:nvPr/>
        </p:nvSpPr>
        <p:spPr>
          <a:xfrm>
            <a:off x="566928" y="3447288"/>
            <a:ext cx="347472" cy="347472"/>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18" name="Text 16"/>
          <p:cNvSpPr txBox="1"/>
          <p:nvPr/>
        </p:nvSpPr>
        <p:spPr>
          <a:xfrm>
            <a:off x="1097280" y="3401568"/>
            <a:ext cx="7406640" cy="438912"/>
          </a:xfrm>
          <a:prstGeom prst="rect">
            <a:avLst/>
          </a:prstGeom>
          <a:noFill/>
          <a:ln/>
        </p:spPr>
        <p:txBody>
          <a:bodyPr wrap="square" lIns="0" tIns="0" rIns="0" bIns="0" rtlCol="0" anchor="ctr"/>
          <a:lstStyle/>
          <a:p>
            <a:pPr marL="0" indent="0">
              <a:buNone/>
            </a:pPr>
            <a:r>
              <a:rPr lang="en-US" sz="1500" dirty="0">
                <a:solidFill>
                  <a:schemeClr val="tx1"/>
                </a:solidFill>
              </a:rPr>
              <a:t>Hand control back instantly when the driver uses gas, brake or clutch</a:t>
            </a:r>
            <a:endParaRPr lang="en-US" sz="1500" dirty="0"/>
          </a:p>
        </p:txBody>
      </p:sp>
      <p:sp>
        <p:nvSpPr>
          <p:cNvPr id="19" name="FR 6"/>
          <p:cNvSpPr/>
          <p:nvPr/>
        </p:nvSpPr>
        <p:spPr>
          <a:xfrm>
            <a:off x="457200" y="3931920"/>
            <a:ext cx="8229600" cy="438912"/>
          </a:xfrm>
          <a:prstGeom prst="roundRect">
            <a:avLst>
              <a:gd name="adj" fmla="val 16667"/>
            </a:avLst>
          </a:prstGeom>
          <a:solidFill>
            <a:schemeClr val="bg2"/>
          </a:solidFill>
          <a:ln/>
        </p:spPr>
      </p:sp>
      <p:sp>
        <p:nvSpPr>
          <p:cNvPr id="20" name="Number 6"/>
          <p:cNvSpPr/>
          <p:nvPr/>
        </p:nvSpPr>
        <p:spPr>
          <a:xfrm>
            <a:off x="566928" y="3977640"/>
            <a:ext cx="347472" cy="347472"/>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21" name="Text 19"/>
          <p:cNvSpPr txBox="1"/>
          <p:nvPr/>
        </p:nvSpPr>
        <p:spPr>
          <a:xfrm>
            <a:off x="1097280" y="3931920"/>
            <a:ext cx="7406640" cy="438912"/>
          </a:xfrm>
          <a:prstGeom prst="rect">
            <a:avLst/>
          </a:prstGeom>
          <a:noFill/>
          <a:ln/>
        </p:spPr>
        <p:txBody>
          <a:bodyPr wrap="square" lIns="0" tIns="0" rIns="0" bIns="0" rtlCol="0" anchor="ctr"/>
          <a:lstStyle/>
          <a:p>
            <a:pPr marL="0" indent="0">
              <a:buNone/>
            </a:pPr>
            <a:r>
              <a:rPr lang="en-US" sz="1500" dirty="0">
                <a:solidFill>
                  <a:schemeClr val="tx1"/>
                </a:solidFill>
              </a:rPr>
              <a:t>Log every run for analysis</a:t>
            </a:r>
            <a:endParaRPr lang="en-US" sz="15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2  REQUIREMENT ANALYSIS</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Data and simulation requirements</a:t>
            </a:r>
            <a:endParaRPr lang="en-US" sz="2800" dirty="0"/>
          </a:p>
        </p:txBody>
      </p:sp>
      <p:sp>
        <p:nvSpPr>
          <p:cNvPr id="4" name="Data"/>
          <p:cNvSpPr/>
          <p:nvPr/>
        </p:nvSpPr>
        <p:spPr>
          <a:xfrm>
            <a:off x="457200" y="1280160"/>
            <a:ext cx="4023360" cy="3154680"/>
          </a:xfrm>
          <a:prstGeom prst="roundRect">
            <a:avLst>
              <a:gd name="adj" fmla="val 2319"/>
            </a:avLst>
          </a:prstGeom>
          <a:solidFill>
            <a:schemeClr val="bg2"/>
          </a:solidFill>
          <a:ln/>
        </p:spPr>
      </p:sp>
      <p:sp>
        <p:nvSpPr>
          <p:cNvPr id="5" name="Text 3"/>
          <p:cNvSpPr txBox="1"/>
          <p:nvPr/>
        </p:nvSpPr>
        <p:spPr>
          <a:xfrm>
            <a:off x="640080" y="1417320"/>
            <a:ext cx="3657600" cy="320040"/>
          </a:xfrm>
          <a:prstGeom prst="rect">
            <a:avLst/>
          </a:prstGeom>
          <a:noFill/>
          <a:ln/>
        </p:spPr>
        <p:txBody>
          <a:bodyPr wrap="square" lIns="0" tIns="0" rIns="0" bIns="0" rtlCol="0" anchor="t"/>
          <a:lstStyle/>
          <a:p>
            <a:pPr marL="0" indent="0">
              <a:buNone/>
            </a:pPr>
            <a:r>
              <a:rPr lang="en-US" sz="1600" b="1" dirty="0">
                <a:solidFill>
                  <a:schemeClr val="accent1"/>
                </a:solidFill>
              </a:rPr>
              <a:t>Data to log</a:t>
            </a:r>
            <a:endParaRPr lang="en-US" sz="1600" dirty="0"/>
          </a:p>
        </p:txBody>
      </p:sp>
      <p:sp>
        <p:nvSpPr>
          <p:cNvPr id="6" name="Text 4"/>
          <p:cNvSpPr txBox="1"/>
          <p:nvPr/>
        </p:nvSpPr>
        <p:spPr>
          <a:xfrm>
            <a:off x="640080" y="1828800"/>
            <a:ext cx="3657600" cy="25603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Timestamp, position, speed</a:t>
            </a:r>
            <a:endParaRPr lang="en-US" sz="1400" dirty="0"/>
          </a:p>
          <a:p>
            <a:pPr marL="177800" indent="-177800">
              <a:spcAft>
                <a:spcPts val="600"/>
              </a:spcAft>
              <a:buSzPct val="100000"/>
              <a:buChar char="•"/>
            </a:pPr>
            <a:r>
              <a:rPr lang="en-US" sz="1400" dirty="0">
                <a:solidFill>
                  <a:schemeClr val="tx1"/>
                </a:solidFill>
              </a:rPr>
              <a:t>Throttle, brake, steering</a:t>
            </a:r>
            <a:endParaRPr lang="en-US" sz="1400" dirty="0"/>
          </a:p>
          <a:p>
            <a:pPr marL="177800" indent="-177800">
              <a:spcAft>
                <a:spcPts val="600"/>
              </a:spcAft>
              <a:buSzPct val="100000"/>
              <a:buChar char="•"/>
            </a:pPr>
            <a:r>
              <a:rPr lang="en-US" sz="1400" dirty="0">
                <a:solidFill>
                  <a:schemeClr val="tx1"/>
                </a:solidFill>
              </a:rPr>
              <a:t>IMU acceleration</a:t>
            </a:r>
            <a:endParaRPr lang="en-US" sz="1400" dirty="0"/>
          </a:p>
          <a:p>
            <a:pPr marL="177800" indent="-177800">
              <a:spcAft>
                <a:spcPts val="600"/>
              </a:spcAft>
              <a:buSzPct val="100000"/>
              <a:buChar char="•"/>
            </a:pPr>
            <a:r>
              <a:rPr lang="en-US" sz="1400" dirty="0">
                <a:solidFill>
                  <a:schemeClr val="tx1"/>
                </a:solidFill>
              </a:rPr>
              <a:t>Surface friction and weather setting</a:t>
            </a:r>
            <a:endParaRPr lang="en-US" sz="1400" dirty="0"/>
          </a:p>
          <a:p>
            <a:pPr marL="177800" indent="-177800">
              <a:spcAft>
                <a:spcPts val="600"/>
              </a:spcAft>
              <a:buSzPct val="100000"/>
              <a:buChar char="•"/>
            </a:pPr>
            <a:r>
              <a:rPr lang="en-US" sz="1400" dirty="0">
                <a:solidFill>
                  <a:schemeClr val="tx1"/>
                </a:solidFill>
              </a:rPr>
              <a:t>Fuel, computed from the log</a:t>
            </a:r>
            <a:endParaRPr lang="en-US" sz="1400" dirty="0"/>
          </a:p>
        </p:txBody>
      </p:sp>
      <p:sp>
        <p:nvSpPr>
          <p:cNvPr id="7" name="Simulator"/>
          <p:cNvSpPr/>
          <p:nvPr/>
        </p:nvSpPr>
        <p:spPr>
          <a:xfrm>
            <a:off x="4663440" y="1280160"/>
            <a:ext cx="4023360" cy="3154680"/>
          </a:xfrm>
          <a:prstGeom prst="roundRect">
            <a:avLst>
              <a:gd name="adj" fmla="val 2319"/>
            </a:avLst>
          </a:prstGeom>
          <a:solidFill>
            <a:schemeClr val="bg2"/>
          </a:solidFill>
          <a:ln/>
        </p:spPr>
      </p:sp>
      <p:sp>
        <p:nvSpPr>
          <p:cNvPr id="8" name="Text 6"/>
          <p:cNvSpPr txBox="1"/>
          <p:nvPr/>
        </p:nvSpPr>
        <p:spPr>
          <a:xfrm>
            <a:off x="4846320" y="1417320"/>
            <a:ext cx="3657600" cy="320040"/>
          </a:xfrm>
          <a:prstGeom prst="rect">
            <a:avLst/>
          </a:prstGeom>
          <a:noFill/>
          <a:ln/>
        </p:spPr>
        <p:txBody>
          <a:bodyPr wrap="square" lIns="0" tIns="0" rIns="0" bIns="0" rtlCol="0" anchor="t"/>
          <a:lstStyle/>
          <a:p>
            <a:pPr marL="0" indent="0">
              <a:buNone/>
            </a:pPr>
            <a:r>
              <a:rPr lang="en-US" sz="1600" b="1" dirty="0">
                <a:solidFill>
                  <a:schemeClr val="accent2"/>
                </a:solidFill>
              </a:rPr>
              <a:t>What the simulator must offer</a:t>
            </a:r>
            <a:endParaRPr lang="en-US" sz="1600" dirty="0"/>
          </a:p>
        </p:txBody>
      </p:sp>
      <p:sp>
        <p:nvSpPr>
          <p:cNvPr id="9" name="Text 7"/>
          <p:cNvSpPr txBox="1"/>
          <p:nvPr/>
        </p:nvSpPr>
        <p:spPr>
          <a:xfrm>
            <a:off x="4846320" y="1828800"/>
            <a:ext cx="3657600" cy="25603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Scripted control and logging through the Python API</a:t>
            </a:r>
            <a:endParaRPr lang="en-US" sz="1400" dirty="0"/>
          </a:p>
          <a:p>
            <a:pPr marL="177800" indent="-177800">
              <a:spcAft>
                <a:spcPts val="600"/>
              </a:spcAft>
              <a:buSzPct val="100000"/>
              <a:buChar char="•"/>
            </a:pPr>
            <a:r>
              <a:rPr lang="en-US" sz="1400" dirty="0">
                <a:solidFill>
                  <a:schemeClr val="tx1"/>
                </a:solidFill>
              </a:rPr>
              <a:t>Fixed timestep (for example 0.05 s) so runs repeat</a:t>
            </a:r>
            <a:endParaRPr lang="en-US" sz="1400" dirty="0"/>
          </a:p>
          <a:p>
            <a:pPr marL="177800" indent="-177800">
              <a:spcAft>
                <a:spcPts val="600"/>
              </a:spcAft>
              <a:buSzPct val="100000"/>
              <a:buChar char="•"/>
            </a:pPr>
            <a:r>
              <a:rPr lang="en-US" sz="1400" dirty="0">
                <a:solidFill>
                  <a:schemeClr val="tx1"/>
                </a:solidFill>
              </a:rPr>
              <a:t>Sharp 90° turns on known routes</a:t>
            </a:r>
            <a:endParaRPr lang="en-US" sz="1400" dirty="0"/>
          </a:p>
          <a:p>
            <a:pPr marL="177800" indent="-177800">
              <a:spcAft>
                <a:spcPts val="600"/>
              </a:spcAft>
              <a:buSzPct val="100000"/>
              <a:buChar char="•"/>
            </a:pPr>
            <a:r>
              <a:rPr lang="en-US" sz="1400" dirty="0">
                <a:solidFill>
                  <a:schemeClr val="tx1"/>
                </a:solidFill>
              </a:rPr>
              <a:t>Adjustable mass, drag, tyre friction and torque curve</a:t>
            </a:r>
            <a:endParaRPr lang="en-US" sz="1400" dirty="0"/>
          </a:p>
          <a:p>
            <a:pPr marL="177800" indent="-177800">
              <a:spcAft>
                <a:spcPts val="600"/>
              </a:spcAft>
              <a:buSzPct val="100000"/>
              <a:buChar char="•"/>
            </a:pPr>
            <a:r>
              <a:rPr lang="en-US" sz="1400" dirty="0">
                <a:solidFill>
                  <a:schemeClr val="tx1"/>
                </a:solidFill>
              </a:rPr>
              <a:t>Fuel computed offline, as CARLA outputs none</a:t>
            </a:r>
            <a:endParaRPr lang="en-US" sz="14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2  REQUIREMENT ANALYSIS</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Performance and safety requirements</a:t>
            </a:r>
            <a:endParaRPr lang="en-US" sz="2800" dirty="0"/>
          </a:p>
        </p:txBody>
      </p:sp>
      <p:sp>
        <p:nvSpPr>
          <p:cNvPr id="5" name="Turn speed"/>
          <p:cNvSpPr/>
          <p:nvPr/>
        </p:nvSpPr>
        <p:spPr>
          <a:xfrm>
            <a:off x="457200" y="1280160"/>
            <a:ext cx="4023360" cy="1554480"/>
          </a:xfrm>
          <a:prstGeom prst="roundRect">
            <a:avLst>
              <a:gd name="adj" fmla="val 4706"/>
            </a:avLst>
          </a:prstGeom>
          <a:solidFill>
            <a:schemeClr val="bg2"/>
          </a:solidFill>
          <a:ln/>
        </p:spPr>
      </p:sp>
      <p:sp>
        <p:nvSpPr>
          <p:cNvPr id="6" name="Text 3"/>
          <p:cNvSpPr txBox="1"/>
          <p:nvPr/>
        </p:nvSpPr>
        <p:spPr>
          <a:xfrm>
            <a:off x="640080" y="1417320"/>
            <a:ext cx="3657600" cy="320040"/>
          </a:xfrm>
          <a:prstGeom prst="rect">
            <a:avLst/>
          </a:prstGeom>
          <a:noFill/>
          <a:ln/>
        </p:spPr>
        <p:txBody>
          <a:bodyPr wrap="square" lIns="0" tIns="0" rIns="0" bIns="0" rtlCol="0" anchor="t"/>
          <a:lstStyle/>
          <a:p>
            <a:pPr marL="0" indent="0">
              <a:buNone/>
            </a:pPr>
            <a:r>
              <a:rPr lang="en-US" sz="1600" b="1" dirty="0">
                <a:solidFill>
                  <a:schemeClr val="accent1"/>
                </a:solidFill>
              </a:rPr>
              <a:t>Turn speed</a:t>
            </a:r>
            <a:endParaRPr lang="en-US" sz="1600" dirty="0"/>
          </a:p>
        </p:txBody>
      </p:sp>
      <p:sp>
        <p:nvSpPr>
          <p:cNvPr id="7" name="Text 4"/>
          <p:cNvSpPr txBox="1"/>
          <p:nvPr/>
        </p:nvSpPr>
        <p:spPr>
          <a:xfrm>
            <a:off x="640080" y="1783080"/>
            <a:ext cx="3657600" cy="914400"/>
          </a:xfrm>
          <a:prstGeom prst="rect">
            <a:avLst/>
          </a:prstGeom>
          <a:noFill/>
          <a:ln/>
        </p:spPr>
        <p:txBody>
          <a:bodyPr wrap="square" lIns="0" tIns="0" rIns="0" bIns="0" rtlCol="0" anchor="t"/>
          <a:lstStyle/>
          <a:p>
            <a:pPr marL="0" indent="0">
              <a:buNone/>
            </a:pPr>
            <a:r>
              <a:rPr lang="en-US" sz="1400" dirty="0">
                <a:solidFill>
                  <a:schemeClr val="tx1"/>
                </a:solidFill>
              </a:rPr>
              <a:t>Reach the required speed at the turn without braking where possible. Tolerance set after baseline runs.</a:t>
            </a:r>
            <a:endParaRPr lang="en-US" sz="1400" dirty="0"/>
          </a:p>
        </p:txBody>
      </p:sp>
      <p:sp>
        <p:nvSpPr>
          <p:cNvPr id="8" name="Decel"/>
          <p:cNvSpPr/>
          <p:nvPr/>
        </p:nvSpPr>
        <p:spPr>
          <a:xfrm>
            <a:off x="4663440" y="1280160"/>
            <a:ext cx="4023360" cy="1554480"/>
          </a:xfrm>
          <a:prstGeom prst="roundRect">
            <a:avLst>
              <a:gd name="adj" fmla="val 4706"/>
            </a:avLst>
          </a:prstGeom>
          <a:solidFill>
            <a:schemeClr val="bg2"/>
          </a:solidFill>
          <a:ln/>
        </p:spPr>
      </p:sp>
      <p:sp>
        <p:nvSpPr>
          <p:cNvPr id="9" name="Text 6"/>
          <p:cNvSpPr txBox="1"/>
          <p:nvPr/>
        </p:nvSpPr>
        <p:spPr>
          <a:xfrm>
            <a:off x="4846320" y="1417320"/>
            <a:ext cx="3657600" cy="320040"/>
          </a:xfrm>
          <a:prstGeom prst="rect">
            <a:avLst/>
          </a:prstGeom>
          <a:noFill/>
          <a:ln/>
        </p:spPr>
        <p:txBody>
          <a:bodyPr wrap="square" lIns="0" tIns="0" rIns="0" bIns="0" rtlCol="0" anchor="t"/>
          <a:lstStyle/>
          <a:p>
            <a:pPr marL="0" indent="0">
              <a:buNone/>
            </a:pPr>
            <a:r>
              <a:rPr lang="en-US" sz="1600" b="1" dirty="0">
                <a:solidFill>
                  <a:schemeClr val="accent1"/>
                </a:solidFill>
              </a:rPr>
              <a:t>Deceleration</a:t>
            </a:r>
            <a:endParaRPr lang="en-US" sz="1600" dirty="0"/>
          </a:p>
        </p:txBody>
      </p:sp>
      <p:sp>
        <p:nvSpPr>
          <p:cNvPr id="10" name="Text 7"/>
          <p:cNvSpPr txBox="1"/>
          <p:nvPr/>
        </p:nvSpPr>
        <p:spPr>
          <a:xfrm>
            <a:off x="4846320" y="1783080"/>
            <a:ext cx="3657600" cy="914400"/>
          </a:xfrm>
          <a:prstGeom prst="rect">
            <a:avLst/>
          </a:prstGeom>
          <a:noFill/>
          <a:ln/>
        </p:spPr>
        <p:txBody>
          <a:bodyPr wrap="square" lIns="0" tIns="0" rIns="0" bIns="0" rtlCol="0" anchor="t"/>
          <a:lstStyle/>
          <a:p>
            <a:pPr marL="0" indent="0">
              <a:buNone/>
            </a:pPr>
            <a:r>
              <a:rPr lang="en-US" sz="1400" dirty="0">
                <a:solidFill>
                  <a:schemeClr val="tx1"/>
                </a:solidFill>
              </a:rPr>
              <a:t>Stay within a maximum deceleration limit, to be agreed, for comfort and safety.</a:t>
            </a:r>
            <a:endParaRPr lang="en-US" sz="1400" dirty="0"/>
          </a:p>
        </p:txBody>
      </p:sp>
      <p:sp>
        <p:nvSpPr>
          <p:cNvPr id="11" name="Override"/>
          <p:cNvSpPr/>
          <p:nvPr/>
        </p:nvSpPr>
        <p:spPr>
          <a:xfrm>
            <a:off x="457200" y="3017520"/>
            <a:ext cx="4023360" cy="1417320"/>
          </a:xfrm>
          <a:prstGeom prst="roundRect">
            <a:avLst>
              <a:gd name="adj" fmla="val 5161"/>
            </a:avLst>
          </a:prstGeom>
          <a:solidFill>
            <a:schemeClr val="bg2"/>
          </a:solidFill>
          <a:ln/>
        </p:spPr>
      </p:sp>
      <p:sp>
        <p:nvSpPr>
          <p:cNvPr id="12" name="Text 9"/>
          <p:cNvSpPr txBox="1"/>
          <p:nvPr/>
        </p:nvSpPr>
        <p:spPr>
          <a:xfrm>
            <a:off x="640080" y="3154680"/>
            <a:ext cx="3657600" cy="320040"/>
          </a:xfrm>
          <a:prstGeom prst="rect">
            <a:avLst/>
          </a:prstGeom>
          <a:noFill/>
          <a:ln/>
        </p:spPr>
        <p:txBody>
          <a:bodyPr wrap="square" lIns="0" tIns="0" rIns="0" bIns="0" rtlCol="0" anchor="t"/>
          <a:lstStyle/>
          <a:p>
            <a:pPr marL="0" indent="0">
              <a:buNone/>
            </a:pPr>
            <a:r>
              <a:rPr lang="en-US" sz="1600" b="1" dirty="0">
                <a:solidFill>
                  <a:schemeClr val="accent1"/>
                </a:solidFill>
              </a:rPr>
              <a:t>Driver override</a:t>
            </a:r>
            <a:endParaRPr lang="en-US" sz="1600" dirty="0"/>
          </a:p>
        </p:txBody>
      </p:sp>
      <p:sp>
        <p:nvSpPr>
          <p:cNvPr id="13" name="Text 10"/>
          <p:cNvSpPr txBox="1"/>
          <p:nvPr/>
        </p:nvSpPr>
        <p:spPr>
          <a:xfrm>
            <a:off x="640080" y="3520440"/>
            <a:ext cx="3657600" cy="777240"/>
          </a:xfrm>
          <a:prstGeom prst="rect">
            <a:avLst/>
          </a:prstGeom>
          <a:noFill/>
          <a:ln/>
        </p:spPr>
        <p:txBody>
          <a:bodyPr wrap="square" lIns="0" tIns="0" rIns="0" bIns="0" rtlCol="0" anchor="t"/>
          <a:lstStyle/>
          <a:p>
            <a:pPr marL="0" indent="0">
              <a:buNone/>
            </a:pPr>
            <a:r>
              <a:rPr lang="en-US" sz="1400" dirty="0">
                <a:solidFill>
                  <a:schemeClr val="tx1"/>
                </a:solidFill>
              </a:rPr>
              <a:t>Any gas, brake or clutch input ends the system's control immediately.</a:t>
            </a:r>
            <a:endParaRPr lang="en-US" sz="1400" dirty="0"/>
          </a:p>
        </p:txBody>
      </p:sp>
      <p:sp>
        <p:nvSpPr>
          <p:cNvPr id="14" name="GPS"/>
          <p:cNvSpPr/>
          <p:nvPr/>
        </p:nvSpPr>
        <p:spPr>
          <a:xfrm>
            <a:off x="4663440" y="3017520"/>
            <a:ext cx="4023360" cy="1417320"/>
          </a:xfrm>
          <a:prstGeom prst="roundRect">
            <a:avLst>
              <a:gd name="adj" fmla="val 5161"/>
            </a:avLst>
          </a:prstGeom>
          <a:solidFill>
            <a:schemeClr val="bg2"/>
          </a:solidFill>
          <a:ln/>
        </p:spPr>
      </p:sp>
      <p:sp>
        <p:nvSpPr>
          <p:cNvPr id="15" name="Text 12"/>
          <p:cNvSpPr txBox="1"/>
          <p:nvPr/>
        </p:nvSpPr>
        <p:spPr>
          <a:xfrm>
            <a:off x="4846320" y="3154680"/>
            <a:ext cx="3657600" cy="320040"/>
          </a:xfrm>
          <a:prstGeom prst="rect">
            <a:avLst/>
          </a:prstGeom>
          <a:noFill/>
          <a:ln/>
        </p:spPr>
        <p:txBody>
          <a:bodyPr wrap="square" lIns="0" tIns="0" rIns="0" bIns="0" rtlCol="0" anchor="t"/>
          <a:lstStyle/>
          <a:p>
            <a:pPr marL="0" indent="0">
              <a:buNone/>
            </a:pPr>
            <a:r>
              <a:rPr lang="en-US" sz="1600" b="1" dirty="0">
                <a:solidFill>
                  <a:schemeClr val="accent1"/>
                </a:solidFill>
              </a:rPr>
              <a:t>Noisy GPS</a:t>
            </a:r>
            <a:endParaRPr lang="en-US" sz="1600" dirty="0"/>
          </a:p>
        </p:txBody>
      </p:sp>
      <p:sp>
        <p:nvSpPr>
          <p:cNvPr id="16" name="Text 13"/>
          <p:cNvSpPr txBox="1"/>
          <p:nvPr/>
        </p:nvSpPr>
        <p:spPr>
          <a:xfrm>
            <a:off x="4846320" y="3520440"/>
            <a:ext cx="3657600" cy="777240"/>
          </a:xfrm>
          <a:prstGeom prst="rect">
            <a:avLst/>
          </a:prstGeom>
          <a:noFill/>
          <a:ln/>
        </p:spPr>
        <p:txBody>
          <a:bodyPr wrap="square" lIns="0" tIns="0" rIns="0" bIns="0" rtlCol="0" anchor="t"/>
          <a:lstStyle/>
          <a:p>
            <a:pPr marL="0" indent="0">
              <a:buNone/>
            </a:pPr>
            <a:r>
              <a:rPr lang="en-US" sz="1400" dirty="0">
                <a:solidFill>
                  <a:schemeClr val="tx1"/>
                </a:solidFill>
              </a:rPr>
              <a:t>Define safe behaviour when position data is poor, for example handing control back.</a:t>
            </a:r>
            <a:endParaRPr lang="en-US" sz="14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2  REQUIREMENT ANALYSIS</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Requirements by discipline</a:t>
            </a:r>
            <a:endParaRPr lang="en-US" sz="2800" dirty="0"/>
          </a:p>
        </p:txBody>
      </p:sp>
      <p:sp>
        <p:nvSpPr>
          <p:cNvPr id="4" name="Discipline EEE"/>
          <p:cNvSpPr/>
          <p:nvPr/>
        </p:nvSpPr>
        <p:spPr>
          <a:xfrm>
            <a:off x="457200" y="1280160"/>
            <a:ext cx="2651760" cy="2743200"/>
          </a:xfrm>
          <a:prstGeom prst="roundRect">
            <a:avLst>
              <a:gd name="adj" fmla="val 2759"/>
            </a:avLst>
          </a:prstGeom>
          <a:solidFill>
            <a:schemeClr val="bg2"/>
          </a:solidFill>
          <a:ln/>
        </p:spPr>
      </p:sp>
      <p:sp>
        <p:nvSpPr>
          <p:cNvPr id="5" name="Text 3"/>
          <p:cNvSpPr txBox="1"/>
          <p:nvPr/>
        </p:nvSpPr>
        <p:spPr>
          <a:xfrm>
            <a:off x="640080" y="1417320"/>
            <a:ext cx="2286000" cy="320040"/>
          </a:xfrm>
          <a:prstGeom prst="rect">
            <a:avLst/>
          </a:prstGeom>
          <a:noFill/>
          <a:ln/>
        </p:spPr>
        <p:txBody>
          <a:bodyPr wrap="square" lIns="0" tIns="0" rIns="0" bIns="0" rtlCol="0" anchor="t"/>
          <a:lstStyle/>
          <a:p>
            <a:pPr marL="0" indent="0">
              <a:buNone/>
            </a:pPr>
            <a:r>
              <a:rPr lang="en-US" sz="1800" b="1" dirty="0">
                <a:solidFill>
                  <a:schemeClr val="accent2"/>
                </a:solidFill>
              </a:rPr>
              <a:t>EEE</a:t>
            </a:r>
            <a:endParaRPr lang="en-US" sz="1800" dirty="0"/>
          </a:p>
        </p:txBody>
      </p:sp>
      <p:sp>
        <p:nvSpPr>
          <p:cNvPr id="6" name="Text 4"/>
          <p:cNvSpPr txBox="1"/>
          <p:nvPr/>
        </p:nvSpPr>
        <p:spPr>
          <a:xfrm>
            <a:off x="640080" y="1874520"/>
            <a:ext cx="2286000" cy="2057400"/>
          </a:xfrm>
          <a:prstGeom prst="rect">
            <a:avLst/>
          </a:prstGeom>
          <a:noFill/>
          <a:ln/>
        </p:spPr>
        <p:txBody>
          <a:bodyPr wrap="square" lIns="0" tIns="0" rIns="0" bIns="0" rtlCol="0" anchor="t"/>
          <a:lstStyle/>
          <a:p>
            <a:pPr marL="0" indent="0">
              <a:buNone/>
            </a:pPr>
            <a:r>
              <a:rPr lang="en-US" sz="1400" b="1" dirty="0">
                <a:solidFill>
                  <a:schemeClr val="accent1"/>
                </a:solidFill>
              </a:rPr>
              <a:t>Provides</a:t>
            </a:r>
            <a:endParaRPr lang="en-US" sz="1400" dirty="0"/>
          </a:p>
          <a:p>
            <a:pPr marL="0" indent="0">
              <a:buNone/>
            </a:pPr>
            <a:r>
              <a:rPr lang="en-US" sz="1400" dirty="0">
                <a:solidFill>
                  <a:schemeClr val="tx1"/>
                </a:solidFill>
              </a:rPr>
              <a:t>Coasting deceleration, logged vehicle data, decision logic.</a:t>
            </a:r>
            <a:endParaRPr lang="en-US" sz="1400" dirty="0"/>
          </a:p>
          <a:p>
            <a:pPr marL="0" indent="0">
              <a:buNone/>
            </a:pPr>
            <a:r>
              <a:rPr lang="en-US" sz="800" dirty="0">
                <a:solidFill>
                  <a:schemeClr val="tx1"/>
                </a:solidFill>
              </a:rPr>
              <a:t> </a:t>
            </a:r>
            <a:endParaRPr lang="en-US" sz="1400" dirty="0"/>
          </a:p>
          <a:p>
            <a:pPr marL="0" indent="0">
              <a:buNone/>
            </a:pPr>
            <a:r>
              <a:rPr lang="en-US" sz="1400" b="1" dirty="0">
                <a:solidFill>
                  <a:schemeClr val="accent1"/>
                </a:solidFill>
              </a:rPr>
              <a:t>Needs</a:t>
            </a:r>
            <a:endParaRPr lang="en-US" sz="1400" dirty="0"/>
          </a:p>
          <a:p>
            <a:pPr marL="0" indent="0">
              <a:buNone/>
            </a:pPr>
            <a:r>
              <a:rPr lang="en-US" sz="1400" dirty="0">
                <a:solidFill>
                  <a:schemeClr val="tx1"/>
                </a:solidFill>
              </a:rPr>
              <a:t>Turn and surface classes, ML model output.</a:t>
            </a:r>
            <a:endParaRPr lang="en-US" sz="1400" dirty="0"/>
          </a:p>
        </p:txBody>
      </p:sp>
      <p:sp>
        <p:nvSpPr>
          <p:cNvPr id="7" name="Discipline Civil"/>
          <p:cNvSpPr/>
          <p:nvPr/>
        </p:nvSpPr>
        <p:spPr>
          <a:xfrm>
            <a:off x="3246120" y="1280160"/>
            <a:ext cx="2651760" cy="2743200"/>
          </a:xfrm>
          <a:prstGeom prst="roundRect">
            <a:avLst>
              <a:gd name="adj" fmla="val 2759"/>
            </a:avLst>
          </a:prstGeom>
          <a:solidFill>
            <a:schemeClr val="bg2"/>
          </a:solidFill>
          <a:ln/>
        </p:spPr>
      </p:sp>
      <p:sp>
        <p:nvSpPr>
          <p:cNvPr id="8" name="Text 6"/>
          <p:cNvSpPr txBox="1"/>
          <p:nvPr/>
        </p:nvSpPr>
        <p:spPr>
          <a:xfrm>
            <a:off x="3429000" y="1417320"/>
            <a:ext cx="2286000" cy="320040"/>
          </a:xfrm>
          <a:prstGeom prst="rect">
            <a:avLst/>
          </a:prstGeom>
          <a:noFill/>
          <a:ln/>
        </p:spPr>
        <p:txBody>
          <a:bodyPr wrap="square" lIns="0" tIns="0" rIns="0" bIns="0" rtlCol="0" anchor="t"/>
          <a:lstStyle/>
          <a:p>
            <a:pPr marL="0" indent="0">
              <a:buNone/>
            </a:pPr>
            <a:r>
              <a:rPr lang="en-US" sz="1800" b="1" dirty="0">
                <a:solidFill>
                  <a:schemeClr val="accent2"/>
                </a:solidFill>
              </a:rPr>
              <a:t>Civil</a:t>
            </a:r>
            <a:endParaRPr lang="en-US" sz="1800" dirty="0"/>
          </a:p>
        </p:txBody>
      </p:sp>
      <p:sp>
        <p:nvSpPr>
          <p:cNvPr id="9" name="Text 7"/>
          <p:cNvSpPr txBox="1"/>
          <p:nvPr/>
        </p:nvSpPr>
        <p:spPr>
          <a:xfrm>
            <a:off x="3429000" y="1874520"/>
            <a:ext cx="2286000" cy="2057400"/>
          </a:xfrm>
          <a:prstGeom prst="rect">
            <a:avLst/>
          </a:prstGeom>
          <a:noFill/>
          <a:ln/>
        </p:spPr>
        <p:txBody>
          <a:bodyPr wrap="square" lIns="0" tIns="0" rIns="0" bIns="0" rtlCol="0" anchor="t"/>
          <a:lstStyle/>
          <a:p>
            <a:pPr marL="0" indent="0">
              <a:buNone/>
            </a:pPr>
            <a:r>
              <a:rPr lang="en-US" sz="1400" b="1" dirty="0">
                <a:solidFill>
                  <a:schemeClr val="accent1"/>
                </a:solidFill>
              </a:rPr>
              <a:t>Provides</a:t>
            </a:r>
            <a:endParaRPr lang="en-US" sz="1400" dirty="0"/>
          </a:p>
          <a:p>
            <a:pPr marL="0" indent="0">
              <a:buNone/>
            </a:pPr>
            <a:r>
              <a:rPr lang="en-US" sz="1400" dirty="0">
                <a:solidFill>
                  <a:schemeClr val="tx1"/>
                </a:solidFill>
              </a:rPr>
              <a:t>Turn classes and geometry, friction values per surface.</a:t>
            </a:r>
            <a:endParaRPr lang="en-US" sz="1400" dirty="0"/>
          </a:p>
          <a:p>
            <a:pPr marL="0" indent="0">
              <a:buNone/>
            </a:pPr>
            <a:r>
              <a:rPr lang="en-US" sz="800" dirty="0">
                <a:solidFill>
                  <a:schemeClr val="tx1"/>
                </a:solidFill>
              </a:rPr>
              <a:t> </a:t>
            </a:r>
            <a:endParaRPr lang="en-US" sz="1400" dirty="0"/>
          </a:p>
          <a:p>
            <a:pPr marL="0" indent="0">
              <a:buNone/>
            </a:pPr>
            <a:r>
              <a:rPr lang="en-US" sz="1400" b="1" dirty="0">
                <a:solidFill>
                  <a:schemeClr val="accent1"/>
                </a:solidFill>
              </a:rPr>
              <a:t>Needs</a:t>
            </a:r>
            <a:endParaRPr lang="en-US" sz="1400" dirty="0"/>
          </a:p>
          <a:p>
            <a:pPr marL="0" indent="0">
              <a:buNone/>
            </a:pPr>
            <a:r>
              <a:rPr lang="en-US" sz="1400" dirty="0">
                <a:solidFill>
                  <a:schemeClr val="tx1"/>
                </a:solidFill>
              </a:rPr>
              <a:t>Speed and deceleration limits from the vehicle.</a:t>
            </a:r>
            <a:endParaRPr lang="en-US" sz="1400" dirty="0"/>
          </a:p>
        </p:txBody>
      </p:sp>
      <p:sp>
        <p:nvSpPr>
          <p:cNvPr id="10" name="Discipline AI/ML"/>
          <p:cNvSpPr/>
          <p:nvPr/>
        </p:nvSpPr>
        <p:spPr>
          <a:xfrm>
            <a:off x="6035040" y="1280160"/>
            <a:ext cx="2651760" cy="2743200"/>
          </a:xfrm>
          <a:prstGeom prst="roundRect">
            <a:avLst>
              <a:gd name="adj" fmla="val 2759"/>
            </a:avLst>
          </a:prstGeom>
          <a:solidFill>
            <a:schemeClr val="bg2"/>
          </a:solidFill>
          <a:ln/>
        </p:spPr>
      </p:sp>
      <p:sp>
        <p:nvSpPr>
          <p:cNvPr id="11" name="Text 9"/>
          <p:cNvSpPr txBox="1"/>
          <p:nvPr/>
        </p:nvSpPr>
        <p:spPr>
          <a:xfrm>
            <a:off x="6217920" y="1417320"/>
            <a:ext cx="2286000" cy="320040"/>
          </a:xfrm>
          <a:prstGeom prst="rect">
            <a:avLst/>
          </a:prstGeom>
          <a:noFill/>
          <a:ln/>
        </p:spPr>
        <p:txBody>
          <a:bodyPr wrap="square" lIns="0" tIns="0" rIns="0" bIns="0" rtlCol="0" anchor="t"/>
          <a:lstStyle/>
          <a:p>
            <a:pPr marL="0" indent="0">
              <a:buNone/>
            </a:pPr>
            <a:r>
              <a:rPr lang="en-US" sz="1800" b="1" dirty="0">
                <a:solidFill>
                  <a:schemeClr val="accent2"/>
                </a:solidFill>
              </a:rPr>
              <a:t>AI/ML</a:t>
            </a:r>
            <a:endParaRPr lang="en-US" sz="1800" dirty="0"/>
          </a:p>
        </p:txBody>
      </p:sp>
      <p:sp>
        <p:nvSpPr>
          <p:cNvPr id="12" name="Text 10"/>
          <p:cNvSpPr txBox="1"/>
          <p:nvPr/>
        </p:nvSpPr>
        <p:spPr>
          <a:xfrm>
            <a:off x="6217920" y="1874520"/>
            <a:ext cx="2286000" cy="2057400"/>
          </a:xfrm>
          <a:prstGeom prst="rect">
            <a:avLst/>
          </a:prstGeom>
          <a:noFill/>
          <a:ln/>
        </p:spPr>
        <p:txBody>
          <a:bodyPr wrap="square" lIns="0" tIns="0" rIns="0" bIns="0" rtlCol="0" anchor="t"/>
          <a:lstStyle/>
          <a:p>
            <a:pPr marL="0" indent="0">
              <a:buNone/>
            </a:pPr>
            <a:r>
              <a:rPr lang="en-US" sz="1400" b="1" dirty="0">
                <a:solidFill>
                  <a:schemeClr val="accent1"/>
                </a:solidFill>
              </a:rPr>
              <a:t>Provides</a:t>
            </a:r>
            <a:endParaRPr lang="en-US" sz="1400" dirty="0"/>
          </a:p>
          <a:p>
            <a:pPr marL="0" indent="0">
              <a:buNone/>
            </a:pPr>
            <a:r>
              <a:rPr lang="en-US" sz="1400" dirty="0">
                <a:solidFill>
                  <a:schemeClr val="tx1"/>
                </a:solidFill>
              </a:rPr>
              <a:t>A model that outputs the lift-off decision.</a:t>
            </a:r>
            <a:endParaRPr lang="en-US" sz="1400" dirty="0"/>
          </a:p>
          <a:p>
            <a:pPr marL="0" indent="0">
              <a:buNone/>
            </a:pPr>
            <a:r>
              <a:rPr lang="en-US" sz="800" dirty="0">
                <a:solidFill>
                  <a:schemeClr val="tx1"/>
                </a:solidFill>
              </a:rPr>
              <a:t> </a:t>
            </a:r>
            <a:endParaRPr lang="en-US" sz="1400" dirty="0"/>
          </a:p>
          <a:p>
            <a:pPr marL="0" indent="0">
              <a:buNone/>
            </a:pPr>
            <a:r>
              <a:rPr lang="en-US" sz="1400" b="1" dirty="0">
                <a:solidFill>
                  <a:schemeClr val="accent1"/>
                </a:solidFill>
              </a:rPr>
              <a:t>Needs</a:t>
            </a:r>
            <a:endParaRPr lang="en-US" sz="1400" dirty="0"/>
          </a:p>
          <a:p>
            <a:pPr marL="0" indent="0">
              <a:buNone/>
            </a:pPr>
            <a:r>
              <a:rPr lang="en-US" sz="1400" dirty="0">
                <a:solidFill>
                  <a:schemeClr val="tx1"/>
                </a:solidFill>
              </a:rPr>
              <a:t>Logged data in an agreed format, plus vehicle and road inputs.</a:t>
            </a:r>
            <a:endParaRPr lang="en-US" sz="1400" dirty="0"/>
          </a:p>
        </p:txBody>
      </p:sp>
      <p:sp>
        <p:nvSpPr>
          <p:cNvPr id="13" name="Text 11"/>
          <p:cNvSpPr txBox="1"/>
          <p:nvPr/>
        </p:nvSpPr>
        <p:spPr>
          <a:xfrm>
            <a:off x="457200" y="4206240"/>
            <a:ext cx="8229600" cy="274320"/>
          </a:xfrm>
          <a:prstGeom prst="rect">
            <a:avLst/>
          </a:prstGeom>
          <a:noFill/>
          <a:ln/>
        </p:spPr>
        <p:txBody>
          <a:bodyPr wrap="square" lIns="0" tIns="0" rIns="0" bIns="0" rtlCol="0" anchor="t"/>
          <a:lstStyle/>
          <a:p>
            <a:pPr marL="0" indent="0">
              <a:buNone/>
            </a:pPr>
            <a:r>
              <a:rPr lang="en-US" sz="1400" i="1" dirty="0">
                <a:solidFill>
                  <a:schemeClr val="tx2"/>
                </a:solidFill>
              </a:rPr>
              <a:t>Inputs and outputs must match at these interfaces.</a:t>
            </a:r>
            <a:endParaRPr lang="en-US" sz="14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3  LITERATURE SURVEY</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Closest prior art: Bakibillah et al.</a:t>
            </a:r>
            <a:endParaRPr lang="en-US" sz="2800" dirty="0"/>
          </a:p>
        </p:txBody>
      </p:sp>
      <p:sp>
        <p:nvSpPr>
          <p:cNvPr id="4" name="Row Problem"/>
          <p:cNvSpPr/>
          <p:nvPr/>
        </p:nvSpPr>
        <p:spPr>
          <a:xfrm>
            <a:off x="457200" y="1234440"/>
            <a:ext cx="8229600" cy="713232"/>
          </a:xfrm>
          <a:prstGeom prst="roundRect">
            <a:avLst>
              <a:gd name="adj" fmla="val 10256"/>
            </a:avLst>
          </a:prstGeom>
          <a:solidFill>
            <a:schemeClr val="bg2"/>
          </a:solidFill>
          <a:ln/>
        </p:spPr>
      </p:sp>
      <p:sp>
        <p:nvSpPr>
          <p:cNvPr id="5" name="Text 3"/>
          <p:cNvSpPr txBox="1"/>
          <p:nvPr/>
        </p:nvSpPr>
        <p:spPr>
          <a:xfrm>
            <a:off x="640080" y="1234440"/>
            <a:ext cx="1371600" cy="713232"/>
          </a:xfrm>
          <a:prstGeom prst="rect">
            <a:avLst/>
          </a:prstGeom>
          <a:noFill/>
          <a:ln/>
        </p:spPr>
        <p:txBody>
          <a:bodyPr wrap="square" lIns="0" tIns="0" rIns="0" bIns="0" rtlCol="0" anchor="ctr"/>
          <a:lstStyle/>
          <a:p>
            <a:pPr marL="0" indent="0">
              <a:buNone/>
            </a:pPr>
            <a:r>
              <a:rPr lang="en-US" sz="1400" b="1" dirty="0">
                <a:solidFill>
                  <a:schemeClr val="accent1"/>
                </a:solidFill>
              </a:rPr>
              <a:t>Problem</a:t>
            </a:r>
            <a:endParaRPr lang="en-US" sz="1400" dirty="0"/>
          </a:p>
        </p:txBody>
      </p:sp>
      <p:sp>
        <p:nvSpPr>
          <p:cNvPr id="6" name="Text 4"/>
          <p:cNvSpPr txBox="1"/>
          <p:nvPr/>
        </p:nvSpPr>
        <p:spPr>
          <a:xfrm>
            <a:off x="2103120" y="1234440"/>
            <a:ext cx="6400800" cy="713232"/>
          </a:xfrm>
          <a:prstGeom prst="rect">
            <a:avLst/>
          </a:prstGeom>
          <a:noFill/>
          <a:ln/>
        </p:spPr>
        <p:txBody>
          <a:bodyPr wrap="square" lIns="0" tIns="0" rIns="0" bIns="0" rtlCol="0" anchor="ctr"/>
          <a:lstStyle/>
          <a:p>
            <a:pPr marL="0" indent="0">
              <a:buNone/>
            </a:pPr>
            <a:r>
              <a:rPr lang="en-US" sz="1400" dirty="0">
                <a:solidFill>
                  <a:schemeClr val="tx1"/>
                </a:solidFill>
              </a:rPr>
              <a:t>Slowing for horizontal curves means braking and re-accelerating, raising fuel use and emissions. Existing eco-driving ignores the preceding vehicle and road surface (dry, wet, snow).</a:t>
            </a:r>
            <a:endParaRPr lang="en-US" sz="1400" dirty="0"/>
          </a:p>
        </p:txBody>
      </p:sp>
      <p:sp>
        <p:nvSpPr>
          <p:cNvPr id="7" name="Row Method"/>
          <p:cNvSpPr/>
          <p:nvPr/>
        </p:nvSpPr>
        <p:spPr>
          <a:xfrm>
            <a:off x="457200" y="2020824"/>
            <a:ext cx="8229600" cy="713232"/>
          </a:xfrm>
          <a:prstGeom prst="roundRect">
            <a:avLst>
              <a:gd name="adj" fmla="val 10256"/>
            </a:avLst>
          </a:prstGeom>
          <a:solidFill>
            <a:schemeClr val="bg2"/>
          </a:solidFill>
          <a:ln/>
        </p:spPr>
      </p:sp>
      <p:sp>
        <p:nvSpPr>
          <p:cNvPr id="8" name="Text 6"/>
          <p:cNvSpPr txBox="1"/>
          <p:nvPr/>
        </p:nvSpPr>
        <p:spPr>
          <a:xfrm>
            <a:off x="640080" y="2020824"/>
            <a:ext cx="1371600" cy="713232"/>
          </a:xfrm>
          <a:prstGeom prst="rect">
            <a:avLst/>
          </a:prstGeom>
          <a:noFill/>
          <a:ln/>
        </p:spPr>
        <p:txBody>
          <a:bodyPr wrap="square" lIns="0" tIns="0" rIns="0" bIns="0" rtlCol="0" anchor="ctr"/>
          <a:lstStyle/>
          <a:p>
            <a:pPr marL="0" indent="0">
              <a:buNone/>
            </a:pPr>
            <a:r>
              <a:rPr lang="en-US" sz="1400" b="1" dirty="0">
                <a:solidFill>
                  <a:schemeClr val="accent1"/>
                </a:solidFill>
              </a:rPr>
              <a:t>Method</a:t>
            </a:r>
            <a:endParaRPr lang="en-US" sz="1400" dirty="0"/>
          </a:p>
        </p:txBody>
      </p:sp>
      <p:sp>
        <p:nvSpPr>
          <p:cNvPr id="9" name="Text 7"/>
          <p:cNvSpPr txBox="1"/>
          <p:nvPr/>
        </p:nvSpPr>
        <p:spPr>
          <a:xfrm>
            <a:off x="2103120" y="2020824"/>
            <a:ext cx="6400800" cy="713232"/>
          </a:xfrm>
          <a:prstGeom prst="rect">
            <a:avLst/>
          </a:prstGeom>
          <a:noFill/>
          <a:ln/>
        </p:spPr>
        <p:txBody>
          <a:bodyPr wrap="square" lIns="0" tIns="0" rIns="0" bIns="0" rtlCol="0" anchor="ctr"/>
          <a:lstStyle/>
          <a:p>
            <a:pPr marL="0" indent="0">
              <a:buNone/>
            </a:pPr>
            <a:r>
              <a:rPr lang="en-US" sz="1400" dirty="0">
                <a:solidFill>
                  <a:schemeClr val="tx1"/>
                </a:solidFill>
              </a:rPr>
              <a:t>Nonlinear MPC computes the optimal speed from vehicle dynamics, the preceding vehicle's state, surface friction and curvature from GPS points.</a:t>
            </a:r>
            <a:endParaRPr lang="en-US" sz="1400" dirty="0"/>
          </a:p>
        </p:txBody>
      </p:sp>
      <p:sp>
        <p:nvSpPr>
          <p:cNvPr id="10" name="Row Limitation"/>
          <p:cNvSpPr/>
          <p:nvPr/>
        </p:nvSpPr>
        <p:spPr>
          <a:xfrm>
            <a:off x="457200" y="2807208"/>
            <a:ext cx="8229600" cy="713232"/>
          </a:xfrm>
          <a:prstGeom prst="roundRect">
            <a:avLst>
              <a:gd name="adj" fmla="val 10256"/>
            </a:avLst>
          </a:prstGeom>
          <a:solidFill>
            <a:schemeClr val="bg2"/>
          </a:solidFill>
          <a:ln/>
        </p:spPr>
      </p:sp>
      <p:sp>
        <p:nvSpPr>
          <p:cNvPr id="11" name="Text 9"/>
          <p:cNvSpPr txBox="1"/>
          <p:nvPr/>
        </p:nvSpPr>
        <p:spPr>
          <a:xfrm>
            <a:off x="640080" y="2807208"/>
            <a:ext cx="1371600" cy="713232"/>
          </a:xfrm>
          <a:prstGeom prst="rect">
            <a:avLst/>
          </a:prstGeom>
          <a:noFill/>
          <a:ln/>
        </p:spPr>
        <p:txBody>
          <a:bodyPr wrap="square" lIns="0" tIns="0" rIns="0" bIns="0" rtlCol="0" anchor="ctr"/>
          <a:lstStyle/>
          <a:p>
            <a:pPr marL="0" indent="0">
              <a:buNone/>
            </a:pPr>
            <a:r>
              <a:rPr lang="en-US" sz="1400" b="1" dirty="0">
                <a:solidFill>
                  <a:schemeClr val="accent1"/>
                </a:solidFill>
              </a:rPr>
              <a:t>Limitation</a:t>
            </a:r>
            <a:endParaRPr lang="en-US" sz="1400" dirty="0"/>
          </a:p>
        </p:txBody>
      </p:sp>
      <p:sp>
        <p:nvSpPr>
          <p:cNvPr id="12" name="Text 10"/>
          <p:cNvSpPr txBox="1"/>
          <p:nvPr/>
        </p:nvSpPr>
        <p:spPr>
          <a:xfrm>
            <a:off x="2103120" y="2807208"/>
            <a:ext cx="6400800" cy="713232"/>
          </a:xfrm>
          <a:prstGeom prst="rect">
            <a:avLst/>
          </a:prstGeom>
          <a:noFill/>
          <a:ln/>
        </p:spPr>
        <p:txBody>
          <a:bodyPr wrap="square" lIns="0" tIns="0" rIns="0" bIns="0" rtlCol="0" anchor="ctr"/>
          <a:lstStyle/>
          <a:p>
            <a:pPr marL="0" indent="0">
              <a:buNone/>
            </a:pPr>
            <a:r>
              <a:rPr lang="en-US" sz="1400" dirty="0">
                <a:solidFill>
                  <a:schemeClr val="tx1"/>
                </a:solidFill>
              </a:rPr>
              <a:t>Single-lane car-following only, with no lane changes or overtaking. Lateral dynamics ignored and road inclination assumed negligible.</a:t>
            </a:r>
            <a:endParaRPr lang="en-US" sz="1400" dirty="0"/>
          </a:p>
        </p:txBody>
      </p:sp>
      <p:sp>
        <p:nvSpPr>
          <p:cNvPr id="13" name="Row How ours differs"/>
          <p:cNvSpPr/>
          <p:nvPr/>
        </p:nvSpPr>
        <p:spPr>
          <a:xfrm>
            <a:off x="457200" y="3593592"/>
            <a:ext cx="8229600" cy="713232"/>
          </a:xfrm>
          <a:prstGeom prst="roundRect">
            <a:avLst>
              <a:gd name="adj" fmla="val 10256"/>
            </a:avLst>
          </a:prstGeom>
          <a:solidFill>
            <a:schemeClr val="bg2"/>
          </a:solidFill>
          <a:ln w="19050">
            <a:solidFill>
              <a:schemeClr val="accent2"/>
            </a:solidFill>
            <a:prstDash val="solid"/>
          </a:ln>
        </p:spPr>
      </p:sp>
      <p:sp>
        <p:nvSpPr>
          <p:cNvPr id="14" name="Text 12"/>
          <p:cNvSpPr txBox="1"/>
          <p:nvPr/>
        </p:nvSpPr>
        <p:spPr>
          <a:xfrm>
            <a:off x="640080" y="3593592"/>
            <a:ext cx="1371600" cy="713232"/>
          </a:xfrm>
          <a:prstGeom prst="rect">
            <a:avLst/>
          </a:prstGeom>
          <a:noFill/>
          <a:ln/>
        </p:spPr>
        <p:txBody>
          <a:bodyPr wrap="square" lIns="0" tIns="0" rIns="0" bIns="0" rtlCol="0" anchor="ctr"/>
          <a:lstStyle/>
          <a:p>
            <a:pPr marL="0" indent="0">
              <a:buNone/>
            </a:pPr>
            <a:r>
              <a:rPr lang="en-US" sz="1400" b="1" dirty="0">
                <a:solidFill>
                  <a:schemeClr val="accent2"/>
                </a:solidFill>
              </a:rPr>
              <a:t>How ours differs</a:t>
            </a:r>
            <a:endParaRPr lang="en-US" sz="1400" dirty="0"/>
          </a:p>
        </p:txBody>
      </p:sp>
      <p:sp>
        <p:nvSpPr>
          <p:cNvPr id="15" name="Text 13"/>
          <p:cNvSpPr txBox="1"/>
          <p:nvPr/>
        </p:nvSpPr>
        <p:spPr>
          <a:xfrm>
            <a:off x="2103120" y="3593592"/>
            <a:ext cx="6400800" cy="713232"/>
          </a:xfrm>
          <a:prstGeom prst="rect">
            <a:avLst/>
          </a:prstGeom>
          <a:noFill/>
          <a:ln/>
        </p:spPr>
        <p:txBody>
          <a:bodyPr wrap="square" lIns="0" tIns="0" rIns="0" bIns="0" rtlCol="0" anchor="ctr"/>
          <a:lstStyle/>
          <a:p>
            <a:pPr marL="0" indent="0">
              <a:buNone/>
            </a:pPr>
            <a:r>
              <a:rPr lang="en-US" sz="1400" dirty="0">
                <a:solidFill>
                  <a:schemeClr val="tx1"/>
                </a:solidFill>
              </a:rPr>
              <a:t>Learning-based, adapts to vehicle condition. Targets sharp junction turns with lift-and-coast replacing braking. Needs only GPS and map data, not the preceding vehicle's state.</a:t>
            </a:r>
            <a:endParaRPr lang="en-US" sz="1400" dirty="0"/>
          </a:p>
        </p:txBody>
      </p:sp>
      <p:sp>
        <p:nvSpPr>
          <p:cNvPr id="16" name="Text 14"/>
          <p:cNvSpPr txBox="1"/>
          <p:nvPr/>
        </p:nvSpPr>
        <p:spPr>
          <a:xfrm>
            <a:off x="457200" y="4434840"/>
            <a:ext cx="8229600" cy="274320"/>
          </a:xfrm>
          <a:prstGeom prst="rect">
            <a:avLst/>
          </a:prstGeom>
          <a:noFill/>
          <a:ln/>
        </p:spPr>
        <p:txBody>
          <a:bodyPr wrap="square" lIns="0" tIns="0" rIns="0" bIns="0" rtlCol="0" anchor="t"/>
          <a:lstStyle/>
          <a:p>
            <a:pPr marL="0" indent="0">
              <a:buNone/>
            </a:pPr>
            <a:r>
              <a:rPr lang="en-US" sz="1100" dirty="0">
                <a:solidFill>
                  <a:schemeClr val="tx2"/>
                </a:solidFill>
              </a:rPr>
              <a:t>[1] Bakibillah, Kamal, Tan, Hayakawa, Imura. Heliyon 2024;10:e23586 (Elsevier)</a:t>
            </a:r>
            <a:endParaRPr lang="en-US" sz="11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3  LITERATURE SURVEY</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Closest prior art: Heuts et al.</a:t>
            </a:r>
            <a:endParaRPr lang="en-US" sz="2800" dirty="0"/>
          </a:p>
        </p:txBody>
      </p:sp>
      <p:sp>
        <p:nvSpPr>
          <p:cNvPr id="4" name="Row Problem"/>
          <p:cNvSpPr/>
          <p:nvPr/>
        </p:nvSpPr>
        <p:spPr>
          <a:xfrm>
            <a:off x="457200" y="1234440"/>
            <a:ext cx="8229600" cy="713232"/>
          </a:xfrm>
          <a:prstGeom prst="roundRect">
            <a:avLst>
              <a:gd name="adj" fmla="val 10256"/>
            </a:avLst>
          </a:prstGeom>
          <a:solidFill>
            <a:schemeClr val="bg2"/>
          </a:solidFill>
          <a:ln/>
        </p:spPr>
      </p:sp>
      <p:sp>
        <p:nvSpPr>
          <p:cNvPr id="5" name="Text 3"/>
          <p:cNvSpPr txBox="1"/>
          <p:nvPr/>
        </p:nvSpPr>
        <p:spPr>
          <a:xfrm>
            <a:off x="640080" y="1234440"/>
            <a:ext cx="1371600" cy="713232"/>
          </a:xfrm>
          <a:prstGeom prst="rect">
            <a:avLst/>
          </a:prstGeom>
          <a:noFill/>
          <a:ln/>
        </p:spPr>
        <p:txBody>
          <a:bodyPr wrap="square" lIns="0" tIns="0" rIns="0" bIns="0" rtlCol="0" anchor="ctr"/>
          <a:lstStyle/>
          <a:p>
            <a:pPr marL="0" indent="0">
              <a:buNone/>
            </a:pPr>
            <a:r>
              <a:rPr lang="en-US" sz="1400" b="1" dirty="0">
                <a:solidFill>
                  <a:schemeClr val="accent1"/>
                </a:solidFill>
              </a:rPr>
              <a:t>Problem</a:t>
            </a:r>
            <a:endParaRPr lang="en-US" sz="1400" dirty="0"/>
          </a:p>
        </p:txBody>
      </p:sp>
      <p:sp>
        <p:nvSpPr>
          <p:cNvPr id="6" name="Text 4"/>
          <p:cNvSpPr txBox="1"/>
          <p:nvPr/>
        </p:nvSpPr>
        <p:spPr>
          <a:xfrm>
            <a:off x="2103120" y="1234440"/>
            <a:ext cx="6400800" cy="713232"/>
          </a:xfrm>
          <a:prstGeom prst="rect">
            <a:avLst/>
          </a:prstGeom>
          <a:noFill/>
          <a:ln/>
        </p:spPr>
        <p:txBody>
          <a:bodyPr wrap="square" lIns="0" tIns="0" rIns="0" bIns="0" rtlCol="0" anchor="ctr"/>
          <a:lstStyle/>
          <a:p>
            <a:pPr marL="0" indent="0">
              <a:buNone/>
            </a:pPr>
            <a:r>
              <a:rPr lang="en-US" sz="1400" dirty="0">
                <a:solidFill>
                  <a:schemeClr val="tx1"/>
                </a:solidFill>
              </a:rPr>
              <a:t>Eco-driving advice ignores road curvature and cornering energy losses, giving dangerously high corner speeds and inaccurate energy estimates.</a:t>
            </a:r>
            <a:endParaRPr lang="en-US" sz="1400" dirty="0"/>
          </a:p>
        </p:txBody>
      </p:sp>
      <p:sp>
        <p:nvSpPr>
          <p:cNvPr id="7" name="Row Method"/>
          <p:cNvSpPr/>
          <p:nvPr/>
        </p:nvSpPr>
        <p:spPr>
          <a:xfrm>
            <a:off x="457200" y="2020824"/>
            <a:ext cx="8229600" cy="713232"/>
          </a:xfrm>
          <a:prstGeom prst="roundRect">
            <a:avLst>
              <a:gd name="adj" fmla="val 10256"/>
            </a:avLst>
          </a:prstGeom>
          <a:solidFill>
            <a:schemeClr val="bg2"/>
          </a:solidFill>
          <a:ln/>
        </p:spPr>
      </p:sp>
      <p:sp>
        <p:nvSpPr>
          <p:cNvPr id="8" name="Text 6"/>
          <p:cNvSpPr txBox="1"/>
          <p:nvPr/>
        </p:nvSpPr>
        <p:spPr>
          <a:xfrm>
            <a:off x="640080" y="2020824"/>
            <a:ext cx="1371600" cy="713232"/>
          </a:xfrm>
          <a:prstGeom prst="rect">
            <a:avLst/>
          </a:prstGeom>
          <a:noFill/>
          <a:ln/>
        </p:spPr>
        <p:txBody>
          <a:bodyPr wrap="square" lIns="0" tIns="0" rIns="0" bIns="0" rtlCol="0" anchor="ctr"/>
          <a:lstStyle/>
          <a:p>
            <a:pPr marL="0" indent="0">
              <a:buNone/>
            </a:pPr>
            <a:r>
              <a:rPr lang="en-US" sz="1400" b="1" dirty="0">
                <a:solidFill>
                  <a:schemeClr val="accent1"/>
                </a:solidFill>
              </a:rPr>
              <a:t>Method</a:t>
            </a:r>
            <a:endParaRPr lang="en-US" sz="1400" dirty="0"/>
          </a:p>
        </p:txBody>
      </p:sp>
      <p:sp>
        <p:nvSpPr>
          <p:cNvPr id="9" name="Text 7"/>
          <p:cNvSpPr txBox="1"/>
          <p:nvPr/>
        </p:nvSpPr>
        <p:spPr>
          <a:xfrm>
            <a:off x="2103120" y="2020824"/>
            <a:ext cx="6400800" cy="713232"/>
          </a:xfrm>
          <a:prstGeom prst="rect">
            <a:avLst/>
          </a:prstGeom>
          <a:noFill/>
          <a:ln/>
        </p:spPr>
        <p:txBody>
          <a:bodyPr wrap="square" lIns="0" tIns="0" rIns="0" bIns="0" rtlCol="0" anchor="ctr"/>
          <a:lstStyle/>
          <a:p>
            <a:pPr marL="0" indent="0">
              <a:buNone/>
            </a:pPr>
            <a:r>
              <a:rPr lang="en-US" sz="1400" dirty="0">
                <a:solidFill>
                  <a:schemeClr val="tx1"/>
                </a:solidFill>
              </a:rPr>
              <a:t>A cornering loss model inside a convex optimal control problem, solved in the spatial domain. Curvature is estimated from GPS data using osculating circles.</a:t>
            </a:r>
            <a:endParaRPr lang="en-US" sz="1400" dirty="0"/>
          </a:p>
        </p:txBody>
      </p:sp>
      <p:sp>
        <p:nvSpPr>
          <p:cNvPr id="10" name="Row Limitation"/>
          <p:cNvSpPr/>
          <p:nvPr/>
        </p:nvSpPr>
        <p:spPr>
          <a:xfrm>
            <a:off x="457200" y="2807208"/>
            <a:ext cx="8229600" cy="713232"/>
          </a:xfrm>
          <a:prstGeom prst="roundRect">
            <a:avLst>
              <a:gd name="adj" fmla="val 10256"/>
            </a:avLst>
          </a:prstGeom>
          <a:solidFill>
            <a:schemeClr val="bg2"/>
          </a:solidFill>
          <a:ln/>
        </p:spPr>
      </p:sp>
      <p:sp>
        <p:nvSpPr>
          <p:cNvPr id="11" name="Text 9"/>
          <p:cNvSpPr txBox="1"/>
          <p:nvPr/>
        </p:nvSpPr>
        <p:spPr>
          <a:xfrm>
            <a:off x="640080" y="2807208"/>
            <a:ext cx="1371600" cy="713232"/>
          </a:xfrm>
          <a:prstGeom prst="rect">
            <a:avLst/>
          </a:prstGeom>
          <a:noFill/>
          <a:ln/>
        </p:spPr>
        <p:txBody>
          <a:bodyPr wrap="square" lIns="0" tIns="0" rIns="0" bIns="0" rtlCol="0" anchor="ctr"/>
          <a:lstStyle/>
          <a:p>
            <a:pPr marL="0" indent="0">
              <a:buNone/>
            </a:pPr>
            <a:r>
              <a:rPr lang="en-US" sz="1400" b="1" dirty="0">
                <a:solidFill>
                  <a:schemeClr val="accent1"/>
                </a:solidFill>
              </a:rPr>
              <a:t>Limitation</a:t>
            </a:r>
            <a:endParaRPr lang="en-US" sz="1400" dirty="0"/>
          </a:p>
        </p:txBody>
      </p:sp>
      <p:sp>
        <p:nvSpPr>
          <p:cNvPr id="12" name="Text 10"/>
          <p:cNvSpPr txBox="1"/>
          <p:nvPr/>
        </p:nvSpPr>
        <p:spPr>
          <a:xfrm>
            <a:off x="2103120" y="2807208"/>
            <a:ext cx="6400800" cy="713232"/>
          </a:xfrm>
          <a:prstGeom prst="rect">
            <a:avLst/>
          </a:prstGeom>
          <a:noFill/>
          <a:ln/>
        </p:spPr>
        <p:txBody>
          <a:bodyPr wrap="square" lIns="0" tIns="0" rIns="0" bIns="0" rtlCol="0" anchor="ctr"/>
          <a:lstStyle/>
          <a:p>
            <a:pPr marL="0" indent="0">
              <a:buNone/>
            </a:pPr>
            <a:r>
              <a:rPr lang="en-US" sz="1400" dirty="0">
                <a:solidFill>
                  <a:schemeClr val="tx1"/>
                </a:solidFill>
              </a:rPr>
              <a:t>Single-vehicle control, with no other vehicles, pedestrians or signals. Relies on static manufacturer vehicle parameters, which causes errors in long-term energy predictions.</a:t>
            </a:r>
            <a:endParaRPr lang="en-US" sz="1400" dirty="0"/>
          </a:p>
        </p:txBody>
      </p:sp>
      <p:sp>
        <p:nvSpPr>
          <p:cNvPr id="13" name="Row How ours differs"/>
          <p:cNvSpPr/>
          <p:nvPr/>
        </p:nvSpPr>
        <p:spPr>
          <a:xfrm>
            <a:off x="457200" y="3593592"/>
            <a:ext cx="8229600" cy="713232"/>
          </a:xfrm>
          <a:prstGeom prst="roundRect">
            <a:avLst>
              <a:gd name="adj" fmla="val 10256"/>
            </a:avLst>
          </a:prstGeom>
          <a:solidFill>
            <a:schemeClr val="bg2"/>
          </a:solidFill>
          <a:ln w="19050">
            <a:solidFill>
              <a:schemeClr val="accent2"/>
            </a:solidFill>
            <a:prstDash val="solid"/>
          </a:ln>
        </p:spPr>
      </p:sp>
      <p:sp>
        <p:nvSpPr>
          <p:cNvPr id="14" name="Text 12"/>
          <p:cNvSpPr txBox="1"/>
          <p:nvPr/>
        </p:nvSpPr>
        <p:spPr>
          <a:xfrm>
            <a:off x="640080" y="3593592"/>
            <a:ext cx="1371600" cy="713232"/>
          </a:xfrm>
          <a:prstGeom prst="rect">
            <a:avLst/>
          </a:prstGeom>
          <a:noFill/>
          <a:ln/>
        </p:spPr>
        <p:txBody>
          <a:bodyPr wrap="square" lIns="0" tIns="0" rIns="0" bIns="0" rtlCol="0" anchor="ctr"/>
          <a:lstStyle/>
          <a:p>
            <a:pPr marL="0" indent="0">
              <a:buNone/>
            </a:pPr>
            <a:r>
              <a:rPr lang="en-US" sz="1400" b="1" dirty="0">
                <a:solidFill>
                  <a:schemeClr val="accent2"/>
                </a:solidFill>
              </a:rPr>
              <a:t>How ours differs</a:t>
            </a:r>
            <a:endParaRPr lang="en-US" sz="1400" dirty="0"/>
          </a:p>
        </p:txBody>
      </p:sp>
      <p:sp>
        <p:nvSpPr>
          <p:cNvPr id="15" name="Text 13"/>
          <p:cNvSpPr txBox="1"/>
          <p:nvPr/>
        </p:nvSpPr>
        <p:spPr>
          <a:xfrm>
            <a:off x="2103120" y="3593592"/>
            <a:ext cx="6400800" cy="713232"/>
          </a:xfrm>
          <a:prstGeom prst="rect">
            <a:avLst/>
          </a:prstGeom>
          <a:noFill/>
          <a:ln/>
        </p:spPr>
        <p:txBody>
          <a:bodyPr wrap="square" lIns="0" tIns="0" rIns="0" bIns="0" rtlCol="0" anchor="ctr"/>
          <a:lstStyle/>
          <a:p>
            <a:pPr marL="0" indent="0">
              <a:buNone/>
            </a:pPr>
            <a:r>
              <a:rPr lang="en-US" sz="1400" dirty="0">
                <a:solidFill>
                  <a:schemeClr val="tx1"/>
                </a:solidFill>
              </a:rPr>
              <a:t>Petrol vehicle using lift-and-coast. Learns the vehicle's actual behaviour instead of fixed datasheet values. Targets sharp junction turns, not gradual curvature.</a:t>
            </a:r>
            <a:endParaRPr lang="en-US" sz="1400" dirty="0"/>
          </a:p>
        </p:txBody>
      </p:sp>
      <p:sp>
        <p:nvSpPr>
          <p:cNvPr id="16" name="Text 14"/>
          <p:cNvSpPr txBox="1"/>
          <p:nvPr/>
        </p:nvSpPr>
        <p:spPr>
          <a:xfrm>
            <a:off x="457200" y="4434840"/>
            <a:ext cx="8229600" cy="274320"/>
          </a:xfrm>
          <a:prstGeom prst="rect">
            <a:avLst/>
          </a:prstGeom>
          <a:noFill/>
          <a:ln/>
        </p:spPr>
        <p:txBody>
          <a:bodyPr wrap="square" lIns="0" tIns="0" rIns="0" bIns="0" rtlCol="0" anchor="t"/>
          <a:lstStyle/>
          <a:p>
            <a:pPr marL="0" indent="0">
              <a:buNone/>
            </a:pPr>
            <a:r>
              <a:rPr lang="en-US" sz="1100" dirty="0">
                <a:solidFill>
                  <a:schemeClr val="tx2"/>
                </a:solidFill>
              </a:rPr>
              <a:t>[2] Heuts, Velpari, Donkers. Energy 2025;334:137526 (Elsevier)</a:t>
            </a:r>
            <a:endParaRPr lang="en-US" sz="11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3  LITERATURE SURVEY</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Shared limits and our difference</a:t>
            </a:r>
            <a:endParaRPr lang="en-US" sz="2800" dirty="0"/>
          </a:p>
        </p:txBody>
      </p:sp>
      <p:sp>
        <p:nvSpPr>
          <p:cNvPr id="4" name="Text 2"/>
          <p:cNvSpPr txBox="1"/>
          <p:nvPr/>
        </p:nvSpPr>
        <p:spPr>
          <a:xfrm>
            <a:off x="457200" y="1234440"/>
            <a:ext cx="3840480" cy="274320"/>
          </a:xfrm>
          <a:prstGeom prst="rect">
            <a:avLst/>
          </a:prstGeom>
          <a:noFill/>
          <a:ln/>
        </p:spPr>
        <p:txBody>
          <a:bodyPr wrap="square" lIns="0" tIns="0" rIns="0" bIns="0" rtlCol="0" anchor="t"/>
          <a:lstStyle/>
          <a:p>
            <a:pPr marL="0" indent="0">
              <a:buNone/>
            </a:pPr>
            <a:r>
              <a:rPr lang="en-US" sz="1400" b="1" dirty="0">
                <a:solidFill>
                  <a:schemeClr val="tx2"/>
                </a:solidFill>
              </a:rPr>
              <a:t>Both papers</a:t>
            </a:r>
            <a:endParaRPr lang="en-US" sz="1400" dirty="0"/>
          </a:p>
        </p:txBody>
      </p:sp>
      <p:sp>
        <p:nvSpPr>
          <p:cNvPr id="5" name="Text 3"/>
          <p:cNvSpPr txBox="1"/>
          <p:nvPr/>
        </p:nvSpPr>
        <p:spPr>
          <a:xfrm>
            <a:off x="4846320" y="1234440"/>
            <a:ext cx="3840480" cy="274320"/>
          </a:xfrm>
          <a:prstGeom prst="rect">
            <a:avLst/>
          </a:prstGeom>
          <a:noFill/>
          <a:ln/>
        </p:spPr>
        <p:txBody>
          <a:bodyPr wrap="square" lIns="0" tIns="0" rIns="0" bIns="0" rtlCol="0" anchor="t"/>
          <a:lstStyle/>
          <a:p>
            <a:pPr marL="0" indent="0">
              <a:buNone/>
            </a:pPr>
            <a:r>
              <a:rPr lang="en-US" sz="1400" b="1" dirty="0">
                <a:solidFill>
                  <a:schemeClr val="accent2"/>
                </a:solidFill>
              </a:rPr>
              <a:t>ALiCoFSS</a:t>
            </a:r>
            <a:endParaRPr lang="en-US" sz="1400" dirty="0"/>
          </a:p>
        </p:txBody>
      </p:sp>
      <p:sp>
        <p:nvSpPr>
          <p:cNvPr id="6" name="Existing 1"/>
          <p:cNvSpPr/>
          <p:nvPr/>
        </p:nvSpPr>
        <p:spPr>
          <a:xfrm>
            <a:off x="457200" y="1600200"/>
            <a:ext cx="3840480" cy="621792"/>
          </a:xfrm>
          <a:prstGeom prst="roundRect">
            <a:avLst>
              <a:gd name="adj" fmla="val 11765"/>
            </a:avLst>
          </a:prstGeom>
          <a:solidFill>
            <a:schemeClr val="bg2"/>
          </a:solidFill>
          <a:ln/>
        </p:spPr>
      </p:sp>
      <p:sp>
        <p:nvSpPr>
          <p:cNvPr id="7" name="Text 5"/>
          <p:cNvSpPr txBox="1"/>
          <p:nvPr/>
        </p:nvSpPr>
        <p:spPr>
          <a:xfrm>
            <a:off x="640080" y="1600200"/>
            <a:ext cx="3474720" cy="621792"/>
          </a:xfrm>
          <a:prstGeom prst="rect">
            <a:avLst/>
          </a:prstGeom>
          <a:noFill/>
          <a:ln/>
        </p:spPr>
        <p:txBody>
          <a:bodyPr wrap="square" lIns="0" tIns="0" rIns="0" bIns="0" rtlCol="0" anchor="ctr"/>
          <a:lstStyle/>
          <a:p>
            <a:pPr marL="0" indent="0">
              <a:buNone/>
            </a:pPr>
            <a:r>
              <a:rPr lang="en-US" sz="1400" dirty="0">
                <a:solidFill>
                  <a:schemeClr val="tx1"/>
                </a:solidFill>
              </a:rPr>
              <a:t>Model-based: nonlinear MPC or convex optimisation</a:t>
            </a:r>
            <a:endParaRPr lang="en-US" sz="1400" dirty="0"/>
          </a:p>
        </p:txBody>
      </p:sp>
      <p:sp>
        <p:nvSpPr>
          <p:cNvPr id="8" name="Arrow 1"/>
          <p:cNvSpPr/>
          <p:nvPr/>
        </p:nvSpPr>
        <p:spPr>
          <a:xfrm>
            <a:off x="4370832" y="1911096"/>
            <a:ext cx="402336" cy="0"/>
          </a:xfrm>
          <a:prstGeom prst="line">
            <a:avLst/>
          </a:prstGeom>
          <a:noFill/>
          <a:ln w="19050">
            <a:solidFill>
              <a:schemeClr val="tx2"/>
            </a:solidFill>
            <a:prstDash val="solid"/>
            <a:tailEnd type="triangle"/>
          </a:ln>
        </p:spPr>
      </p:sp>
      <p:sp>
        <p:nvSpPr>
          <p:cNvPr id="9" name="Ours 1"/>
          <p:cNvSpPr/>
          <p:nvPr/>
        </p:nvSpPr>
        <p:spPr>
          <a:xfrm>
            <a:off x="4846320" y="1600200"/>
            <a:ext cx="3840480" cy="621792"/>
          </a:xfrm>
          <a:prstGeom prst="roundRect">
            <a:avLst>
              <a:gd name="adj" fmla="val 11765"/>
            </a:avLst>
          </a:prstGeom>
          <a:solidFill>
            <a:schemeClr val="bg2"/>
          </a:solidFill>
          <a:ln w="19050">
            <a:solidFill>
              <a:schemeClr val="accent2"/>
            </a:solidFill>
            <a:prstDash val="solid"/>
          </a:ln>
        </p:spPr>
      </p:sp>
      <p:sp>
        <p:nvSpPr>
          <p:cNvPr id="10" name="Text 8"/>
          <p:cNvSpPr txBox="1"/>
          <p:nvPr/>
        </p:nvSpPr>
        <p:spPr>
          <a:xfrm>
            <a:off x="5029200" y="1600200"/>
            <a:ext cx="3474720" cy="621792"/>
          </a:xfrm>
          <a:prstGeom prst="rect">
            <a:avLst/>
          </a:prstGeom>
          <a:noFill/>
          <a:ln/>
        </p:spPr>
        <p:txBody>
          <a:bodyPr wrap="square" lIns="0" tIns="0" rIns="0" bIns="0" rtlCol="0" anchor="ctr"/>
          <a:lstStyle/>
          <a:p>
            <a:pPr marL="0" indent="0">
              <a:buNone/>
            </a:pPr>
            <a:r>
              <a:rPr lang="en-US" sz="1400" dirty="0">
                <a:solidFill>
                  <a:schemeClr val="tx1"/>
                </a:solidFill>
              </a:rPr>
              <a:t>Learning-based model that adapts</a:t>
            </a:r>
            <a:endParaRPr lang="en-US" sz="1400" dirty="0"/>
          </a:p>
        </p:txBody>
      </p:sp>
      <p:sp>
        <p:nvSpPr>
          <p:cNvPr id="11" name="Existing 2"/>
          <p:cNvSpPr/>
          <p:nvPr/>
        </p:nvSpPr>
        <p:spPr>
          <a:xfrm>
            <a:off x="457200" y="2331720"/>
            <a:ext cx="3840480" cy="621792"/>
          </a:xfrm>
          <a:prstGeom prst="roundRect">
            <a:avLst>
              <a:gd name="adj" fmla="val 11765"/>
            </a:avLst>
          </a:prstGeom>
          <a:solidFill>
            <a:schemeClr val="bg2"/>
          </a:solidFill>
          <a:ln/>
        </p:spPr>
      </p:sp>
      <p:sp>
        <p:nvSpPr>
          <p:cNvPr id="12" name="Text 10"/>
          <p:cNvSpPr txBox="1"/>
          <p:nvPr/>
        </p:nvSpPr>
        <p:spPr>
          <a:xfrm>
            <a:off x="640080" y="2331720"/>
            <a:ext cx="3474720" cy="621792"/>
          </a:xfrm>
          <a:prstGeom prst="rect">
            <a:avLst/>
          </a:prstGeom>
          <a:noFill/>
          <a:ln/>
        </p:spPr>
        <p:txBody>
          <a:bodyPr wrap="square" lIns="0" tIns="0" rIns="0" bIns="0" rtlCol="0" anchor="ctr"/>
          <a:lstStyle/>
          <a:p>
            <a:pPr marL="0" indent="0">
              <a:buNone/>
            </a:pPr>
            <a:r>
              <a:rPr lang="en-US" sz="1400" dirty="0">
                <a:solidFill>
                  <a:schemeClr val="tx1"/>
                </a:solidFill>
              </a:rPr>
              <a:t>Fixed vehicle parameters</a:t>
            </a:r>
            <a:endParaRPr lang="en-US" sz="1400" dirty="0"/>
          </a:p>
        </p:txBody>
      </p:sp>
      <p:sp>
        <p:nvSpPr>
          <p:cNvPr id="13" name="Arrow 2"/>
          <p:cNvSpPr/>
          <p:nvPr/>
        </p:nvSpPr>
        <p:spPr>
          <a:xfrm>
            <a:off x="4370832" y="2642616"/>
            <a:ext cx="402336" cy="0"/>
          </a:xfrm>
          <a:prstGeom prst="line">
            <a:avLst/>
          </a:prstGeom>
          <a:noFill/>
          <a:ln w="19050">
            <a:solidFill>
              <a:schemeClr val="tx2"/>
            </a:solidFill>
            <a:prstDash val="solid"/>
            <a:tailEnd type="triangle"/>
          </a:ln>
        </p:spPr>
      </p:sp>
      <p:sp>
        <p:nvSpPr>
          <p:cNvPr id="14" name="Ours 2"/>
          <p:cNvSpPr/>
          <p:nvPr/>
        </p:nvSpPr>
        <p:spPr>
          <a:xfrm>
            <a:off x="4846320" y="2331720"/>
            <a:ext cx="3840480" cy="621792"/>
          </a:xfrm>
          <a:prstGeom prst="roundRect">
            <a:avLst>
              <a:gd name="adj" fmla="val 11765"/>
            </a:avLst>
          </a:prstGeom>
          <a:solidFill>
            <a:schemeClr val="bg2"/>
          </a:solidFill>
          <a:ln w="19050">
            <a:solidFill>
              <a:schemeClr val="accent2"/>
            </a:solidFill>
            <a:prstDash val="solid"/>
          </a:ln>
        </p:spPr>
      </p:sp>
      <p:sp>
        <p:nvSpPr>
          <p:cNvPr id="15" name="Text 13"/>
          <p:cNvSpPr txBox="1"/>
          <p:nvPr/>
        </p:nvSpPr>
        <p:spPr>
          <a:xfrm>
            <a:off x="5029200" y="2331720"/>
            <a:ext cx="3474720" cy="621792"/>
          </a:xfrm>
          <a:prstGeom prst="rect">
            <a:avLst/>
          </a:prstGeom>
          <a:noFill/>
          <a:ln/>
        </p:spPr>
        <p:txBody>
          <a:bodyPr wrap="square" lIns="0" tIns="0" rIns="0" bIns="0" rtlCol="0" anchor="ctr"/>
          <a:lstStyle/>
          <a:p>
            <a:pPr marL="0" indent="0">
              <a:buNone/>
            </a:pPr>
            <a:r>
              <a:rPr lang="en-US" sz="1400" dirty="0">
                <a:solidFill>
                  <a:schemeClr val="tx1"/>
                </a:solidFill>
              </a:rPr>
              <a:t>Adapts to vehicle condition</a:t>
            </a:r>
            <a:endParaRPr lang="en-US" sz="1400" dirty="0"/>
          </a:p>
        </p:txBody>
      </p:sp>
      <p:sp>
        <p:nvSpPr>
          <p:cNvPr id="16" name="Existing 3"/>
          <p:cNvSpPr/>
          <p:nvPr/>
        </p:nvSpPr>
        <p:spPr>
          <a:xfrm>
            <a:off x="457200" y="3063240"/>
            <a:ext cx="3840480" cy="621792"/>
          </a:xfrm>
          <a:prstGeom prst="roundRect">
            <a:avLst>
              <a:gd name="adj" fmla="val 11765"/>
            </a:avLst>
          </a:prstGeom>
          <a:solidFill>
            <a:schemeClr val="bg2"/>
          </a:solidFill>
          <a:ln/>
        </p:spPr>
      </p:sp>
      <p:sp>
        <p:nvSpPr>
          <p:cNvPr id="17" name="Text 15"/>
          <p:cNvSpPr txBox="1"/>
          <p:nvPr/>
        </p:nvSpPr>
        <p:spPr>
          <a:xfrm>
            <a:off x="640080" y="3063240"/>
            <a:ext cx="3474720" cy="621792"/>
          </a:xfrm>
          <a:prstGeom prst="rect">
            <a:avLst/>
          </a:prstGeom>
          <a:noFill/>
          <a:ln/>
        </p:spPr>
        <p:txBody>
          <a:bodyPr wrap="square" lIns="0" tIns="0" rIns="0" bIns="0" rtlCol="0" anchor="ctr"/>
          <a:lstStyle/>
          <a:p>
            <a:pPr marL="0" indent="0">
              <a:buNone/>
            </a:pPr>
            <a:r>
              <a:rPr lang="en-US" sz="1400" dirty="0">
                <a:solidFill>
                  <a:schemeClr val="tx1"/>
                </a:solidFill>
              </a:rPr>
              <a:t>Gradual road curvature</a:t>
            </a:r>
            <a:endParaRPr lang="en-US" sz="1400" dirty="0"/>
          </a:p>
        </p:txBody>
      </p:sp>
      <p:sp>
        <p:nvSpPr>
          <p:cNvPr id="18" name="Arrow 3"/>
          <p:cNvSpPr/>
          <p:nvPr/>
        </p:nvSpPr>
        <p:spPr>
          <a:xfrm>
            <a:off x="4370832" y="3374136"/>
            <a:ext cx="402336" cy="0"/>
          </a:xfrm>
          <a:prstGeom prst="line">
            <a:avLst/>
          </a:prstGeom>
          <a:noFill/>
          <a:ln w="19050">
            <a:solidFill>
              <a:schemeClr val="tx2"/>
            </a:solidFill>
            <a:prstDash val="solid"/>
            <a:tailEnd type="triangle"/>
          </a:ln>
        </p:spPr>
      </p:sp>
      <p:sp>
        <p:nvSpPr>
          <p:cNvPr id="19" name="Ours 3"/>
          <p:cNvSpPr/>
          <p:nvPr/>
        </p:nvSpPr>
        <p:spPr>
          <a:xfrm>
            <a:off x="4846320" y="3063240"/>
            <a:ext cx="3840480" cy="621792"/>
          </a:xfrm>
          <a:prstGeom prst="roundRect">
            <a:avLst>
              <a:gd name="adj" fmla="val 11765"/>
            </a:avLst>
          </a:prstGeom>
          <a:solidFill>
            <a:schemeClr val="bg2"/>
          </a:solidFill>
          <a:ln w="19050">
            <a:solidFill>
              <a:schemeClr val="accent2"/>
            </a:solidFill>
            <a:prstDash val="solid"/>
          </a:ln>
        </p:spPr>
      </p:sp>
      <p:sp>
        <p:nvSpPr>
          <p:cNvPr id="20" name="Text 18"/>
          <p:cNvSpPr txBox="1"/>
          <p:nvPr/>
        </p:nvSpPr>
        <p:spPr>
          <a:xfrm>
            <a:off x="5029200" y="3063240"/>
            <a:ext cx="3474720" cy="621792"/>
          </a:xfrm>
          <a:prstGeom prst="rect">
            <a:avLst/>
          </a:prstGeom>
          <a:noFill/>
          <a:ln/>
        </p:spPr>
        <p:txBody>
          <a:bodyPr wrap="square" lIns="0" tIns="0" rIns="0" bIns="0" rtlCol="0" anchor="ctr"/>
          <a:lstStyle/>
          <a:p>
            <a:pPr marL="0" indent="0">
              <a:buNone/>
            </a:pPr>
            <a:r>
              <a:rPr lang="en-US" sz="1400" dirty="0">
                <a:solidFill>
                  <a:schemeClr val="tx1"/>
                </a:solidFill>
              </a:rPr>
              <a:t>Sharp junction turns</a:t>
            </a:r>
            <a:endParaRPr lang="en-US" sz="1400" dirty="0"/>
          </a:p>
        </p:txBody>
      </p:sp>
      <p:sp>
        <p:nvSpPr>
          <p:cNvPr id="21" name="Existing 4"/>
          <p:cNvSpPr/>
          <p:nvPr/>
        </p:nvSpPr>
        <p:spPr>
          <a:xfrm>
            <a:off x="457200" y="3794760"/>
            <a:ext cx="3840480" cy="621792"/>
          </a:xfrm>
          <a:prstGeom prst="roundRect">
            <a:avLst>
              <a:gd name="adj" fmla="val 11765"/>
            </a:avLst>
          </a:prstGeom>
          <a:solidFill>
            <a:schemeClr val="bg2"/>
          </a:solidFill>
          <a:ln/>
        </p:spPr>
      </p:sp>
      <p:sp>
        <p:nvSpPr>
          <p:cNvPr id="22" name="Text 20"/>
          <p:cNvSpPr txBox="1"/>
          <p:nvPr/>
        </p:nvSpPr>
        <p:spPr>
          <a:xfrm>
            <a:off x="640080" y="3794760"/>
            <a:ext cx="3474720" cy="621792"/>
          </a:xfrm>
          <a:prstGeom prst="rect">
            <a:avLst/>
          </a:prstGeom>
          <a:noFill/>
          <a:ln/>
        </p:spPr>
        <p:txBody>
          <a:bodyPr wrap="square" lIns="0" tIns="0" rIns="0" bIns="0" rtlCol="0" anchor="ctr"/>
          <a:lstStyle/>
          <a:p>
            <a:pPr marL="0" indent="0">
              <a:buNone/>
            </a:pPr>
            <a:r>
              <a:rPr lang="en-US" sz="1400" dirty="0">
                <a:solidFill>
                  <a:schemeClr val="tx1"/>
                </a:solidFill>
              </a:rPr>
              <a:t>Heliyon paper only: needs the preceding vehicle's state</a:t>
            </a:r>
            <a:endParaRPr lang="en-US" sz="1400" dirty="0"/>
          </a:p>
        </p:txBody>
      </p:sp>
      <p:sp>
        <p:nvSpPr>
          <p:cNvPr id="23" name="Arrow 4"/>
          <p:cNvSpPr/>
          <p:nvPr/>
        </p:nvSpPr>
        <p:spPr>
          <a:xfrm>
            <a:off x="4370832" y="4105656"/>
            <a:ext cx="402336" cy="0"/>
          </a:xfrm>
          <a:prstGeom prst="line">
            <a:avLst/>
          </a:prstGeom>
          <a:noFill/>
          <a:ln w="19050">
            <a:solidFill>
              <a:schemeClr val="tx2"/>
            </a:solidFill>
            <a:prstDash val="solid"/>
            <a:tailEnd type="triangle"/>
          </a:ln>
        </p:spPr>
      </p:sp>
      <p:sp>
        <p:nvSpPr>
          <p:cNvPr id="24" name="Ours 4"/>
          <p:cNvSpPr/>
          <p:nvPr/>
        </p:nvSpPr>
        <p:spPr>
          <a:xfrm>
            <a:off x="4846320" y="3794760"/>
            <a:ext cx="3840480" cy="621792"/>
          </a:xfrm>
          <a:prstGeom prst="roundRect">
            <a:avLst>
              <a:gd name="adj" fmla="val 11765"/>
            </a:avLst>
          </a:prstGeom>
          <a:solidFill>
            <a:schemeClr val="bg2"/>
          </a:solidFill>
          <a:ln w="19050">
            <a:solidFill>
              <a:schemeClr val="accent2"/>
            </a:solidFill>
            <a:prstDash val="solid"/>
          </a:ln>
        </p:spPr>
      </p:sp>
      <p:sp>
        <p:nvSpPr>
          <p:cNvPr id="25" name="Text 23"/>
          <p:cNvSpPr txBox="1"/>
          <p:nvPr/>
        </p:nvSpPr>
        <p:spPr>
          <a:xfrm>
            <a:off x="5029200" y="3794760"/>
            <a:ext cx="3474720" cy="621792"/>
          </a:xfrm>
          <a:prstGeom prst="rect">
            <a:avLst/>
          </a:prstGeom>
          <a:noFill/>
          <a:ln/>
        </p:spPr>
        <p:txBody>
          <a:bodyPr wrap="square" lIns="0" tIns="0" rIns="0" bIns="0" rtlCol="0" anchor="ctr"/>
          <a:lstStyle/>
          <a:p>
            <a:pPr marL="0" indent="0">
              <a:buNone/>
            </a:pPr>
            <a:r>
              <a:rPr lang="en-US" sz="1400" dirty="0">
                <a:solidFill>
                  <a:schemeClr val="tx1"/>
                </a:solidFill>
              </a:rPr>
              <a:t>Needs only GPS and map data</a:t>
            </a:r>
            <a:endParaRPr lang="en-US" sz="1400" dirty="0"/>
          </a:p>
        </p:txBody>
      </p:sp>
      <p:sp>
        <p:nvSpPr>
          <p:cNvPr id="26"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3  LITERATURE SURVEY</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Supporting references</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2871216"/>
        </p:xfrm>
        <a:graphic>
          <a:graphicData uri="http://schemas.openxmlformats.org/drawingml/2006/table">
            <a:tbl>
              <a:tblPr/>
              <a:tblGrid>
                <a:gridCol w="32004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292608">
                <a:tc>
                  <a:txBody>
                    <a:bodyPr/>
                    <a:lstStyle/>
                    <a:p>
                      <a:pPr marL="0" indent="0">
                        <a:buNone/>
                      </a:pPr>
                      <a:r>
                        <a:rPr lang="en-US" sz="1200" b="1" dirty="0">
                          <a:solidFill>
                            <a:schemeClr val="bg1"/>
                          </a:solidFill>
                        </a:rPr>
                        <a:t>Reference</a:t>
                      </a:r>
                      <a:endParaRPr lang="en-US" sz="1200" dirty="0"/>
                    </a:p>
                  </a:txBody>
                  <a:tcPr marL="73152" marR="73152"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Area</a:t>
                      </a:r>
                      <a:endParaRPr lang="en-US" sz="1200" dirty="0"/>
                    </a:p>
                  </a:txBody>
                  <a:tcPr marL="73152" marR="73152"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Why it matters</a:t>
                      </a:r>
                      <a:endParaRPr lang="en-US" sz="1200" dirty="0"/>
                    </a:p>
                  </a:txBody>
                  <a:tcPr marL="73152" marR="73152"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chemeClr val="tx1"/>
                          </a:solidFill>
                        </a:rPr>
                        <a:t>[3][4] Ahn et al. 2002, J. Transp. Eng.; Rakha et al. 2004, Transp. Res. D</a:t>
                      </a:r>
                      <a:endParaRPr lang="en-US" sz="1200" dirty="0"/>
                    </a:p>
                  </a:txBody>
                  <a:tcPr marL="73152" marR="73152"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marL="0" indent="0">
                        <a:buNone/>
                      </a:pPr>
                      <a:r>
                        <a:rPr lang="en-US" sz="1200" b="1" dirty="0">
                          <a:solidFill>
                            <a:schemeClr val="tx1"/>
                          </a:solidFill>
                        </a:rPr>
                        <a:t>Fuel model (VT-Micro)</a:t>
                      </a:r>
                      <a:endParaRPr lang="en-US" sz="1200" dirty="0"/>
                    </a:p>
                  </a:txBody>
                  <a:tcPr marL="73152" marR="73152"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marL="0" indent="0">
                        <a:buNone/>
                      </a:pPr>
                      <a:r>
                        <a:rPr lang="en-US" sz="1200" dirty="0">
                          <a:solidFill>
                            <a:schemeClr val="tx1"/>
                          </a:solidFill>
                        </a:rPr>
                        <a:t>Fuel and emissions from speed and acceleration. Candidate for our fuel model; check how it treats lift-off.</a:t>
                      </a:r>
                      <a:endParaRPr lang="en-US" sz="1200" dirty="0"/>
                    </a:p>
                  </a:txBody>
                  <a:tcPr marL="73152" marR="73152"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200" dirty="0">
                          <a:solidFill>
                            <a:schemeClr val="tx1"/>
                          </a:solidFill>
                        </a:rPr>
                        <a:t>[5] Zamfir et al. 2016, IOP Conf. Ser.: Mater. Sci. Eng.</a:t>
                      </a:r>
                      <a:endParaRPr lang="en-US" sz="1200" dirty="0"/>
                    </a:p>
                  </a:txBody>
                  <a:tcPr marL="73152" marR="73152"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marL="0" indent="0">
                        <a:buNone/>
                      </a:pPr>
                      <a:r>
                        <a:rPr lang="en-US" sz="1200" b="1" dirty="0">
                          <a:solidFill>
                            <a:schemeClr val="tx1"/>
                          </a:solidFill>
                        </a:rPr>
                        <a:t>Road friction</a:t>
                      </a:r>
                      <a:endParaRPr lang="en-US" sz="1200" dirty="0"/>
                    </a:p>
                  </a:txBody>
                  <a:tcPr marL="73152" marR="73152"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marL="0" indent="0">
                        <a:buNone/>
                      </a:pPr>
                      <a:r>
                        <a:rPr lang="en-US" sz="1200" dirty="0">
                          <a:solidFill>
                            <a:schemeClr val="tx1"/>
                          </a:solidFill>
                        </a:rPr>
                        <a:t>Curve speed limit from surface friction, v = √(μ·g·R), as used in [1].</a:t>
                      </a:r>
                      <a:endParaRPr lang="en-US" sz="1200" dirty="0"/>
                    </a:p>
                  </a:txBody>
                  <a:tcPr marL="73152" marR="73152"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200" dirty="0">
                          <a:solidFill>
                            <a:schemeClr val="tx1"/>
                          </a:solidFill>
                        </a:rPr>
                        <a:t>[6] Beckers et al. 2020, Transp. Res. D</a:t>
                      </a:r>
                      <a:endParaRPr lang="en-US" sz="1200" dirty="0"/>
                    </a:p>
                  </a:txBody>
                  <a:tcPr marL="73152" marR="73152"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marL="0" indent="0">
                        <a:buNone/>
                      </a:pPr>
                      <a:r>
                        <a:rPr lang="en-US" sz="1200" b="1" dirty="0">
                          <a:solidFill>
                            <a:schemeClr val="tx1"/>
                          </a:solidFill>
                        </a:rPr>
                        <a:t>Cornering losses</a:t>
                      </a:r>
                      <a:endParaRPr lang="en-US" sz="1200" dirty="0"/>
                    </a:p>
                  </a:txBody>
                  <a:tcPr marL="73152" marR="73152"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marL="0" indent="0">
                        <a:buNone/>
                      </a:pPr>
                      <a:r>
                        <a:rPr lang="en-US" sz="1200" dirty="0">
                          <a:solidFill>
                            <a:schemeClr val="tx1"/>
                          </a:solidFill>
                        </a:rPr>
                        <a:t>Shows cornering energy losses should not be ignored.</a:t>
                      </a:r>
                      <a:endParaRPr lang="en-US" sz="1200" dirty="0"/>
                    </a:p>
                  </a:txBody>
                  <a:tcPr marL="73152" marR="73152"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200" dirty="0">
                          <a:solidFill>
                            <a:schemeClr val="tx1"/>
                          </a:solidFill>
                        </a:rPr>
                        <a:t>[7][8] Huang et al. 2024, Applied Energy; Nie and Farzaneh 2022, Energy</a:t>
                      </a:r>
                      <a:endParaRPr lang="en-US" sz="1200" dirty="0"/>
                    </a:p>
                  </a:txBody>
                  <a:tcPr marL="73152" marR="73152"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marL="0" indent="0">
                        <a:buNone/>
                      </a:pPr>
                      <a:r>
                        <a:rPr lang="en-US" sz="1200" b="1" dirty="0">
                          <a:solidFill>
                            <a:schemeClr val="tx1"/>
                          </a:solidFill>
                        </a:rPr>
                        <a:t>Learning-based eco-driving</a:t>
                      </a:r>
                      <a:endParaRPr lang="en-US" sz="1200" dirty="0"/>
                    </a:p>
                  </a:txBody>
                  <a:tcPr marL="73152" marR="73152"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marL="0" indent="0">
                        <a:buNone/>
                      </a:pPr>
                      <a:r>
                        <a:rPr lang="en-US" sz="1200" dirty="0">
                          <a:solidFill>
                            <a:schemeClr val="tx1"/>
                          </a:solidFill>
                        </a:rPr>
                        <a:t>Model-free methods need substantial training data and retraining for new vehicles, per [2].</a:t>
                      </a:r>
                      <a:endParaRPr lang="en-US" sz="1200" dirty="0"/>
                    </a:p>
                  </a:txBody>
                  <a:tcPr marL="73152" marR="73152"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200" dirty="0">
                          <a:solidFill>
                            <a:schemeClr val="tx1"/>
                          </a:solidFill>
                        </a:rPr>
                        <a:t>[9][10] Coach Dave Delta; iRacerHUB</a:t>
                      </a:r>
                      <a:endParaRPr lang="en-US" sz="1200" dirty="0"/>
                    </a:p>
                  </a:txBody>
                  <a:tcPr marL="73152" marR="73152"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marL="0" indent="0">
                        <a:buNone/>
                      </a:pPr>
                      <a:r>
                        <a:rPr lang="en-US" sz="1200" b="1" dirty="0">
                          <a:solidFill>
                            <a:schemeClr val="tx1"/>
                          </a:solidFill>
                        </a:rPr>
                        <a:t>Lift-and-coast evidence</a:t>
                      </a:r>
                      <a:endParaRPr lang="en-US" sz="1200" dirty="0"/>
                    </a:p>
                  </a:txBody>
                  <a:tcPr marL="73152" marR="73152"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marL="0" indent="0">
                        <a:buNone/>
                      </a:pPr>
                      <a:r>
                        <a:rPr lang="en-US" sz="1200" dirty="0">
                          <a:solidFill>
                            <a:schemeClr val="tx1"/>
                          </a:solidFill>
                        </a:rPr>
                        <a:t>Simulator-based sim-racing sources. Indicative only.</a:t>
                      </a:r>
                      <a:endParaRPr lang="en-US" sz="1200" dirty="0"/>
                    </a:p>
                  </a:txBody>
                  <a:tcPr marL="73152" marR="73152"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2"/>
          <p:cNvSpPr txBox="1"/>
          <p:nvPr/>
        </p:nvSpPr>
        <p:spPr>
          <a:xfrm>
            <a:off x="457200" y="4480560"/>
            <a:ext cx="8229600" cy="228600"/>
          </a:xfrm>
          <a:prstGeom prst="rect">
            <a:avLst/>
          </a:prstGeom>
          <a:noFill/>
          <a:ln/>
        </p:spPr>
        <p:txBody>
          <a:bodyPr wrap="square" lIns="0" tIns="0" rIns="0" bIns="0" rtlCol="0" anchor="t"/>
          <a:lstStyle/>
          <a:p>
            <a:pPr marL="0" indent="0">
              <a:buNone/>
            </a:pPr>
            <a:r>
              <a:rPr lang="en-US" sz="1100" dirty="0">
                <a:solidFill>
                  <a:schemeClr val="tx2"/>
                </a:solidFill>
              </a:rPr>
              <a:t>Items [3] to [8] are cited as listed in [1] and [2].</a:t>
            </a:r>
            <a:endParaRPr lang="en-US" sz="11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3  LITERATURE SURVEY</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Survey takeaway and next reading</a:t>
            </a:r>
            <a:endParaRPr lang="en-US" sz="2800" dirty="0"/>
          </a:p>
        </p:txBody>
      </p:sp>
      <p:sp>
        <p:nvSpPr>
          <p:cNvPr id="4" name="Takeaway"/>
          <p:cNvSpPr/>
          <p:nvPr/>
        </p:nvSpPr>
        <p:spPr>
          <a:xfrm>
            <a:off x="457200" y="1280160"/>
            <a:ext cx="4023360" cy="3154680"/>
          </a:xfrm>
          <a:prstGeom prst="roundRect">
            <a:avLst>
              <a:gd name="adj" fmla="val 2319"/>
            </a:avLst>
          </a:prstGeom>
          <a:solidFill>
            <a:schemeClr val="bg2"/>
          </a:solidFill>
          <a:ln/>
        </p:spPr>
      </p:sp>
      <p:sp>
        <p:nvSpPr>
          <p:cNvPr id="5" name="Text 3"/>
          <p:cNvSpPr txBox="1"/>
          <p:nvPr/>
        </p:nvSpPr>
        <p:spPr>
          <a:xfrm>
            <a:off x="640080" y="1417320"/>
            <a:ext cx="3657600" cy="320040"/>
          </a:xfrm>
          <a:prstGeom prst="rect">
            <a:avLst/>
          </a:prstGeom>
          <a:noFill/>
          <a:ln/>
        </p:spPr>
        <p:txBody>
          <a:bodyPr wrap="square" lIns="0" tIns="0" rIns="0" bIns="0" rtlCol="0" anchor="t"/>
          <a:lstStyle/>
          <a:p>
            <a:pPr marL="0" indent="0">
              <a:buNone/>
            </a:pPr>
            <a:r>
              <a:rPr lang="en-US" sz="1600" b="1" dirty="0">
                <a:solidFill>
                  <a:schemeClr val="accent2"/>
                </a:solidFill>
              </a:rPr>
              <a:t>What the survey shows</a:t>
            </a:r>
            <a:endParaRPr lang="en-US" sz="1600" dirty="0"/>
          </a:p>
        </p:txBody>
      </p:sp>
      <p:sp>
        <p:nvSpPr>
          <p:cNvPr id="6" name="Text 4"/>
          <p:cNvSpPr txBox="1"/>
          <p:nvPr/>
        </p:nvSpPr>
        <p:spPr>
          <a:xfrm>
            <a:off x="640080" y="1828800"/>
            <a:ext cx="3657600" cy="25603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Closest prior art is model-based, with fixed vehicle parameters and gradual curves</a:t>
            </a:r>
            <a:endParaRPr lang="en-US" sz="1400" dirty="0"/>
          </a:p>
          <a:p>
            <a:pPr marL="177800" indent="-177800">
              <a:spcAft>
                <a:spcPts val="600"/>
              </a:spcAft>
              <a:buSzPct val="100000"/>
              <a:buChar char="•"/>
            </a:pPr>
            <a:r>
              <a:rPr lang="en-US" sz="1400" dirty="0">
                <a:solidFill>
                  <a:schemeClr val="tx1"/>
                </a:solidFill>
              </a:rPr>
              <a:t>The Heliyon paper already compares against human driving and includes road surface, so we do not claim those as new</a:t>
            </a:r>
            <a:endParaRPr lang="en-US" sz="1400" dirty="0"/>
          </a:p>
          <a:p>
            <a:pPr marL="177800" indent="-177800">
              <a:spcAft>
                <a:spcPts val="600"/>
              </a:spcAft>
              <a:buSzPct val="100000"/>
              <a:buChar char="•"/>
            </a:pPr>
            <a:r>
              <a:rPr lang="en-US" sz="1400" dirty="0">
                <a:solidFill>
                  <a:schemeClr val="tx1"/>
                </a:solidFill>
              </a:rPr>
              <a:t>Our difference: learning and adapting to the vehicle, on sharp junction turns</a:t>
            </a:r>
            <a:endParaRPr lang="en-US" sz="1400" dirty="0"/>
          </a:p>
        </p:txBody>
      </p:sp>
      <p:sp>
        <p:nvSpPr>
          <p:cNvPr id="7" name="Next reading"/>
          <p:cNvSpPr/>
          <p:nvPr/>
        </p:nvSpPr>
        <p:spPr>
          <a:xfrm>
            <a:off x="4663440" y="1280160"/>
            <a:ext cx="4023360" cy="3154680"/>
          </a:xfrm>
          <a:prstGeom prst="roundRect">
            <a:avLst>
              <a:gd name="adj" fmla="val 2319"/>
            </a:avLst>
          </a:prstGeom>
          <a:solidFill>
            <a:schemeClr val="bg2"/>
          </a:solidFill>
          <a:ln/>
        </p:spPr>
      </p:sp>
      <p:sp>
        <p:nvSpPr>
          <p:cNvPr id="8" name="Text 6"/>
          <p:cNvSpPr txBox="1"/>
          <p:nvPr/>
        </p:nvSpPr>
        <p:spPr>
          <a:xfrm>
            <a:off x="4846320" y="1417320"/>
            <a:ext cx="3657600" cy="320040"/>
          </a:xfrm>
          <a:prstGeom prst="rect">
            <a:avLst/>
          </a:prstGeom>
          <a:noFill/>
          <a:ln/>
        </p:spPr>
        <p:txBody>
          <a:bodyPr wrap="square" lIns="0" tIns="0" rIns="0" bIns="0" rtlCol="0" anchor="t"/>
          <a:lstStyle/>
          <a:p>
            <a:pPr marL="0" indent="0">
              <a:buNone/>
            </a:pPr>
            <a:r>
              <a:rPr lang="en-US" sz="1600" b="1" dirty="0">
                <a:solidFill>
                  <a:schemeClr val="accent1"/>
                </a:solidFill>
              </a:rPr>
              <a:t>Still to survey</a:t>
            </a:r>
            <a:endParaRPr lang="en-US" sz="1600" dirty="0"/>
          </a:p>
        </p:txBody>
      </p:sp>
      <p:sp>
        <p:nvSpPr>
          <p:cNvPr id="9" name="Text 7"/>
          <p:cNvSpPr txBox="1"/>
          <p:nvPr/>
        </p:nvSpPr>
        <p:spPr>
          <a:xfrm>
            <a:off x="4846320" y="1828800"/>
            <a:ext cx="3657600" cy="25603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Driver behaviour and personalisation</a:t>
            </a:r>
            <a:endParaRPr lang="en-US" sz="1400" dirty="0"/>
          </a:p>
          <a:p>
            <a:pPr marL="177800" indent="-177800">
              <a:spcAft>
                <a:spcPts val="600"/>
              </a:spcAft>
              <a:buSzPct val="100000"/>
              <a:buChar char="•"/>
            </a:pPr>
            <a:r>
              <a:rPr lang="en-US" sz="1400" dirty="0">
                <a:solidFill>
                  <a:schemeClr val="tx1"/>
                </a:solidFill>
              </a:rPr>
              <a:t>Adapting to vehicle condition, sim-to-real</a:t>
            </a:r>
            <a:endParaRPr lang="en-US" sz="1400" dirty="0"/>
          </a:p>
          <a:p>
            <a:pPr marL="177800" indent="-177800">
              <a:spcAft>
                <a:spcPts val="600"/>
              </a:spcAft>
              <a:buSzPct val="100000"/>
              <a:buChar char="•"/>
            </a:pPr>
            <a:r>
              <a:rPr lang="en-US" sz="1400" dirty="0">
                <a:solidFill>
                  <a:schemeClr val="tx1"/>
                </a:solidFill>
              </a:rPr>
              <a:t>Pavement friction values per surface</a:t>
            </a:r>
            <a:endParaRPr lang="en-US" sz="1400" dirty="0"/>
          </a:p>
          <a:p>
            <a:pPr marL="177800" indent="-177800">
              <a:spcAft>
                <a:spcPts val="600"/>
              </a:spcAft>
              <a:buSzPct val="100000"/>
              <a:buChar char="•"/>
            </a:pPr>
            <a:r>
              <a:rPr lang="en-US" sz="1400" dirty="0">
                <a:solidFill>
                  <a:schemeClr val="tx1"/>
                </a:solidFill>
              </a:rPr>
              <a:t>Junction geometry and turn radii</a:t>
            </a:r>
            <a:endParaRPr lang="en-US" sz="14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4  CONCEPT FORMULATION</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System concept</a:t>
            </a:r>
            <a:endParaRPr lang="en-US" sz="2800" dirty="0"/>
          </a:p>
        </p:txBody>
      </p:sp>
      <p:sp>
        <p:nvSpPr>
          <p:cNvPr id="4" name="Block 1"/>
          <p:cNvSpPr/>
          <p:nvPr/>
        </p:nvSpPr>
        <p:spPr>
          <a:xfrm>
            <a:off x="457200" y="1280160"/>
            <a:ext cx="1463040" cy="777240"/>
          </a:xfrm>
          <a:prstGeom prst="roundRect">
            <a:avLst>
              <a:gd name="adj" fmla="val 9412"/>
            </a:avLst>
          </a:prstGeom>
          <a:solidFill>
            <a:schemeClr val="tx1"/>
          </a:solidFill>
          <a:ln/>
        </p:spPr>
        <p:txBody>
          <a:bodyPr wrap="square" lIns="635" tIns="635" rIns="635" bIns="635" rtlCol="0" anchor="ctr"/>
          <a:lstStyle/>
          <a:p>
            <a:pPr marL="0" indent="0" algn="ctr">
              <a:buNone/>
            </a:pPr>
            <a:r>
              <a:rPr lang="en-US" sz="1400" b="1" dirty="0">
                <a:solidFill>
                  <a:schemeClr val="bg1"/>
                </a:solidFill>
              </a:rPr>
              <a:t>GPS + map</a:t>
            </a:r>
            <a:endParaRPr lang="en-US" sz="1400" dirty="0"/>
          </a:p>
        </p:txBody>
      </p:sp>
      <p:sp>
        <p:nvSpPr>
          <p:cNvPr id="5" name="Text 3"/>
          <p:cNvSpPr txBox="1"/>
          <p:nvPr/>
        </p:nvSpPr>
        <p:spPr>
          <a:xfrm>
            <a:off x="457200" y="2194560"/>
            <a:ext cx="1463040" cy="1097280"/>
          </a:xfrm>
          <a:prstGeom prst="rect">
            <a:avLst/>
          </a:prstGeom>
          <a:noFill/>
          <a:ln/>
        </p:spPr>
        <p:txBody>
          <a:bodyPr wrap="square" lIns="0" tIns="0" rIns="0" bIns="0" rtlCol="0" anchor="t"/>
          <a:lstStyle/>
          <a:p>
            <a:pPr marL="0" indent="0">
              <a:buNone/>
            </a:pPr>
            <a:r>
              <a:rPr lang="en-US" sz="1200" dirty="0">
                <a:solidFill>
                  <a:schemeClr val="tx2"/>
                </a:solidFill>
              </a:rPr>
              <a:t>Position and route. Turn locations come from the map.</a:t>
            </a:r>
            <a:endParaRPr lang="en-US" sz="1200" dirty="0"/>
          </a:p>
        </p:txBody>
      </p:sp>
      <p:sp>
        <p:nvSpPr>
          <p:cNvPr id="6" name="Flow 1"/>
          <p:cNvSpPr/>
          <p:nvPr/>
        </p:nvSpPr>
        <p:spPr>
          <a:xfrm>
            <a:off x="1938528" y="1668780"/>
            <a:ext cx="192024" cy="0"/>
          </a:xfrm>
          <a:prstGeom prst="line">
            <a:avLst/>
          </a:prstGeom>
          <a:noFill/>
          <a:ln w="19050">
            <a:solidFill>
              <a:schemeClr val="tx2"/>
            </a:solidFill>
            <a:prstDash val="solid"/>
            <a:tailEnd type="triangle"/>
          </a:ln>
        </p:spPr>
      </p:sp>
      <p:sp>
        <p:nvSpPr>
          <p:cNvPr id="7" name="Block 2"/>
          <p:cNvSpPr/>
          <p:nvPr/>
        </p:nvSpPr>
        <p:spPr>
          <a:xfrm>
            <a:off x="2148840" y="1280160"/>
            <a:ext cx="1463040" cy="777240"/>
          </a:xfrm>
          <a:prstGeom prst="roundRect">
            <a:avLst>
              <a:gd name="adj" fmla="val 9412"/>
            </a:avLst>
          </a:prstGeom>
          <a:solidFill>
            <a:schemeClr val="tx1"/>
          </a:solidFill>
          <a:ln/>
        </p:spPr>
        <p:txBody>
          <a:bodyPr wrap="square" lIns="635" tIns="635" rIns="635" bIns="635" rtlCol="0" anchor="ctr"/>
          <a:lstStyle/>
          <a:p>
            <a:pPr marL="0" indent="0" algn="ctr">
              <a:buNone/>
            </a:pPr>
            <a:r>
              <a:rPr lang="en-US" sz="1400" b="1" dirty="0">
                <a:solidFill>
                  <a:schemeClr val="bg1"/>
                </a:solidFill>
              </a:rPr>
              <a:t>Turn and road info</a:t>
            </a:r>
            <a:endParaRPr lang="en-US" sz="1400" dirty="0"/>
          </a:p>
        </p:txBody>
      </p:sp>
      <p:sp>
        <p:nvSpPr>
          <p:cNvPr id="8" name="Text 6"/>
          <p:cNvSpPr txBox="1"/>
          <p:nvPr/>
        </p:nvSpPr>
        <p:spPr>
          <a:xfrm>
            <a:off x="2148840" y="2194560"/>
            <a:ext cx="1463040" cy="1097280"/>
          </a:xfrm>
          <a:prstGeom prst="rect">
            <a:avLst/>
          </a:prstGeom>
          <a:noFill/>
          <a:ln/>
        </p:spPr>
        <p:txBody>
          <a:bodyPr wrap="square" lIns="0" tIns="0" rIns="0" bIns="0" rtlCol="0" anchor="t"/>
          <a:lstStyle/>
          <a:p>
            <a:pPr marL="0" indent="0">
              <a:buNone/>
            </a:pPr>
            <a:r>
              <a:rPr lang="en-US" sz="1200" dirty="0">
                <a:solidFill>
                  <a:schemeClr val="tx2"/>
                </a:solidFill>
              </a:rPr>
              <a:t>Distance to turn, required speed, surface grip.</a:t>
            </a:r>
            <a:endParaRPr lang="en-US" sz="1200" dirty="0"/>
          </a:p>
        </p:txBody>
      </p:sp>
      <p:sp>
        <p:nvSpPr>
          <p:cNvPr id="9" name="Flow 2"/>
          <p:cNvSpPr/>
          <p:nvPr/>
        </p:nvSpPr>
        <p:spPr>
          <a:xfrm>
            <a:off x="3630168" y="1668780"/>
            <a:ext cx="192024" cy="0"/>
          </a:xfrm>
          <a:prstGeom prst="line">
            <a:avLst/>
          </a:prstGeom>
          <a:noFill/>
          <a:ln w="19050">
            <a:solidFill>
              <a:schemeClr val="tx2"/>
            </a:solidFill>
            <a:prstDash val="solid"/>
            <a:tailEnd type="triangle"/>
          </a:ln>
        </p:spPr>
      </p:sp>
      <p:sp>
        <p:nvSpPr>
          <p:cNvPr id="10" name="Block 3"/>
          <p:cNvSpPr/>
          <p:nvPr/>
        </p:nvSpPr>
        <p:spPr>
          <a:xfrm>
            <a:off x="3840480" y="1280160"/>
            <a:ext cx="1463040" cy="777240"/>
          </a:xfrm>
          <a:prstGeom prst="roundRect">
            <a:avLst>
              <a:gd name="adj" fmla="val 9412"/>
            </a:avLst>
          </a:prstGeom>
          <a:solidFill>
            <a:schemeClr val="accent2"/>
          </a:solidFill>
          <a:ln/>
        </p:spPr>
        <p:txBody>
          <a:bodyPr wrap="square" lIns="635" tIns="635" rIns="635" bIns="635" rtlCol="0" anchor="ctr"/>
          <a:lstStyle/>
          <a:p>
            <a:pPr marL="0" indent="0" algn="ctr">
              <a:buNone/>
            </a:pPr>
            <a:r>
              <a:rPr lang="en-US" sz="1400" b="1" dirty="0">
                <a:solidFill>
                  <a:schemeClr val="bg1"/>
                </a:solidFill>
              </a:rPr>
              <a:t>ML model</a:t>
            </a:r>
            <a:endParaRPr lang="en-US" sz="1400" dirty="0"/>
          </a:p>
        </p:txBody>
      </p:sp>
      <p:sp>
        <p:nvSpPr>
          <p:cNvPr id="11" name="Text 9"/>
          <p:cNvSpPr txBox="1"/>
          <p:nvPr/>
        </p:nvSpPr>
        <p:spPr>
          <a:xfrm>
            <a:off x="3840480" y="2194560"/>
            <a:ext cx="1463040" cy="1097280"/>
          </a:xfrm>
          <a:prstGeom prst="rect">
            <a:avLst/>
          </a:prstGeom>
          <a:noFill/>
          <a:ln/>
        </p:spPr>
        <p:txBody>
          <a:bodyPr wrap="square" lIns="0" tIns="0" rIns="0" bIns="0" rtlCol="0" anchor="t"/>
          <a:lstStyle/>
          <a:p>
            <a:pPr marL="0" indent="0">
              <a:buNone/>
            </a:pPr>
            <a:r>
              <a:rPr lang="en-US" sz="1200" dirty="0">
                <a:solidFill>
                  <a:schemeClr val="tx2"/>
                </a:solidFill>
              </a:rPr>
              <a:t>Learns where to lift off from speed, distance, coasting behaviour and grip.</a:t>
            </a:r>
            <a:endParaRPr lang="en-US" sz="1200" dirty="0"/>
          </a:p>
        </p:txBody>
      </p:sp>
      <p:sp>
        <p:nvSpPr>
          <p:cNvPr id="12" name="Flow 3"/>
          <p:cNvSpPr/>
          <p:nvPr/>
        </p:nvSpPr>
        <p:spPr>
          <a:xfrm>
            <a:off x="5321808" y="1668780"/>
            <a:ext cx="192024" cy="0"/>
          </a:xfrm>
          <a:prstGeom prst="line">
            <a:avLst/>
          </a:prstGeom>
          <a:noFill/>
          <a:ln w="19050">
            <a:solidFill>
              <a:schemeClr val="tx2"/>
            </a:solidFill>
            <a:prstDash val="solid"/>
            <a:tailEnd type="triangle"/>
          </a:ln>
        </p:spPr>
      </p:sp>
      <p:sp>
        <p:nvSpPr>
          <p:cNvPr id="13" name="Block 4"/>
          <p:cNvSpPr/>
          <p:nvPr/>
        </p:nvSpPr>
        <p:spPr>
          <a:xfrm>
            <a:off x="5532120" y="1280160"/>
            <a:ext cx="1463040" cy="777240"/>
          </a:xfrm>
          <a:prstGeom prst="roundRect">
            <a:avLst>
              <a:gd name="adj" fmla="val 9412"/>
            </a:avLst>
          </a:prstGeom>
          <a:solidFill>
            <a:schemeClr val="tx1"/>
          </a:solidFill>
          <a:ln/>
        </p:spPr>
        <p:txBody>
          <a:bodyPr wrap="square" lIns="635" tIns="635" rIns="635" bIns="635" rtlCol="0" anchor="ctr"/>
          <a:lstStyle/>
          <a:p>
            <a:pPr marL="0" indent="0" algn="ctr">
              <a:buNone/>
            </a:pPr>
            <a:r>
              <a:rPr lang="en-US" sz="1400" b="1" dirty="0">
                <a:solidFill>
                  <a:schemeClr val="bg1"/>
                </a:solidFill>
              </a:rPr>
              <a:t>Coast / brake decision</a:t>
            </a:r>
            <a:endParaRPr lang="en-US" sz="1400" dirty="0"/>
          </a:p>
        </p:txBody>
      </p:sp>
      <p:sp>
        <p:nvSpPr>
          <p:cNvPr id="14" name="Text 12"/>
          <p:cNvSpPr txBox="1"/>
          <p:nvPr/>
        </p:nvSpPr>
        <p:spPr>
          <a:xfrm>
            <a:off x="5532120" y="2194560"/>
            <a:ext cx="1463040" cy="1097280"/>
          </a:xfrm>
          <a:prstGeom prst="rect">
            <a:avLst/>
          </a:prstGeom>
          <a:noFill/>
          <a:ln/>
        </p:spPr>
        <p:txBody>
          <a:bodyPr wrap="square" lIns="0" tIns="0" rIns="0" bIns="0" rtlCol="0" anchor="t"/>
          <a:lstStyle/>
          <a:p>
            <a:pPr marL="0" indent="0">
              <a:buNone/>
            </a:pPr>
            <a:r>
              <a:rPr lang="en-US" sz="1200" dirty="0">
                <a:solidFill>
                  <a:schemeClr val="tx2"/>
                </a:solidFill>
              </a:rPr>
              <a:t>Lift off now, keep coasting, or brake only if needed.</a:t>
            </a:r>
            <a:endParaRPr lang="en-US" sz="1200" dirty="0"/>
          </a:p>
        </p:txBody>
      </p:sp>
      <p:sp>
        <p:nvSpPr>
          <p:cNvPr id="15" name="Flow 4"/>
          <p:cNvSpPr/>
          <p:nvPr/>
        </p:nvSpPr>
        <p:spPr>
          <a:xfrm>
            <a:off x="7013448" y="1668780"/>
            <a:ext cx="192024" cy="0"/>
          </a:xfrm>
          <a:prstGeom prst="line">
            <a:avLst/>
          </a:prstGeom>
          <a:noFill/>
          <a:ln w="19050">
            <a:solidFill>
              <a:schemeClr val="tx2"/>
            </a:solidFill>
            <a:prstDash val="solid"/>
            <a:tailEnd type="triangle"/>
          </a:ln>
        </p:spPr>
      </p:sp>
      <p:sp>
        <p:nvSpPr>
          <p:cNvPr id="16" name="Block 5"/>
          <p:cNvSpPr/>
          <p:nvPr/>
        </p:nvSpPr>
        <p:spPr>
          <a:xfrm>
            <a:off x="7223760" y="1280160"/>
            <a:ext cx="1463040" cy="777240"/>
          </a:xfrm>
          <a:prstGeom prst="roundRect">
            <a:avLst>
              <a:gd name="adj" fmla="val 9412"/>
            </a:avLst>
          </a:prstGeom>
          <a:solidFill>
            <a:schemeClr val="tx1"/>
          </a:solidFill>
          <a:ln/>
        </p:spPr>
        <p:txBody>
          <a:bodyPr wrap="square" lIns="635" tIns="635" rIns="635" bIns="635" rtlCol="0" anchor="ctr"/>
          <a:lstStyle/>
          <a:p>
            <a:pPr marL="0" indent="0" algn="ctr">
              <a:buNone/>
            </a:pPr>
            <a:r>
              <a:rPr lang="en-US" sz="1400" b="1" dirty="0">
                <a:solidFill>
                  <a:schemeClr val="bg1"/>
                </a:solidFill>
              </a:rPr>
              <a:t>Simulated vehicle</a:t>
            </a:r>
            <a:endParaRPr lang="en-US" sz="1400" dirty="0"/>
          </a:p>
        </p:txBody>
      </p:sp>
      <p:sp>
        <p:nvSpPr>
          <p:cNvPr id="17" name="Text 15"/>
          <p:cNvSpPr txBox="1"/>
          <p:nvPr/>
        </p:nvSpPr>
        <p:spPr>
          <a:xfrm>
            <a:off x="7223760" y="2194560"/>
            <a:ext cx="1463040" cy="1097280"/>
          </a:xfrm>
          <a:prstGeom prst="rect">
            <a:avLst/>
          </a:prstGeom>
          <a:noFill/>
          <a:ln/>
        </p:spPr>
        <p:txBody>
          <a:bodyPr wrap="square" lIns="0" tIns="0" rIns="0" bIns="0" rtlCol="0" anchor="t"/>
          <a:lstStyle/>
          <a:p>
            <a:pPr marL="0" indent="0">
              <a:buNone/>
            </a:pPr>
            <a:r>
              <a:rPr lang="en-US" sz="1200" dirty="0">
                <a:solidFill>
                  <a:schemeClr val="tx2"/>
                </a:solidFill>
              </a:rPr>
              <a:t>Throttle and brake in CARLA. Steering stays with the autopilot.</a:t>
            </a:r>
            <a:endParaRPr lang="en-US" sz="1200" dirty="0"/>
          </a:p>
        </p:txBody>
      </p:sp>
      <p:sp>
        <p:nvSpPr>
          <p:cNvPr id="18" name="Feedback"/>
          <p:cNvSpPr/>
          <p:nvPr/>
        </p:nvSpPr>
        <p:spPr>
          <a:xfrm>
            <a:off x="457200" y="3429000"/>
            <a:ext cx="4023360" cy="1005840"/>
          </a:xfrm>
          <a:prstGeom prst="roundRect">
            <a:avLst>
              <a:gd name="adj" fmla="val 7273"/>
            </a:avLst>
          </a:prstGeom>
          <a:solidFill>
            <a:schemeClr val="bg2"/>
          </a:solidFill>
          <a:ln/>
        </p:spPr>
      </p:sp>
      <p:sp>
        <p:nvSpPr>
          <p:cNvPr id="19" name="Text 17"/>
          <p:cNvSpPr txBox="1"/>
          <p:nvPr/>
        </p:nvSpPr>
        <p:spPr>
          <a:xfrm>
            <a:off x="640080" y="3566160"/>
            <a:ext cx="3657600" cy="320040"/>
          </a:xfrm>
          <a:prstGeom prst="rect">
            <a:avLst/>
          </a:prstGeom>
          <a:noFill/>
          <a:ln/>
        </p:spPr>
        <p:txBody>
          <a:bodyPr wrap="square" lIns="0" tIns="0" rIns="0" bIns="0" rtlCol="0" anchor="t"/>
          <a:lstStyle/>
          <a:p>
            <a:pPr marL="0" indent="0">
              <a:buNone/>
            </a:pPr>
            <a:r>
              <a:rPr lang="en-US" sz="1600" b="1" dirty="0">
                <a:solidFill>
                  <a:schemeClr val="accent2"/>
                </a:solidFill>
              </a:rPr>
              <a:t>Vehicle feedback</a:t>
            </a:r>
            <a:endParaRPr lang="en-US" sz="1600" dirty="0"/>
          </a:p>
        </p:txBody>
      </p:sp>
      <p:sp>
        <p:nvSpPr>
          <p:cNvPr id="20" name="Text 18"/>
          <p:cNvSpPr txBox="1"/>
          <p:nvPr/>
        </p:nvSpPr>
        <p:spPr>
          <a:xfrm>
            <a:off x="640080" y="3931920"/>
            <a:ext cx="3657600" cy="365760"/>
          </a:xfrm>
          <a:prstGeom prst="rect">
            <a:avLst/>
          </a:prstGeom>
          <a:noFill/>
          <a:ln/>
        </p:spPr>
        <p:txBody>
          <a:bodyPr wrap="square" lIns="0" tIns="0" rIns="0" bIns="0" rtlCol="0" anchor="t"/>
          <a:lstStyle/>
          <a:p>
            <a:pPr marL="0" indent="0">
              <a:buNone/>
            </a:pPr>
            <a:r>
              <a:rPr lang="en-US" sz="1400" dirty="0">
                <a:solidFill>
                  <a:schemeClr val="tx1"/>
                </a:solidFill>
              </a:rPr>
              <a:t>Speed, IMU, throttle and brake feed the model.</a:t>
            </a:r>
            <a:endParaRPr lang="en-US" sz="1400" dirty="0"/>
          </a:p>
        </p:txBody>
      </p:sp>
      <p:sp>
        <p:nvSpPr>
          <p:cNvPr id="21" name="Override block"/>
          <p:cNvSpPr/>
          <p:nvPr/>
        </p:nvSpPr>
        <p:spPr>
          <a:xfrm>
            <a:off x="4663440" y="3429000"/>
            <a:ext cx="4023360" cy="1005840"/>
          </a:xfrm>
          <a:prstGeom prst="roundRect">
            <a:avLst>
              <a:gd name="adj" fmla="val 7273"/>
            </a:avLst>
          </a:prstGeom>
          <a:solidFill>
            <a:schemeClr val="bg2"/>
          </a:solidFill>
          <a:ln/>
        </p:spPr>
      </p:sp>
      <p:sp>
        <p:nvSpPr>
          <p:cNvPr id="22" name="Text 20"/>
          <p:cNvSpPr txBox="1"/>
          <p:nvPr/>
        </p:nvSpPr>
        <p:spPr>
          <a:xfrm>
            <a:off x="4846320" y="3566160"/>
            <a:ext cx="3657600" cy="320040"/>
          </a:xfrm>
          <a:prstGeom prst="rect">
            <a:avLst/>
          </a:prstGeom>
          <a:noFill/>
          <a:ln/>
        </p:spPr>
        <p:txBody>
          <a:bodyPr wrap="square" lIns="0" tIns="0" rIns="0" bIns="0" rtlCol="0" anchor="t"/>
          <a:lstStyle/>
          <a:p>
            <a:pPr marL="0" indent="0">
              <a:buNone/>
            </a:pPr>
            <a:r>
              <a:rPr lang="en-US" sz="1600" b="1" dirty="0">
                <a:solidFill>
                  <a:schemeClr val="accent1"/>
                </a:solidFill>
              </a:rPr>
              <a:t>Driver override</a:t>
            </a:r>
            <a:endParaRPr lang="en-US" sz="1600" dirty="0"/>
          </a:p>
        </p:txBody>
      </p:sp>
      <p:sp>
        <p:nvSpPr>
          <p:cNvPr id="23" name="Text 21"/>
          <p:cNvSpPr txBox="1"/>
          <p:nvPr/>
        </p:nvSpPr>
        <p:spPr>
          <a:xfrm>
            <a:off x="4846320" y="3931920"/>
            <a:ext cx="3657600" cy="365760"/>
          </a:xfrm>
          <a:prstGeom prst="rect">
            <a:avLst/>
          </a:prstGeom>
          <a:noFill/>
          <a:ln/>
        </p:spPr>
        <p:txBody>
          <a:bodyPr wrap="square" lIns="0" tIns="0" rIns="0" bIns="0" rtlCol="0" anchor="t"/>
          <a:lstStyle/>
          <a:p>
            <a:pPr marL="0" indent="0">
              <a:buNone/>
            </a:pPr>
            <a:r>
              <a:rPr lang="en-US" sz="1400" dirty="0">
                <a:solidFill>
                  <a:schemeClr val="tx1"/>
                </a:solidFill>
              </a:rPr>
              <a:t>Any gas, brake or clutch input takes control back at once.</a:t>
            </a:r>
            <a:endParaRPr lang="en-US" sz="14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4  CONCEPT FORMULATION</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What the model learns and decides</a:t>
            </a:r>
            <a:endParaRPr lang="en-US" sz="2800" dirty="0"/>
          </a:p>
        </p:txBody>
      </p:sp>
      <p:sp>
        <p:nvSpPr>
          <p:cNvPr id="4" name="Inputs"/>
          <p:cNvSpPr/>
          <p:nvPr/>
        </p:nvSpPr>
        <p:spPr>
          <a:xfrm>
            <a:off x="457200" y="1280160"/>
            <a:ext cx="3291840" cy="3154680"/>
          </a:xfrm>
          <a:prstGeom prst="roundRect">
            <a:avLst>
              <a:gd name="adj" fmla="val 2319"/>
            </a:avLst>
          </a:prstGeom>
          <a:solidFill>
            <a:schemeClr val="bg2"/>
          </a:solidFill>
          <a:ln/>
        </p:spPr>
      </p:sp>
      <p:sp>
        <p:nvSpPr>
          <p:cNvPr id="5" name="Text 3"/>
          <p:cNvSpPr txBox="1"/>
          <p:nvPr/>
        </p:nvSpPr>
        <p:spPr>
          <a:xfrm>
            <a:off x="640080" y="1417320"/>
            <a:ext cx="2926080" cy="320040"/>
          </a:xfrm>
          <a:prstGeom prst="rect">
            <a:avLst/>
          </a:prstGeom>
          <a:noFill/>
          <a:ln/>
        </p:spPr>
        <p:txBody>
          <a:bodyPr wrap="square" lIns="0" tIns="0" rIns="0" bIns="0" rtlCol="0" anchor="t"/>
          <a:lstStyle/>
          <a:p>
            <a:pPr marL="0" indent="0">
              <a:buNone/>
            </a:pPr>
            <a:r>
              <a:rPr lang="en-US" sz="1600" b="1" dirty="0">
                <a:solidFill>
                  <a:schemeClr val="accent1"/>
                </a:solidFill>
              </a:rPr>
              <a:t>Inputs</a:t>
            </a:r>
            <a:endParaRPr lang="en-US" sz="1600" dirty="0"/>
          </a:p>
        </p:txBody>
      </p:sp>
      <p:sp>
        <p:nvSpPr>
          <p:cNvPr id="6" name="Text 4"/>
          <p:cNvSpPr txBox="1"/>
          <p:nvPr/>
        </p:nvSpPr>
        <p:spPr>
          <a:xfrm>
            <a:off x="640080" y="1828800"/>
            <a:ext cx="2926080" cy="25603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Approach speed</a:t>
            </a:r>
            <a:endParaRPr lang="en-US" sz="1400" dirty="0"/>
          </a:p>
          <a:p>
            <a:pPr marL="177800" indent="-177800">
              <a:spcAft>
                <a:spcPts val="600"/>
              </a:spcAft>
              <a:buSzPct val="100000"/>
              <a:buChar char="•"/>
            </a:pPr>
            <a:r>
              <a:rPr lang="en-US" sz="1400" dirty="0">
                <a:solidFill>
                  <a:schemeClr val="tx1"/>
                </a:solidFill>
              </a:rPr>
              <a:t>Distance to the turn</a:t>
            </a:r>
            <a:endParaRPr lang="en-US" sz="1400" dirty="0"/>
          </a:p>
          <a:p>
            <a:pPr marL="177800" indent="-177800">
              <a:spcAft>
                <a:spcPts val="600"/>
              </a:spcAft>
              <a:buSzPct val="100000"/>
              <a:buChar char="•"/>
            </a:pPr>
            <a:r>
              <a:rPr lang="en-US" sz="1400" dirty="0">
                <a:solidFill>
                  <a:schemeClr val="tx1"/>
                </a:solidFill>
              </a:rPr>
              <a:t>Required turn speed</a:t>
            </a:r>
            <a:endParaRPr lang="en-US" sz="1400" dirty="0"/>
          </a:p>
          <a:p>
            <a:pPr marL="177800" indent="-177800">
              <a:spcAft>
                <a:spcPts val="600"/>
              </a:spcAft>
              <a:buSzPct val="100000"/>
              <a:buChar char="•"/>
            </a:pPr>
            <a:r>
              <a:rPr lang="en-US" sz="1400" dirty="0">
                <a:solidFill>
                  <a:schemeClr val="tx1"/>
                </a:solidFill>
              </a:rPr>
              <a:t>Vehicle's coasting deceleration</a:t>
            </a:r>
            <a:endParaRPr lang="en-US" sz="1400" dirty="0"/>
          </a:p>
          <a:p>
            <a:pPr marL="177800" indent="-177800">
              <a:spcAft>
                <a:spcPts val="600"/>
              </a:spcAft>
              <a:buSzPct val="100000"/>
              <a:buChar char="•"/>
            </a:pPr>
            <a:r>
              <a:rPr lang="en-US" sz="1400" dirty="0">
                <a:solidFill>
                  <a:schemeClr val="tx1"/>
                </a:solidFill>
              </a:rPr>
              <a:t>Road grip</a:t>
            </a:r>
            <a:endParaRPr lang="en-US" sz="1400" dirty="0"/>
          </a:p>
        </p:txBody>
      </p:sp>
      <p:sp>
        <p:nvSpPr>
          <p:cNvPr id="7" name="Model"/>
          <p:cNvSpPr/>
          <p:nvPr/>
        </p:nvSpPr>
        <p:spPr>
          <a:xfrm>
            <a:off x="3931920" y="2331720"/>
            <a:ext cx="1280160" cy="1143000"/>
          </a:xfrm>
          <a:prstGeom prst="roundRect">
            <a:avLst>
              <a:gd name="adj" fmla="val 8000"/>
            </a:avLst>
          </a:prstGeom>
          <a:solidFill>
            <a:schemeClr val="accent2"/>
          </a:solidFill>
          <a:ln/>
        </p:spPr>
        <p:txBody>
          <a:bodyPr wrap="square" lIns="635" tIns="635" rIns="635" bIns="635" rtlCol="0" anchor="ctr"/>
          <a:lstStyle/>
          <a:p>
            <a:pPr marL="0" indent="0" algn="ctr">
              <a:buNone/>
            </a:pPr>
            <a:r>
              <a:rPr lang="en-US" sz="1600" b="1" dirty="0">
                <a:solidFill>
                  <a:schemeClr val="bg1"/>
                </a:solidFill>
              </a:rPr>
              <a:t>ML model</a:t>
            </a:r>
            <a:endParaRPr lang="en-US" sz="1600" dirty="0"/>
          </a:p>
        </p:txBody>
      </p:sp>
      <p:sp>
        <p:nvSpPr>
          <p:cNvPr id="8" name="In arrow"/>
          <p:cNvSpPr/>
          <p:nvPr/>
        </p:nvSpPr>
        <p:spPr>
          <a:xfrm>
            <a:off x="3767328" y="2898648"/>
            <a:ext cx="146304" cy="0"/>
          </a:xfrm>
          <a:prstGeom prst="line">
            <a:avLst/>
          </a:prstGeom>
          <a:noFill/>
          <a:ln w="19050">
            <a:solidFill>
              <a:schemeClr val="tx2"/>
            </a:solidFill>
            <a:prstDash val="solid"/>
            <a:tailEnd type="triangle"/>
          </a:ln>
        </p:spPr>
      </p:sp>
      <p:sp>
        <p:nvSpPr>
          <p:cNvPr id="9" name="Out arrow"/>
          <p:cNvSpPr/>
          <p:nvPr/>
        </p:nvSpPr>
        <p:spPr>
          <a:xfrm>
            <a:off x="5230368" y="2898648"/>
            <a:ext cx="146304" cy="0"/>
          </a:xfrm>
          <a:prstGeom prst="line">
            <a:avLst/>
          </a:prstGeom>
          <a:noFill/>
          <a:ln w="19050">
            <a:solidFill>
              <a:schemeClr val="tx2"/>
            </a:solidFill>
            <a:prstDash val="solid"/>
            <a:tailEnd type="triangle"/>
          </a:ln>
        </p:spPr>
      </p:sp>
      <p:sp>
        <p:nvSpPr>
          <p:cNvPr id="10" name="Outputs"/>
          <p:cNvSpPr/>
          <p:nvPr/>
        </p:nvSpPr>
        <p:spPr>
          <a:xfrm>
            <a:off x="5394960" y="1280160"/>
            <a:ext cx="3291840" cy="3154680"/>
          </a:xfrm>
          <a:prstGeom prst="roundRect">
            <a:avLst>
              <a:gd name="adj" fmla="val 2319"/>
            </a:avLst>
          </a:prstGeom>
          <a:solidFill>
            <a:schemeClr val="bg2"/>
          </a:solidFill>
          <a:ln/>
        </p:spPr>
      </p:sp>
      <p:sp>
        <p:nvSpPr>
          <p:cNvPr id="11" name="Text 9"/>
          <p:cNvSpPr txBox="1"/>
          <p:nvPr/>
        </p:nvSpPr>
        <p:spPr>
          <a:xfrm>
            <a:off x="5577840" y="1417320"/>
            <a:ext cx="2926080" cy="320040"/>
          </a:xfrm>
          <a:prstGeom prst="rect">
            <a:avLst/>
          </a:prstGeom>
          <a:noFill/>
          <a:ln/>
        </p:spPr>
        <p:txBody>
          <a:bodyPr wrap="square" lIns="0" tIns="0" rIns="0" bIns="0" rtlCol="0" anchor="t"/>
          <a:lstStyle/>
          <a:p>
            <a:pPr marL="0" indent="0">
              <a:buNone/>
            </a:pPr>
            <a:r>
              <a:rPr lang="en-US" sz="1600" b="1" dirty="0">
                <a:solidFill>
                  <a:schemeClr val="accent1"/>
                </a:solidFill>
              </a:rPr>
              <a:t>Outputs</a:t>
            </a:r>
            <a:endParaRPr lang="en-US" sz="1600" dirty="0"/>
          </a:p>
        </p:txBody>
      </p:sp>
      <p:sp>
        <p:nvSpPr>
          <p:cNvPr id="12" name="Text 10"/>
          <p:cNvSpPr txBox="1"/>
          <p:nvPr/>
        </p:nvSpPr>
        <p:spPr>
          <a:xfrm>
            <a:off x="5577840" y="1828800"/>
            <a:ext cx="2926080" cy="10972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Where to lift off</a:t>
            </a:r>
            <a:endParaRPr lang="en-US" sz="1400" dirty="0"/>
          </a:p>
          <a:p>
            <a:pPr marL="177800" indent="-177800">
              <a:spcAft>
                <a:spcPts val="600"/>
              </a:spcAft>
              <a:buSzPct val="100000"/>
              <a:buChar char="•"/>
            </a:pPr>
            <a:r>
              <a:rPr lang="en-US" sz="1400" dirty="0">
                <a:solidFill>
                  <a:schemeClr val="tx1"/>
                </a:solidFill>
              </a:rPr>
              <a:t>Coast or brake command</a:t>
            </a:r>
            <a:endParaRPr lang="en-US" sz="1400" dirty="0"/>
          </a:p>
        </p:txBody>
      </p:sp>
      <p:sp>
        <p:nvSpPr>
          <p:cNvPr id="13" name="Text 11"/>
          <p:cNvSpPr txBox="1"/>
          <p:nvPr/>
        </p:nvSpPr>
        <p:spPr>
          <a:xfrm>
            <a:off x="5577840" y="3017520"/>
            <a:ext cx="2926080" cy="1280160"/>
          </a:xfrm>
          <a:prstGeom prst="rect">
            <a:avLst/>
          </a:prstGeom>
          <a:noFill/>
          <a:ln/>
        </p:spPr>
        <p:txBody>
          <a:bodyPr wrap="square" lIns="0" tIns="0" rIns="0" bIns="0" rtlCol="0" anchor="t"/>
          <a:lstStyle/>
          <a:p>
            <a:pPr marL="0" indent="0">
              <a:buNone/>
            </a:pPr>
            <a:r>
              <a:rPr lang="en-US" sz="1400" i="1" dirty="0">
                <a:solidFill>
                  <a:schemeClr val="tx2"/>
                </a:solidFill>
              </a:rPr>
              <a:t>The relationship does not depend on the map. A new map only supplies new turns.</a:t>
            </a:r>
            <a:endParaRPr lang="en-US" sz="14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4  CONCEPT FORMULATION</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Physics baseline for lift-off</a:t>
            </a:r>
            <a:endParaRPr lang="en-US" sz="2800" dirty="0"/>
          </a:p>
        </p:txBody>
      </p:sp>
      <p:sp>
        <p:nvSpPr>
          <p:cNvPr id="5" name="Formula"/>
          <p:cNvSpPr/>
          <p:nvPr/>
        </p:nvSpPr>
        <p:spPr>
          <a:xfrm>
            <a:off x="457200" y="1280160"/>
            <a:ext cx="3657600" cy="3154680"/>
          </a:xfrm>
          <a:prstGeom prst="roundRect">
            <a:avLst>
              <a:gd name="adj" fmla="val 2319"/>
            </a:avLst>
          </a:prstGeom>
          <a:solidFill>
            <a:schemeClr val="bg2"/>
          </a:solidFill>
          <a:ln/>
        </p:spPr>
      </p:sp>
      <p:sp>
        <p:nvSpPr>
          <p:cNvPr id="6" name="Text 3"/>
          <p:cNvSpPr txBox="1"/>
          <p:nvPr/>
        </p:nvSpPr>
        <p:spPr>
          <a:xfrm>
            <a:off x="640080" y="1417320"/>
            <a:ext cx="3291840" cy="457200"/>
          </a:xfrm>
          <a:prstGeom prst="rect">
            <a:avLst/>
          </a:prstGeom>
          <a:noFill/>
          <a:ln/>
        </p:spPr>
        <p:txBody>
          <a:bodyPr wrap="square" lIns="0" tIns="0" rIns="0" bIns="0" rtlCol="0" anchor="t"/>
          <a:lstStyle/>
          <a:p>
            <a:pPr marL="0" indent="0">
              <a:buNone/>
            </a:pPr>
            <a:r>
              <a:rPr lang="en-US" sz="2200" b="1" dirty="0">
                <a:solidFill>
                  <a:schemeClr val="accent2"/>
                </a:solidFill>
                <a:latin typeface="Cambria" pitchFamily="34" charset="0"/>
                <a:ea typeface="Cambria" pitchFamily="34" charset="-122"/>
                <a:cs typeface="Cambria" pitchFamily="34" charset="-120"/>
              </a:rPr>
              <a:t>d = (v₁² − v₂²) / 2a</a:t>
            </a:r>
            <a:endParaRPr lang="en-US" sz="2200" dirty="0"/>
          </a:p>
        </p:txBody>
      </p:sp>
      <p:sp>
        <p:nvSpPr>
          <p:cNvPr id="7" name="Text 4"/>
          <p:cNvSpPr txBox="1"/>
          <p:nvPr/>
        </p:nvSpPr>
        <p:spPr>
          <a:xfrm>
            <a:off x="640080" y="2011680"/>
            <a:ext cx="3291840" cy="23774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a is the coasting deceleration: drag, rolling resistance and engine braking</a:t>
            </a:r>
            <a:endParaRPr lang="en-US" sz="1400" dirty="0"/>
          </a:p>
          <a:p>
            <a:pPr marL="177800" indent="-177800">
              <a:spcAft>
                <a:spcPts val="600"/>
              </a:spcAft>
              <a:buSzPct val="100000"/>
              <a:buChar char="•"/>
            </a:pPr>
            <a:r>
              <a:rPr lang="en-US" sz="1400" dirty="0">
                <a:solidFill>
                  <a:schemeClr val="tx1"/>
                </a:solidFill>
              </a:rPr>
              <a:t>Measured from coast-down tests in CARLA</a:t>
            </a:r>
            <a:endParaRPr lang="en-US" sz="1400" dirty="0"/>
          </a:p>
          <a:p>
            <a:pPr marL="177800" indent="-177800">
              <a:spcAft>
                <a:spcPts val="600"/>
              </a:spcAft>
              <a:buSzPct val="100000"/>
              <a:buChar char="•"/>
            </a:pPr>
            <a:r>
              <a:rPr lang="en-US" sz="1400" dirty="0">
                <a:solidFill>
                  <a:schemeClr val="tx1"/>
                </a:solidFill>
              </a:rPr>
              <a:t>Example: 40 to 15 km/h with a = 0.25 m/s² gives d ≈ 212 m (illustrative)</a:t>
            </a:r>
            <a:endParaRPr lang="en-US" sz="1400" dirty="0"/>
          </a:p>
        </p:txBody>
      </p:sp>
      <p:graphicFrame>
        <p:nvGraphicFramePr>
          <p:cNvPr id="8" name="Chart 0"/>
          <p:cNvGraphicFramePr/>
          <p:nvPr/>
        </p:nvGraphicFramePr>
        <p:xfrm>
          <a:off x="4297680" y="1234440"/>
          <a:ext cx="438912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5"/>
          <p:cNvSpPr txBox="1"/>
          <p:nvPr/>
        </p:nvSpPr>
        <p:spPr>
          <a:xfrm>
            <a:off x="4297680" y="4160520"/>
            <a:ext cx="4389120" cy="365760"/>
          </a:xfrm>
          <a:prstGeom prst="rect">
            <a:avLst/>
          </a:prstGeom>
          <a:noFill/>
          <a:ln/>
        </p:spPr>
        <p:txBody>
          <a:bodyPr wrap="square" lIns="0" tIns="0" rIns="0" bIns="0" rtlCol="0" anchor="t"/>
          <a:lstStyle/>
          <a:p>
            <a:pPr marL="0" indent="0">
              <a:buNone/>
            </a:pPr>
            <a:r>
              <a:rPr lang="en-US" sz="1100" i="1" dirty="0">
                <a:solidFill>
                  <a:schemeClr val="tx2"/>
                </a:solidFill>
              </a:rPr>
              <a:t>Illustrative schematic from the formula with an assumed a = 0.25 m/s². Not simulator data.</a:t>
            </a:r>
            <a:endParaRPr lang="en-US" sz="11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4  CONCEPT FORMULATION</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Fuel model concept</a:t>
            </a:r>
            <a:endParaRPr lang="en-US" sz="2800" dirty="0"/>
          </a:p>
        </p:txBody>
      </p:sp>
      <p:sp>
        <p:nvSpPr>
          <p:cNvPr id="4" name="Fuel 1"/>
          <p:cNvSpPr/>
          <p:nvPr/>
        </p:nvSpPr>
        <p:spPr>
          <a:xfrm>
            <a:off x="457200" y="1280160"/>
            <a:ext cx="4023360" cy="1463040"/>
          </a:xfrm>
          <a:prstGeom prst="roundRect">
            <a:avLst>
              <a:gd name="adj" fmla="val 5000"/>
            </a:avLst>
          </a:prstGeom>
          <a:solidFill>
            <a:schemeClr val="bg2"/>
          </a:solidFill>
          <a:ln/>
        </p:spPr>
      </p:sp>
      <p:sp>
        <p:nvSpPr>
          <p:cNvPr id="5" name="Text 3"/>
          <p:cNvSpPr txBox="1"/>
          <p:nvPr/>
        </p:nvSpPr>
        <p:spPr>
          <a:xfrm>
            <a:off x="640080" y="1417320"/>
            <a:ext cx="3657600" cy="320040"/>
          </a:xfrm>
          <a:prstGeom prst="rect">
            <a:avLst/>
          </a:prstGeom>
          <a:noFill/>
          <a:ln/>
        </p:spPr>
        <p:txBody>
          <a:bodyPr wrap="square" lIns="0" tIns="0" rIns="0" bIns="0" rtlCol="0" anchor="t"/>
          <a:lstStyle/>
          <a:p>
            <a:pPr marL="0" indent="0">
              <a:buNone/>
            </a:pPr>
            <a:r>
              <a:rPr lang="en-US" sz="1600" b="1" dirty="0">
                <a:solidFill>
                  <a:schemeClr val="accent2"/>
                </a:solidFill>
              </a:rPr>
              <a:t>No native fuel output</a:t>
            </a:r>
            <a:endParaRPr lang="en-US" sz="1600" dirty="0"/>
          </a:p>
        </p:txBody>
      </p:sp>
      <p:sp>
        <p:nvSpPr>
          <p:cNvPr id="6" name="Text 4"/>
          <p:cNvSpPr txBox="1"/>
          <p:nvPr/>
        </p:nvSpPr>
        <p:spPr>
          <a:xfrm>
            <a:off x="640080" y="1783080"/>
            <a:ext cx="3657600" cy="822960"/>
          </a:xfrm>
          <a:prstGeom prst="rect">
            <a:avLst/>
          </a:prstGeom>
          <a:noFill/>
          <a:ln/>
        </p:spPr>
        <p:txBody>
          <a:bodyPr wrap="square" lIns="0" tIns="0" rIns="0" bIns="0" rtlCol="0" anchor="t"/>
          <a:lstStyle/>
          <a:p>
            <a:pPr marL="0" indent="0">
              <a:buNone/>
            </a:pPr>
            <a:r>
              <a:rPr lang="en-US" sz="1400" dirty="0">
                <a:solidFill>
                  <a:schemeClr val="tx1"/>
                </a:solidFill>
              </a:rPr>
              <a:t>CARLA does not report fuel. We compute it from logged speed, throttle and vehicle physics.</a:t>
            </a:r>
            <a:endParaRPr lang="en-US" sz="1400" dirty="0"/>
          </a:p>
        </p:txBody>
      </p:sp>
      <p:sp>
        <p:nvSpPr>
          <p:cNvPr id="7" name="Fuel 2"/>
          <p:cNvSpPr/>
          <p:nvPr/>
        </p:nvSpPr>
        <p:spPr>
          <a:xfrm>
            <a:off x="4663440" y="1280160"/>
            <a:ext cx="4023360" cy="1463040"/>
          </a:xfrm>
          <a:prstGeom prst="roundRect">
            <a:avLst>
              <a:gd name="adj" fmla="val 5000"/>
            </a:avLst>
          </a:prstGeom>
          <a:solidFill>
            <a:schemeClr val="bg2"/>
          </a:solidFill>
          <a:ln/>
        </p:spPr>
      </p:sp>
      <p:sp>
        <p:nvSpPr>
          <p:cNvPr id="8" name="Text 6"/>
          <p:cNvSpPr txBox="1"/>
          <p:nvPr/>
        </p:nvSpPr>
        <p:spPr>
          <a:xfrm>
            <a:off x="4846320" y="1417320"/>
            <a:ext cx="3657600" cy="320040"/>
          </a:xfrm>
          <a:prstGeom prst="rect">
            <a:avLst/>
          </a:prstGeom>
          <a:noFill/>
          <a:ln/>
        </p:spPr>
        <p:txBody>
          <a:bodyPr wrap="square" lIns="0" tIns="0" rIns="0" bIns="0" rtlCol="0" anchor="t"/>
          <a:lstStyle/>
          <a:p>
            <a:pPr marL="0" indent="0">
              <a:buNone/>
            </a:pPr>
            <a:r>
              <a:rPr lang="en-US" sz="1600" b="1" dirty="0">
                <a:solidFill>
                  <a:schemeClr val="accent2"/>
                </a:solidFill>
              </a:rPr>
              <a:t>Candidate: VT-Micro</a:t>
            </a:r>
            <a:endParaRPr lang="en-US" sz="1600" dirty="0"/>
          </a:p>
        </p:txBody>
      </p:sp>
      <p:sp>
        <p:nvSpPr>
          <p:cNvPr id="9" name="Text 7"/>
          <p:cNvSpPr txBox="1"/>
          <p:nvPr/>
        </p:nvSpPr>
        <p:spPr>
          <a:xfrm>
            <a:off x="4846320" y="1783080"/>
            <a:ext cx="3657600" cy="822960"/>
          </a:xfrm>
          <a:prstGeom prst="rect">
            <a:avLst/>
          </a:prstGeom>
          <a:noFill/>
          <a:ln/>
        </p:spPr>
        <p:txBody>
          <a:bodyPr wrap="square" lIns="0" tIns="0" rIns="0" bIns="0" rtlCol="0" anchor="t"/>
          <a:lstStyle/>
          <a:p>
            <a:pPr marL="0" indent="0">
              <a:buNone/>
            </a:pPr>
            <a:r>
              <a:rPr lang="en-US" sz="1400" dirty="0">
                <a:solidFill>
                  <a:schemeClr val="tx1"/>
                </a:solidFill>
              </a:rPr>
              <a:t>A published model that estimates fuel from speed and acceleration [3][4].</a:t>
            </a:r>
            <a:endParaRPr lang="en-US" sz="1400" dirty="0"/>
          </a:p>
        </p:txBody>
      </p:sp>
      <p:sp>
        <p:nvSpPr>
          <p:cNvPr id="10" name="Fuel 3"/>
          <p:cNvSpPr/>
          <p:nvPr/>
        </p:nvSpPr>
        <p:spPr>
          <a:xfrm>
            <a:off x="457200" y="2880360"/>
            <a:ext cx="4023360" cy="1463040"/>
          </a:xfrm>
          <a:prstGeom prst="roundRect">
            <a:avLst>
              <a:gd name="adj" fmla="val 5000"/>
            </a:avLst>
          </a:prstGeom>
          <a:solidFill>
            <a:schemeClr val="bg2"/>
          </a:solidFill>
          <a:ln/>
        </p:spPr>
      </p:sp>
      <p:sp>
        <p:nvSpPr>
          <p:cNvPr id="11" name="Text 9"/>
          <p:cNvSpPr txBox="1"/>
          <p:nvPr/>
        </p:nvSpPr>
        <p:spPr>
          <a:xfrm>
            <a:off x="640080" y="3017520"/>
            <a:ext cx="3657600" cy="320040"/>
          </a:xfrm>
          <a:prstGeom prst="rect">
            <a:avLst/>
          </a:prstGeom>
          <a:noFill/>
          <a:ln/>
        </p:spPr>
        <p:txBody>
          <a:bodyPr wrap="square" lIns="0" tIns="0" rIns="0" bIns="0" rtlCol="0" anchor="t"/>
          <a:lstStyle/>
          <a:p>
            <a:pPr marL="0" indent="0">
              <a:buNone/>
            </a:pPr>
            <a:r>
              <a:rPr lang="en-US" sz="1600" b="1" dirty="0">
                <a:solidFill>
                  <a:schemeClr val="accent1"/>
                </a:solidFill>
              </a:rPr>
              <a:t>Must encode fuel cut-off</a:t>
            </a:r>
            <a:endParaRPr lang="en-US" sz="1600" dirty="0"/>
          </a:p>
        </p:txBody>
      </p:sp>
      <p:sp>
        <p:nvSpPr>
          <p:cNvPr id="12" name="Text 10"/>
          <p:cNvSpPr txBox="1"/>
          <p:nvPr/>
        </p:nvSpPr>
        <p:spPr>
          <a:xfrm>
            <a:off x="640080" y="3383280"/>
            <a:ext cx="3657600" cy="822960"/>
          </a:xfrm>
          <a:prstGeom prst="rect">
            <a:avLst/>
          </a:prstGeom>
          <a:noFill/>
          <a:ln/>
        </p:spPr>
        <p:txBody>
          <a:bodyPr wrap="square" lIns="0" tIns="0" rIns="0" bIns="0" rtlCol="0" anchor="t"/>
          <a:lstStyle/>
          <a:p>
            <a:pPr marL="0" indent="0">
              <a:buNone/>
            </a:pPr>
            <a:r>
              <a:rPr lang="en-US" sz="1400" dirty="0">
                <a:solidFill>
                  <a:schemeClr val="tx1"/>
                </a:solidFill>
              </a:rPr>
              <a:t>A real engine uses almost no fuel when lifting off at speed. Without this, coasting shows no saving.</a:t>
            </a:r>
            <a:endParaRPr lang="en-US" sz="1400" dirty="0"/>
          </a:p>
        </p:txBody>
      </p:sp>
      <p:sp>
        <p:nvSpPr>
          <p:cNvPr id="13" name="Fuel 4"/>
          <p:cNvSpPr/>
          <p:nvPr/>
        </p:nvSpPr>
        <p:spPr>
          <a:xfrm>
            <a:off x="4663440" y="2880360"/>
            <a:ext cx="4023360" cy="1463040"/>
          </a:xfrm>
          <a:prstGeom prst="roundRect">
            <a:avLst>
              <a:gd name="adj" fmla="val 5000"/>
            </a:avLst>
          </a:prstGeom>
          <a:solidFill>
            <a:schemeClr val="bg2"/>
          </a:solidFill>
          <a:ln/>
        </p:spPr>
      </p:sp>
      <p:sp>
        <p:nvSpPr>
          <p:cNvPr id="14" name="Text 12"/>
          <p:cNvSpPr txBox="1"/>
          <p:nvPr/>
        </p:nvSpPr>
        <p:spPr>
          <a:xfrm>
            <a:off x="4846320" y="3017520"/>
            <a:ext cx="3657600" cy="320040"/>
          </a:xfrm>
          <a:prstGeom prst="rect">
            <a:avLst/>
          </a:prstGeom>
          <a:noFill/>
          <a:ln/>
        </p:spPr>
        <p:txBody>
          <a:bodyPr wrap="square" lIns="0" tIns="0" rIns="0" bIns="0" rtlCol="0" anchor="t"/>
          <a:lstStyle/>
          <a:p>
            <a:pPr marL="0" indent="0">
              <a:buNone/>
            </a:pPr>
            <a:r>
              <a:rPr lang="en-US" sz="1600" b="1" dirty="0">
                <a:solidFill>
                  <a:schemeClr val="accent2"/>
                </a:solidFill>
              </a:rPr>
              <a:t>One model for all runs</a:t>
            </a:r>
            <a:endParaRPr lang="en-US" sz="1600" dirty="0"/>
          </a:p>
        </p:txBody>
      </p:sp>
      <p:sp>
        <p:nvSpPr>
          <p:cNvPr id="15" name="Text 13"/>
          <p:cNvSpPr txBox="1"/>
          <p:nvPr/>
        </p:nvSpPr>
        <p:spPr>
          <a:xfrm>
            <a:off x="4846320" y="3383280"/>
            <a:ext cx="3657600" cy="822960"/>
          </a:xfrm>
          <a:prstGeom prst="rect">
            <a:avLst/>
          </a:prstGeom>
          <a:noFill/>
          <a:ln/>
        </p:spPr>
        <p:txBody>
          <a:bodyPr wrap="square" lIns="0" tIns="0" rIns="0" bIns="0" rtlCol="0" anchor="t"/>
          <a:lstStyle/>
          <a:p>
            <a:pPr marL="0" indent="0">
              <a:buNone/>
            </a:pPr>
            <a:r>
              <a:rPr lang="en-US" sz="1400" dirty="0">
                <a:solidFill>
                  <a:schemeClr val="tx1"/>
                </a:solidFill>
              </a:rPr>
              <a:t>The same fuel model scores the baseline driver and ALiCoFSS, so the comparison is fair.</a:t>
            </a:r>
            <a:endParaRPr lang="en-US" sz="1400" dirty="0"/>
          </a:p>
        </p:txBody>
      </p:sp>
      <p:sp>
        <p:nvSpPr>
          <p:cNvPr id="16" name="Text 14"/>
          <p:cNvSpPr txBox="1"/>
          <p:nvPr/>
        </p:nvSpPr>
        <p:spPr>
          <a:xfrm>
            <a:off x="457200" y="4526280"/>
            <a:ext cx="8229600" cy="228600"/>
          </a:xfrm>
          <a:prstGeom prst="rect">
            <a:avLst/>
          </a:prstGeom>
          <a:noFill/>
          <a:ln/>
        </p:spPr>
        <p:txBody>
          <a:bodyPr wrap="square" lIns="0" tIns="0" rIns="0" bIns="0" rtlCol="0" anchor="t"/>
          <a:lstStyle/>
          <a:p>
            <a:pPr marL="0" indent="0">
              <a:buNone/>
            </a:pPr>
            <a:r>
              <a:rPr lang="en-US" sz="1200" i="1" dirty="0">
                <a:solidFill>
                  <a:schemeClr val="tx2"/>
                </a:solidFill>
              </a:rPr>
              <a:t>The final choice will be defended after checking how VT-Micro treats deceleration.</a:t>
            </a:r>
            <a:endParaRPr lang="en-US" sz="12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5  PRELIMINARY PROJECT PLAN</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Objectives</a:t>
            </a:r>
            <a:endParaRPr lang="en-US" sz="2800" dirty="0"/>
          </a:p>
        </p:txBody>
      </p:sp>
      <p:sp>
        <p:nvSpPr>
          <p:cNvPr id="4" name="Objective 1"/>
          <p:cNvSpPr/>
          <p:nvPr/>
        </p:nvSpPr>
        <p:spPr>
          <a:xfrm>
            <a:off x="457200" y="1280160"/>
            <a:ext cx="8229600" cy="548640"/>
          </a:xfrm>
          <a:prstGeom prst="roundRect">
            <a:avLst>
              <a:gd name="adj" fmla="val 13333"/>
            </a:avLst>
          </a:prstGeom>
          <a:solidFill>
            <a:schemeClr val="bg2"/>
          </a:solidFill>
          <a:ln/>
        </p:spPr>
      </p:sp>
      <p:sp>
        <p:nvSpPr>
          <p:cNvPr id="5" name="Number 1"/>
          <p:cNvSpPr/>
          <p:nvPr/>
        </p:nvSpPr>
        <p:spPr>
          <a:xfrm>
            <a:off x="566928" y="1353312"/>
            <a:ext cx="402336" cy="402336"/>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Text 4"/>
          <p:cNvSpPr txBox="1"/>
          <p:nvPr/>
        </p:nvSpPr>
        <p:spPr>
          <a:xfrm>
            <a:off x="1143000" y="1280160"/>
            <a:ext cx="7406640" cy="548640"/>
          </a:xfrm>
          <a:prstGeom prst="rect">
            <a:avLst/>
          </a:prstGeom>
          <a:noFill/>
          <a:ln/>
        </p:spPr>
        <p:txBody>
          <a:bodyPr wrap="square" lIns="0" tIns="0" rIns="0" bIns="0" rtlCol="0" anchor="ctr"/>
          <a:lstStyle/>
          <a:p>
            <a:pPr marL="0" indent="0">
              <a:buNone/>
            </a:pPr>
            <a:r>
              <a:rPr lang="en-US" sz="1500" dirty="0">
                <a:solidFill>
                  <a:schemeClr val="tx1"/>
                </a:solidFill>
              </a:rPr>
              <a:t>Build a CARLA simulation with sharp-turn routes and logged vehicle data</a:t>
            </a:r>
            <a:endParaRPr lang="en-US" sz="1500" dirty="0"/>
          </a:p>
        </p:txBody>
      </p:sp>
      <p:sp>
        <p:nvSpPr>
          <p:cNvPr id="7" name="Objective 2"/>
          <p:cNvSpPr/>
          <p:nvPr/>
        </p:nvSpPr>
        <p:spPr>
          <a:xfrm>
            <a:off x="457200" y="1920240"/>
            <a:ext cx="8229600" cy="548640"/>
          </a:xfrm>
          <a:prstGeom prst="roundRect">
            <a:avLst>
              <a:gd name="adj" fmla="val 13333"/>
            </a:avLst>
          </a:prstGeom>
          <a:solidFill>
            <a:schemeClr val="bg2"/>
          </a:solidFill>
          <a:ln/>
        </p:spPr>
      </p:sp>
      <p:sp>
        <p:nvSpPr>
          <p:cNvPr id="8" name="Number 2"/>
          <p:cNvSpPr/>
          <p:nvPr/>
        </p:nvSpPr>
        <p:spPr>
          <a:xfrm>
            <a:off x="566928" y="1993392"/>
            <a:ext cx="402336" cy="402336"/>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Text 7"/>
          <p:cNvSpPr txBox="1"/>
          <p:nvPr/>
        </p:nvSpPr>
        <p:spPr>
          <a:xfrm>
            <a:off x="1143000" y="1920240"/>
            <a:ext cx="7406640" cy="548640"/>
          </a:xfrm>
          <a:prstGeom prst="rect">
            <a:avLst/>
          </a:prstGeom>
          <a:noFill/>
          <a:ln/>
        </p:spPr>
        <p:txBody>
          <a:bodyPr wrap="square" lIns="0" tIns="0" rIns="0" bIns="0" rtlCol="0" anchor="ctr"/>
          <a:lstStyle/>
          <a:p>
            <a:pPr marL="0" indent="0">
              <a:buNone/>
            </a:pPr>
            <a:r>
              <a:rPr lang="en-US" sz="1500" dirty="0">
                <a:solidFill>
                  <a:schemeClr val="tx1"/>
                </a:solidFill>
              </a:rPr>
              <a:t>Measure the simulated vehicle's coasting deceleration and define the analytic lift-off baseline</a:t>
            </a:r>
            <a:endParaRPr lang="en-US" sz="1500" dirty="0"/>
          </a:p>
        </p:txBody>
      </p:sp>
      <p:sp>
        <p:nvSpPr>
          <p:cNvPr id="10" name="Objective 3"/>
          <p:cNvSpPr/>
          <p:nvPr/>
        </p:nvSpPr>
        <p:spPr>
          <a:xfrm>
            <a:off x="457200" y="2560320"/>
            <a:ext cx="8229600" cy="548640"/>
          </a:xfrm>
          <a:prstGeom prst="roundRect">
            <a:avLst>
              <a:gd name="adj" fmla="val 13333"/>
            </a:avLst>
          </a:prstGeom>
          <a:solidFill>
            <a:schemeClr val="bg2"/>
          </a:solidFill>
          <a:ln/>
        </p:spPr>
      </p:sp>
      <p:sp>
        <p:nvSpPr>
          <p:cNvPr id="11" name="Number 3"/>
          <p:cNvSpPr/>
          <p:nvPr/>
        </p:nvSpPr>
        <p:spPr>
          <a:xfrm>
            <a:off x="566928" y="2633472"/>
            <a:ext cx="402336" cy="402336"/>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2" name="Text 10"/>
          <p:cNvSpPr txBox="1"/>
          <p:nvPr/>
        </p:nvSpPr>
        <p:spPr>
          <a:xfrm>
            <a:off x="1143000" y="2560320"/>
            <a:ext cx="7406640" cy="548640"/>
          </a:xfrm>
          <a:prstGeom prst="rect">
            <a:avLst/>
          </a:prstGeom>
          <a:noFill/>
          <a:ln/>
        </p:spPr>
        <p:txBody>
          <a:bodyPr wrap="square" lIns="0" tIns="0" rIns="0" bIns="0" rtlCol="0" anchor="ctr"/>
          <a:lstStyle/>
          <a:p>
            <a:pPr marL="0" indent="0">
              <a:buNone/>
            </a:pPr>
            <a:r>
              <a:rPr lang="en-US" sz="1500" dirty="0">
                <a:solidFill>
                  <a:schemeClr val="tx1"/>
                </a:solidFill>
              </a:rPr>
              <a:t>Define a human-style baseline driver and one fuel model to compare against</a:t>
            </a:r>
            <a:endParaRPr lang="en-US" sz="1500" dirty="0"/>
          </a:p>
        </p:txBody>
      </p:sp>
      <p:sp>
        <p:nvSpPr>
          <p:cNvPr id="13" name="Objective 4"/>
          <p:cNvSpPr/>
          <p:nvPr/>
        </p:nvSpPr>
        <p:spPr>
          <a:xfrm>
            <a:off x="457200" y="3200400"/>
            <a:ext cx="8229600" cy="548640"/>
          </a:xfrm>
          <a:prstGeom prst="roundRect">
            <a:avLst>
              <a:gd name="adj" fmla="val 13333"/>
            </a:avLst>
          </a:prstGeom>
          <a:solidFill>
            <a:schemeClr val="bg2"/>
          </a:solidFill>
          <a:ln/>
        </p:spPr>
      </p:sp>
      <p:sp>
        <p:nvSpPr>
          <p:cNvPr id="14" name="Number 4"/>
          <p:cNvSpPr/>
          <p:nvPr/>
        </p:nvSpPr>
        <p:spPr>
          <a:xfrm>
            <a:off x="566928" y="3273552"/>
            <a:ext cx="402336" cy="402336"/>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5" name="Text 13"/>
          <p:cNvSpPr txBox="1"/>
          <p:nvPr/>
        </p:nvSpPr>
        <p:spPr>
          <a:xfrm>
            <a:off x="1143000" y="3200400"/>
            <a:ext cx="7406640" cy="548640"/>
          </a:xfrm>
          <a:prstGeom prst="rect">
            <a:avLst/>
          </a:prstGeom>
          <a:noFill/>
          <a:ln/>
        </p:spPr>
        <p:txBody>
          <a:bodyPr wrap="square" lIns="0" tIns="0" rIns="0" bIns="0" rtlCol="0" anchor="ctr"/>
          <a:lstStyle/>
          <a:p>
            <a:pPr marL="0" indent="0">
              <a:buNone/>
            </a:pPr>
            <a:r>
              <a:rPr lang="en-US" sz="1500" dirty="0">
                <a:solidFill>
                  <a:schemeClr val="tx1"/>
                </a:solidFill>
              </a:rPr>
              <a:t>Train an ML model that decides lift-off across vehicle states, surfaces and maps</a:t>
            </a:r>
            <a:endParaRPr lang="en-US" sz="1500" dirty="0"/>
          </a:p>
        </p:txBody>
      </p:sp>
      <p:sp>
        <p:nvSpPr>
          <p:cNvPr id="16" name="Objective 5"/>
          <p:cNvSpPr/>
          <p:nvPr/>
        </p:nvSpPr>
        <p:spPr>
          <a:xfrm>
            <a:off x="457200" y="3840480"/>
            <a:ext cx="8229600" cy="548640"/>
          </a:xfrm>
          <a:prstGeom prst="roundRect">
            <a:avLst>
              <a:gd name="adj" fmla="val 13333"/>
            </a:avLst>
          </a:prstGeom>
          <a:solidFill>
            <a:schemeClr val="bg2"/>
          </a:solidFill>
          <a:ln/>
        </p:spPr>
      </p:sp>
      <p:sp>
        <p:nvSpPr>
          <p:cNvPr id="17" name="Number 5"/>
          <p:cNvSpPr/>
          <p:nvPr/>
        </p:nvSpPr>
        <p:spPr>
          <a:xfrm>
            <a:off x="566928" y="3913632"/>
            <a:ext cx="402336" cy="402336"/>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18" name="Text 16"/>
          <p:cNvSpPr txBox="1"/>
          <p:nvPr/>
        </p:nvSpPr>
        <p:spPr>
          <a:xfrm>
            <a:off x="1143000" y="3840480"/>
            <a:ext cx="7406640" cy="548640"/>
          </a:xfrm>
          <a:prstGeom prst="rect">
            <a:avLst/>
          </a:prstGeom>
          <a:noFill/>
          <a:ln/>
        </p:spPr>
        <p:txBody>
          <a:bodyPr wrap="square" lIns="0" tIns="0" rIns="0" bIns="0" rtlCol="0" anchor="ctr"/>
          <a:lstStyle/>
          <a:p>
            <a:pPr marL="0" indent="0">
              <a:buNone/>
            </a:pPr>
            <a:r>
              <a:rPr lang="en-US" sz="1500" dirty="0">
                <a:solidFill>
                  <a:schemeClr val="tx1"/>
                </a:solidFill>
              </a:rPr>
              <a:t>Compare fuel per turn event and brake use against the baseline, with the safety override respected</a:t>
            </a:r>
            <a:endParaRPr lang="en-US" sz="15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5  PRELIMINARY PROJECT PLAN</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Methodology</a:t>
            </a:r>
            <a:endParaRPr lang="en-US" sz="2800" dirty="0"/>
          </a:p>
        </p:txBody>
      </p:sp>
      <p:sp>
        <p:nvSpPr>
          <p:cNvPr id="4" name="Step 1"/>
          <p:cNvSpPr/>
          <p:nvPr/>
        </p:nvSpPr>
        <p:spPr>
          <a:xfrm>
            <a:off x="457200" y="1280160"/>
            <a:ext cx="2651760" cy="1463040"/>
          </a:xfrm>
          <a:prstGeom prst="roundRect">
            <a:avLst>
              <a:gd name="adj" fmla="val 5000"/>
            </a:avLst>
          </a:prstGeom>
          <a:solidFill>
            <a:schemeClr val="bg2"/>
          </a:solidFill>
          <a:ln/>
        </p:spPr>
      </p:sp>
      <p:sp>
        <p:nvSpPr>
          <p:cNvPr id="5" name="Number 1"/>
          <p:cNvSpPr/>
          <p:nvPr/>
        </p:nvSpPr>
        <p:spPr>
          <a:xfrm>
            <a:off x="594360" y="1417320"/>
            <a:ext cx="329184" cy="329184"/>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Text 4"/>
          <p:cNvSpPr txBox="1"/>
          <p:nvPr/>
        </p:nvSpPr>
        <p:spPr>
          <a:xfrm>
            <a:off x="1024128" y="1417320"/>
            <a:ext cx="1965960" cy="329184"/>
          </a:xfrm>
          <a:prstGeom prst="rect">
            <a:avLst/>
          </a:prstGeom>
          <a:noFill/>
          <a:ln/>
        </p:spPr>
        <p:txBody>
          <a:bodyPr wrap="square" lIns="0" tIns="0" rIns="0" bIns="0" rtlCol="0" anchor="ctr"/>
          <a:lstStyle/>
          <a:p>
            <a:pPr marL="0" indent="0">
              <a:buNone/>
            </a:pPr>
            <a:r>
              <a:rPr lang="en-US" sz="1400" b="1" dirty="0">
                <a:solidFill>
                  <a:schemeClr val="tx1"/>
                </a:solidFill>
              </a:rPr>
              <a:t>Set up and log</a:t>
            </a:r>
            <a:endParaRPr lang="en-US" sz="1400" dirty="0"/>
          </a:p>
        </p:txBody>
      </p:sp>
      <p:sp>
        <p:nvSpPr>
          <p:cNvPr id="7" name="Text 5"/>
          <p:cNvSpPr txBox="1"/>
          <p:nvPr/>
        </p:nvSpPr>
        <p:spPr>
          <a:xfrm>
            <a:off x="594360" y="1847088"/>
            <a:ext cx="2377440" cy="868680"/>
          </a:xfrm>
          <a:prstGeom prst="rect">
            <a:avLst/>
          </a:prstGeom>
          <a:noFill/>
          <a:ln/>
        </p:spPr>
        <p:txBody>
          <a:bodyPr wrap="square" lIns="0" tIns="0" rIns="0" bIns="0" rtlCol="0" anchor="t"/>
          <a:lstStyle/>
          <a:p>
            <a:pPr marL="0" indent="0">
              <a:buNone/>
            </a:pPr>
            <a:r>
              <a:rPr lang="en-US" sz="1300" dirty="0">
                <a:solidFill>
                  <a:schemeClr val="tx1"/>
                </a:solidFill>
              </a:rPr>
              <a:t>CARLA with a fixed timestep, GNSS and IMU sensors, and CSV logging.</a:t>
            </a:r>
            <a:endParaRPr lang="en-US" sz="1300" dirty="0"/>
          </a:p>
        </p:txBody>
      </p:sp>
      <p:sp>
        <p:nvSpPr>
          <p:cNvPr id="8" name="Step 2"/>
          <p:cNvSpPr/>
          <p:nvPr/>
        </p:nvSpPr>
        <p:spPr>
          <a:xfrm>
            <a:off x="3246120" y="1280160"/>
            <a:ext cx="2651760" cy="1463040"/>
          </a:xfrm>
          <a:prstGeom prst="roundRect">
            <a:avLst>
              <a:gd name="adj" fmla="val 5000"/>
            </a:avLst>
          </a:prstGeom>
          <a:solidFill>
            <a:schemeClr val="bg2"/>
          </a:solidFill>
          <a:ln/>
        </p:spPr>
      </p:sp>
      <p:sp>
        <p:nvSpPr>
          <p:cNvPr id="9" name="Number 2"/>
          <p:cNvSpPr/>
          <p:nvPr/>
        </p:nvSpPr>
        <p:spPr>
          <a:xfrm>
            <a:off x="3383280" y="1417320"/>
            <a:ext cx="329184" cy="329184"/>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0" name="Text 8"/>
          <p:cNvSpPr txBox="1"/>
          <p:nvPr/>
        </p:nvSpPr>
        <p:spPr>
          <a:xfrm>
            <a:off x="3813048" y="1417320"/>
            <a:ext cx="1965960" cy="329184"/>
          </a:xfrm>
          <a:prstGeom prst="rect">
            <a:avLst/>
          </a:prstGeom>
          <a:noFill/>
          <a:ln/>
        </p:spPr>
        <p:txBody>
          <a:bodyPr wrap="square" lIns="0" tIns="0" rIns="0" bIns="0" rtlCol="0" anchor="ctr"/>
          <a:lstStyle/>
          <a:p>
            <a:pPr marL="0" indent="0">
              <a:buNone/>
            </a:pPr>
            <a:r>
              <a:rPr lang="en-US" sz="1400" b="1" dirty="0">
                <a:solidFill>
                  <a:schemeClr val="tx1"/>
                </a:solidFill>
              </a:rPr>
              <a:t>Coast-down tests</a:t>
            </a:r>
            <a:endParaRPr lang="en-US" sz="1400" dirty="0"/>
          </a:p>
        </p:txBody>
      </p:sp>
      <p:sp>
        <p:nvSpPr>
          <p:cNvPr id="11" name="Text 9"/>
          <p:cNvSpPr txBox="1"/>
          <p:nvPr/>
        </p:nvSpPr>
        <p:spPr>
          <a:xfrm>
            <a:off x="3383280" y="1847088"/>
            <a:ext cx="2377440" cy="868680"/>
          </a:xfrm>
          <a:prstGeom prst="rect">
            <a:avLst/>
          </a:prstGeom>
          <a:noFill/>
          <a:ln/>
        </p:spPr>
        <p:txBody>
          <a:bodyPr wrap="square" lIns="0" tIns="0" rIns="0" bIns="0" rtlCol="0" anchor="t"/>
          <a:lstStyle/>
          <a:p>
            <a:pPr marL="0" indent="0">
              <a:buNone/>
            </a:pPr>
            <a:r>
              <a:rPr lang="en-US" sz="1300" dirty="0">
                <a:solidFill>
                  <a:schemeClr val="tx1"/>
                </a:solidFill>
              </a:rPr>
              <a:t>Release the throttle from several speeds and log the slowdown. Check for engine braking.</a:t>
            </a:r>
            <a:endParaRPr lang="en-US" sz="1300" dirty="0"/>
          </a:p>
        </p:txBody>
      </p:sp>
      <p:sp>
        <p:nvSpPr>
          <p:cNvPr id="12" name="Step 3"/>
          <p:cNvSpPr/>
          <p:nvPr/>
        </p:nvSpPr>
        <p:spPr>
          <a:xfrm>
            <a:off x="6035040" y="1280160"/>
            <a:ext cx="2651760" cy="1463040"/>
          </a:xfrm>
          <a:prstGeom prst="roundRect">
            <a:avLst>
              <a:gd name="adj" fmla="val 5000"/>
            </a:avLst>
          </a:prstGeom>
          <a:solidFill>
            <a:schemeClr val="bg2"/>
          </a:solidFill>
          <a:ln/>
        </p:spPr>
      </p:sp>
      <p:sp>
        <p:nvSpPr>
          <p:cNvPr id="13" name="Number 3"/>
          <p:cNvSpPr/>
          <p:nvPr/>
        </p:nvSpPr>
        <p:spPr>
          <a:xfrm>
            <a:off x="6172200" y="1417320"/>
            <a:ext cx="329184" cy="329184"/>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4" name="Text 12"/>
          <p:cNvSpPr txBox="1"/>
          <p:nvPr/>
        </p:nvSpPr>
        <p:spPr>
          <a:xfrm>
            <a:off x="6601968" y="1417320"/>
            <a:ext cx="1965960" cy="329184"/>
          </a:xfrm>
          <a:prstGeom prst="rect">
            <a:avLst/>
          </a:prstGeom>
          <a:noFill/>
          <a:ln/>
        </p:spPr>
        <p:txBody>
          <a:bodyPr wrap="square" lIns="0" tIns="0" rIns="0" bIns="0" rtlCol="0" anchor="ctr"/>
          <a:lstStyle/>
          <a:p>
            <a:pPr marL="0" indent="0">
              <a:buNone/>
            </a:pPr>
            <a:r>
              <a:rPr lang="en-US" sz="1400" b="1" dirty="0">
                <a:solidFill>
                  <a:schemeClr val="tx1"/>
                </a:solidFill>
              </a:rPr>
              <a:t>Baseline and fuel model</a:t>
            </a:r>
            <a:endParaRPr lang="en-US" sz="1400" dirty="0"/>
          </a:p>
        </p:txBody>
      </p:sp>
      <p:sp>
        <p:nvSpPr>
          <p:cNvPr id="15" name="Text 13"/>
          <p:cNvSpPr txBox="1"/>
          <p:nvPr/>
        </p:nvSpPr>
        <p:spPr>
          <a:xfrm>
            <a:off x="6172200" y="1847088"/>
            <a:ext cx="2377440" cy="868680"/>
          </a:xfrm>
          <a:prstGeom prst="rect">
            <a:avLst/>
          </a:prstGeom>
          <a:noFill/>
          <a:ln/>
        </p:spPr>
        <p:txBody>
          <a:bodyPr wrap="square" lIns="0" tIns="0" rIns="0" bIns="0" rtlCol="0" anchor="t"/>
          <a:lstStyle/>
          <a:p>
            <a:pPr marL="0" indent="0">
              <a:buNone/>
            </a:pPr>
            <a:r>
              <a:rPr lang="en-US" sz="1300" dirty="0">
                <a:solidFill>
                  <a:schemeClr val="tx1"/>
                </a:solidFill>
              </a:rPr>
              <a:t>Script a late-braking human-style driver. Fix one fuel model for all runs.</a:t>
            </a:r>
            <a:endParaRPr lang="en-US" sz="1300" dirty="0"/>
          </a:p>
        </p:txBody>
      </p:sp>
      <p:sp>
        <p:nvSpPr>
          <p:cNvPr id="16" name="Step 4"/>
          <p:cNvSpPr/>
          <p:nvPr/>
        </p:nvSpPr>
        <p:spPr>
          <a:xfrm>
            <a:off x="457200" y="2880360"/>
            <a:ext cx="2651760" cy="1463040"/>
          </a:xfrm>
          <a:prstGeom prst="roundRect">
            <a:avLst>
              <a:gd name="adj" fmla="val 5000"/>
            </a:avLst>
          </a:prstGeom>
          <a:solidFill>
            <a:schemeClr val="bg2"/>
          </a:solidFill>
          <a:ln/>
        </p:spPr>
      </p:sp>
      <p:sp>
        <p:nvSpPr>
          <p:cNvPr id="17" name="Number 4"/>
          <p:cNvSpPr/>
          <p:nvPr/>
        </p:nvSpPr>
        <p:spPr>
          <a:xfrm>
            <a:off x="594360" y="3017520"/>
            <a:ext cx="329184" cy="329184"/>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8" name="Text 16"/>
          <p:cNvSpPr txBox="1"/>
          <p:nvPr/>
        </p:nvSpPr>
        <p:spPr>
          <a:xfrm>
            <a:off x="1024128" y="3017520"/>
            <a:ext cx="1965960" cy="329184"/>
          </a:xfrm>
          <a:prstGeom prst="rect">
            <a:avLst/>
          </a:prstGeom>
          <a:noFill/>
          <a:ln/>
        </p:spPr>
        <p:txBody>
          <a:bodyPr wrap="square" lIns="0" tIns="0" rIns="0" bIns="0" rtlCol="0" anchor="ctr"/>
          <a:lstStyle/>
          <a:p>
            <a:pPr marL="0" indent="0">
              <a:buNone/>
            </a:pPr>
            <a:r>
              <a:rPr lang="en-US" sz="1400" b="1" dirty="0">
                <a:solidFill>
                  <a:schemeClr val="tx1"/>
                </a:solidFill>
              </a:rPr>
              <a:t>Vary conditions</a:t>
            </a:r>
            <a:endParaRPr lang="en-US" sz="1400" dirty="0"/>
          </a:p>
        </p:txBody>
      </p:sp>
      <p:sp>
        <p:nvSpPr>
          <p:cNvPr id="19" name="Text 17"/>
          <p:cNvSpPr txBox="1"/>
          <p:nvPr/>
        </p:nvSpPr>
        <p:spPr>
          <a:xfrm>
            <a:off x="594360" y="3447288"/>
            <a:ext cx="2377440" cy="868680"/>
          </a:xfrm>
          <a:prstGeom prst="rect">
            <a:avLst/>
          </a:prstGeom>
          <a:noFill/>
          <a:ln/>
        </p:spPr>
        <p:txBody>
          <a:bodyPr wrap="square" lIns="0" tIns="0" rIns="0" bIns="0" rtlCol="0" anchor="t"/>
          <a:lstStyle/>
          <a:p>
            <a:pPr marL="0" indent="0">
              <a:buNone/>
            </a:pPr>
            <a:r>
              <a:rPr lang="en-US" sz="1300" dirty="0">
                <a:solidFill>
                  <a:schemeClr val="tx1"/>
                </a:solidFill>
              </a:rPr>
              <a:t>Vehicle variants through physics settings, surfaces through friction, several maps.</a:t>
            </a:r>
            <a:endParaRPr lang="en-US" sz="1300" dirty="0"/>
          </a:p>
        </p:txBody>
      </p:sp>
      <p:sp>
        <p:nvSpPr>
          <p:cNvPr id="20" name="Step 5"/>
          <p:cNvSpPr/>
          <p:nvPr/>
        </p:nvSpPr>
        <p:spPr>
          <a:xfrm>
            <a:off x="3246120" y="2880360"/>
            <a:ext cx="2651760" cy="1463040"/>
          </a:xfrm>
          <a:prstGeom prst="roundRect">
            <a:avLst>
              <a:gd name="adj" fmla="val 5000"/>
            </a:avLst>
          </a:prstGeom>
          <a:solidFill>
            <a:schemeClr val="bg2"/>
          </a:solidFill>
          <a:ln/>
        </p:spPr>
      </p:sp>
      <p:sp>
        <p:nvSpPr>
          <p:cNvPr id="21" name="Number 5"/>
          <p:cNvSpPr/>
          <p:nvPr/>
        </p:nvSpPr>
        <p:spPr>
          <a:xfrm>
            <a:off x="3383280" y="3017520"/>
            <a:ext cx="329184" cy="329184"/>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2" name="Text 20"/>
          <p:cNvSpPr txBox="1"/>
          <p:nvPr/>
        </p:nvSpPr>
        <p:spPr>
          <a:xfrm>
            <a:off x="3813048" y="3017520"/>
            <a:ext cx="1965960" cy="329184"/>
          </a:xfrm>
          <a:prstGeom prst="rect">
            <a:avLst/>
          </a:prstGeom>
          <a:noFill/>
          <a:ln/>
        </p:spPr>
        <p:txBody>
          <a:bodyPr wrap="square" lIns="0" tIns="0" rIns="0" bIns="0" rtlCol="0" anchor="ctr"/>
          <a:lstStyle/>
          <a:p>
            <a:pPr marL="0" indent="0">
              <a:buNone/>
            </a:pPr>
            <a:r>
              <a:rPr lang="en-US" sz="1400" b="1" dirty="0">
                <a:solidFill>
                  <a:schemeClr val="tx1"/>
                </a:solidFill>
              </a:rPr>
              <a:t>Train and compare</a:t>
            </a:r>
            <a:endParaRPr lang="en-US" sz="1400" dirty="0"/>
          </a:p>
        </p:txBody>
      </p:sp>
      <p:sp>
        <p:nvSpPr>
          <p:cNvPr id="23" name="Text 21"/>
          <p:cNvSpPr txBox="1"/>
          <p:nvPr/>
        </p:nvSpPr>
        <p:spPr>
          <a:xfrm>
            <a:off x="3383280" y="3447288"/>
            <a:ext cx="2377440" cy="868680"/>
          </a:xfrm>
          <a:prstGeom prst="rect">
            <a:avLst/>
          </a:prstGeom>
          <a:noFill/>
          <a:ln/>
        </p:spPr>
        <p:txBody>
          <a:bodyPr wrap="square" lIns="0" tIns="0" rIns="0" bIns="0" rtlCol="0" anchor="t"/>
          <a:lstStyle/>
          <a:p>
            <a:pPr marL="0" indent="0">
              <a:buNone/>
            </a:pPr>
            <a:r>
              <a:rPr lang="en-US" sz="1300" dirty="0">
                <a:solidFill>
                  <a:schemeClr val="tx1"/>
                </a:solidFill>
              </a:rPr>
              <a:t>Train on some maps and conditions, test on held-out. Compare with the analytic baseline.</a:t>
            </a:r>
            <a:endParaRPr lang="en-US" sz="1300" dirty="0"/>
          </a:p>
        </p:txBody>
      </p:sp>
      <p:sp>
        <p:nvSpPr>
          <p:cNvPr id="24" name="Step 6"/>
          <p:cNvSpPr/>
          <p:nvPr/>
        </p:nvSpPr>
        <p:spPr>
          <a:xfrm>
            <a:off x="6035040" y="2880360"/>
            <a:ext cx="2651760" cy="1463040"/>
          </a:xfrm>
          <a:prstGeom prst="roundRect">
            <a:avLst>
              <a:gd name="adj" fmla="val 5000"/>
            </a:avLst>
          </a:prstGeom>
          <a:solidFill>
            <a:schemeClr val="bg2"/>
          </a:solidFill>
          <a:ln/>
        </p:spPr>
      </p:sp>
      <p:sp>
        <p:nvSpPr>
          <p:cNvPr id="25" name="Number 6"/>
          <p:cNvSpPr/>
          <p:nvPr/>
        </p:nvSpPr>
        <p:spPr>
          <a:xfrm>
            <a:off x="6172200" y="3017520"/>
            <a:ext cx="329184" cy="329184"/>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26" name="Text 24"/>
          <p:cNvSpPr txBox="1"/>
          <p:nvPr/>
        </p:nvSpPr>
        <p:spPr>
          <a:xfrm>
            <a:off x="6601968" y="3017520"/>
            <a:ext cx="1965960" cy="329184"/>
          </a:xfrm>
          <a:prstGeom prst="rect">
            <a:avLst/>
          </a:prstGeom>
          <a:noFill/>
          <a:ln/>
        </p:spPr>
        <p:txBody>
          <a:bodyPr wrap="square" lIns="0" tIns="0" rIns="0" bIns="0" rtlCol="0" anchor="ctr"/>
          <a:lstStyle/>
          <a:p>
            <a:pPr marL="0" indent="0">
              <a:buNone/>
            </a:pPr>
            <a:r>
              <a:rPr lang="en-US" sz="1400" b="1" dirty="0">
                <a:solidFill>
                  <a:schemeClr val="tx1"/>
                </a:solidFill>
              </a:rPr>
              <a:t>Measure</a:t>
            </a:r>
            <a:endParaRPr lang="en-US" sz="1400" dirty="0"/>
          </a:p>
        </p:txBody>
      </p:sp>
      <p:sp>
        <p:nvSpPr>
          <p:cNvPr id="27" name="Text 25"/>
          <p:cNvSpPr txBox="1"/>
          <p:nvPr/>
        </p:nvSpPr>
        <p:spPr>
          <a:xfrm>
            <a:off x="6172200" y="3447288"/>
            <a:ext cx="2377440" cy="868680"/>
          </a:xfrm>
          <a:prstGeom prst="rect">
            <a:avLst/>
          </a:prstGeom>
          <a:noFill/>
          <a:ln/>
        </p:spPr>
        <p:txBody>
          <a:bodyPr wrap="square" lIns="0" tIns="0" rIns="0" bIns="0" rtlCol="0" anchor="t"/>
          <a:lstStyle/>
          <a:p>
            <a:pPr marL="0" indent="0">
              <a:buNone/>
            </a:pPr>
            <a:r>
              <a:rPr lang="en-US" sz="1300" dirty="0">
                <a:solidFill>
                  <a:schemeClr val="tx1"/>
                </a:solidFill>
              </a:rPr>
              <a:t>Fuel per turn event, brake use, turn-speed error and override checks.</a:t>
            </a:r>
            <a:endParaRPr lang="en-US" sz="1300" dirty="0"/>
          </a:p>
        </p:txBody>
      </p:sp>
      <p:sp>
        <p:nvSpPr>
          <p:cNvPr id="28"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5  PRELIMINARY PROJECT PLAN</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Roles and ownership</a:t>
            </a:r>
            <a:endParaRPr lang="en-US" sz="2800" dirty="0"/>
          </a:p>
        </p:txBody>
      </p:sp>
      <p:sp>
        <p:nvSpPr>
          <p:cNvPr id="4" name="Role EEE"/>
          <p:cNvSpPr/>
          <p:nvPr/>
        </p:nvSpPr>
        <p:spPr>
          <a:xfrm>
            <a:off x="457200" y="1280160"/>
            <a:ext cx="2651760" cy="2606040"/>
          </a:xfrm>
          <a:prstGeom prst="roundRect">
            <a:avLst>
              <a:gd name="adj" fmla="val 2807"/>
            </a:avLst>
          </a:prstGeom>
          <a:solidFill>
            <a:schemeClr val="bg2"/>
          </a:solidFill>
          <a:ln/>
        </p:spPr>
      </p:sp>
      <p:sp>
        <p:nvSpPr>
          <p:cNvPr id="5" name="Text 3"/>
          <p:cNvSpPr txBox="1"/>
          <p:nvPr/>
        </p:nvSpPr>
        <p:spPr>
          <a:xfrm>
            <a:off x="640080" y="1417320"/>
            <a:ext cx="2286000" cy="320040"/>
          </a:xfrm>
          <a:prstGeom prst="rect">
            <a:avLst/>
          </a:prstGeom>
          <a:noFill/>
          <a:ln/>
        </p:spPr>
        <p:txBody>
          <a:bodyPr wrap="square" lIns="0" tIns="0" rIns="0" bIns="0" rtlCol="0" anchor="t"/>
          <a:lstStyle/>
          <a:p>
            <a:pPr marL="0" indent="0">
              <a:buNone/>
            </a:pPr>
            <a:r>
              <a:rPr lang="en-US" sz="1800" b="1" dirty="0">
                <a:solidFill>
                  <a:schemeClr val="accent2"/>
                </a:solidFill>
              </a:rPr>
              <a:t>EEE</a:t>
            </a:r>
            <a:endParaRPr lang="en-US" sz="1800" dirty="0"/>
          </a:p>
        </p:txBody>
      </p:sp>
      <p:sp>
        <p:nvSpPr>
          <p:cNvPr id="6" name="Text 4"/>
          <p:cNvSpPr txBox="1"/>
          <p:nvPr/>
        </p:nvSpPr>
        <p:spPr>
          <a:xfrm>
            <a:off x="640080" y="1874520"/>
            <a:ext cx="2331720" cy="1920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CARLA setup and sensor logging</a:t>
            </a:r>
            <a:endParaRPr lang="en-US" sz="1400" dirty="0"/>
          </a:p>
          <a:p>
            <a:pPr marL="177800" indent="-177800">
              <a:spcAft>
                <a:spcPts val="600"/>
              </a:spcAft>
              <a:buSzPct val="100000"/>
              <a:buChar char="•"/>
            </a:pPr>
            <a:r>
              <a:rPr lang="en-US" sz="1400" dirty="0">
                <a:solidFill>
                  <a:schemeClr val="tx1"/>
                </a:solidFill>
              </a:rPr>
              <a:t>Coasting physics baseline</a:t>
            </a:r>
            <a:endParaRPr lang="en-US" sz="1400" dirty="0"/>
          </a:p>
          <a:p>
            <a:pPr marL="177800" indent="-177800">
              <a:spcAft>
                <a:spcPts val="600"/>
              </a:spcAft>
              <a:buSzPct val="100000"/>
              <a:buChar char="•"/>
            </a:pPr>
            <a:r>
              <a:rPr lang="en-US" sz="1400" dirty="0">
                <a:solidFill>
                  <a:schemeClr val="tx1"/>
                </a:solidFill>
              </a:rPr>
              <a:t>Fuel model</a:t>
            </a:r>
            <a:endParaRPr lang="en-US" sz="1400" dirty="0"/>
          </a:p>
          <a:p>
            <a:pPr marL="177800" indent="-177800">
              <a:spcAft>
                <a:spcPts val="600"/>
              </a:spcAft>
              <a:buSzPct val="100000"/>
              <a:buChar char="•"/>
            </a:pPr>
            <a:r>
              <a:rPr lang="en-US" sz="1400" dirty="0">
                <a:solidFill>
                  <a:schemeClr val="tx1"/>
                </a:solidFill>
              </a:rPr>
              <a:t>Decision logic</a:t>
            </a:r>
            <a:endParaRPr lang="en-US" sz="1400" dirty="0"/>
          </a:p>
        </p:txBody>
      </p:sp>
      <p:sp>
        <p:nvSpPr>
          <p:cNvPr id="7" name="Role Civil"/>
          <p:cNvSpPr/>
          <p:nvPr/>
        </p:nvSpPr>
        <p:spPr>
          <a:xfrm>
            <a:off x="3246120" y="1280160"/>
            <a:ext cx="2651760" cy="2606040"/>
          </a:xfrm>
          <a:prstGeom prst="roundRect">
            <a:avLst>
              <a:gd name="adj" fmla="val 2807"/>
            </a:avLst>
          </a:prstGeom>
          <a:solidFill>
            <a:schemeClr val="bg2"/>
          </a:solidFill>
          <a:ln/>
        </p:spPr>
      </p:sp>
      <p:sp>
        <p:nvSpPr>
          <p:cNvPr id="8" name="Text 6"/>
          <p:cNvSpPr txBox="1"/>
          <p:nvPr/>
        </p:nvSpPr>
        <p:spPr>
          <a:xfrm>
            <a:off x="3429000" y="1417320"/>
            <a:ext cx="2286000" cy="320040"/>
          </a:xfrm>
          <a:prstGeom prst="rect">
            <a:avLst/>
          </a:prstGeom>
          <a:noFill/>
          <a:ln/>
        </p:spPr>
        <p:txBody>
          <a:bodyPr wrap="square" lIns="0" tIns="0" rIns="0" bIns="0" rtlCol="0" anchor="t"/>
          <a:lstStyle/>
          <a:p>
            <a:pPr marL="0" indent="0">
              <a:buNone/>
            </a:pPr>
            <a:r>
              <a:rPr lang="en-US" sz="1800" b="1" dirty="0">
                <a:solidFill>
                  <a:schemeClr val="accent2"/>
                </a:solidFill>
              </a:rPr>
              <a:t>Civil</a:t>
            </a:r>
            <a:endParaRPr lang="en-US" sz="1800" dirty="0"/>
          </a:p>
        </p:txBody>
      </p:sp>
      <p:sp>
        <p:nvSpPr>
          <p:cNvPr id="9" name="Text 7"/>
          <p:cNvSpPr txBox="1"/>
          <p:nvPr/>
        </p:nvSpPr>
        <p:spPr>
          <a:xfrm>
            <a:off x="3429000" y="1874520"/>
            <a:ext cx="2331720" cy="1920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Turn and surface classes</a:t>
            </a:r>
            <a:endParaRPr lang="en-US" sz="1400" dirty="0"/>
          </a:p>
          <a:p>
            <a:pPr marL="177800" indent="-177800">
              <a:spcAft>
                <a:spcPts val="600"/>
              </a:spcAft>
              <a:buSzPct val="100000"/>
              <a:buChar char="•"/>
            </a:pPr>
            <a:r>
              <a:rPr lang="en-US" sz="1400" dirty="0">
                <a:solidFill>
                  <a:schemeClr val="tx1"/>
                </a:solidFill>
              </a:rPr>
              <a:t>Friction values with sources</a:t>
            </a:r>
            <a:endParaRPr lang="en-US" sz="1400" dirty="0"/>
          </a:p>
          <a:p>
            <a:pPr marL="177800" indent="-177800">
              <a:spcAft>
                <a:spcPts val="600"/>
              </a:spcAft>
              <a:buSzPct val="100000"/>
              <a:buChar char="•"/>
            </a:pPr>
            <a:r>
              <a:rPr lang="en-US" sz="1400" dirty="0">
                <a:solidFill>
                  <a:schemeClr val="tx1"/>
                </a:solidFill>
              </a:rPr>
              <a:t>Turn geometry from road design practice</a:t>
            </a:r>
            <a:endParaRPr lang="en-US" sz="1400" dirty="0"/>
          </a:p>
        </p:txBody>
      </p:sp>
      <p:sp>
        <p:nvSpPr>
          <p:cNvPr id="10" name="Role AI/ML"/>
          <p:cNvSpPr/>
          <p:nvPr/>
        </p:nvSpPr>
        <p:spPr>
          <a:xfrm>
            <a:off x="6035040" y="1280160"/>
            <a:ext cx="2651760" cy="2606040"/>
          </a:xfrm>
          <a:prstGeom prst="roundRect">
            <a:avLst>
              <a:gd name="adj" fmla="val 2807"/>
            </a:avLst>
          </a:prstGeom>
          <a:solidFill>
            <a:schemeClr val="bg2"/>
          </a:solidFill>
          <a:ln/>
        </p:spPr>
      </p:sp>
      <p:sp>
        <p:nvSpPr>
          <p:cNvPr id="11" name="Text 9"/>
          <p:cNvSpPr txBox="1"/>
          <p:nvPr/>
        </p:nvSpPr>
        <p:spPr>
          <a:xfrm>
            <a:off x="6217920" y="1417320"/>
            <a:ext cx="2286000" cy="320040"/>
          </a:xfrm>
          <a:prstGeom prst="rect">
            <a:avLst/>
          </a:prstGeom>
          <a:noFill/>
          <a:ln/>
        </p:spPr>
        <p:txBody>
          <a:bodyPr wrap="square" lIns="0" tIns="0" rIns="0" bIns="0" rtlCol="0" anchor="t"/>
          <a:lstStyle/>
          <a:p>
            <a:pPr marL="0" indent="0">
              <a:buNone/>
            </a:pPr>
            <a:r>
              <a:rPr lang="en-US" sz="1800" b="1" dirty="0">
                <a:solidFill>
                  <a:schemeClr val="accent2"/>
                </a:solidFill>
              </a:rPr>
              <a:t>AI/ML</a:t>
            </a:r>
            <a:endParaRPr lang="en-US" sz="1800" dirty="0"/>
          </a:p>
        </p:txBody>
      </p:sp>
      <p:sp>
        <p:nvSpPr>
          <p:cNvPr id="12" name="Text 10"/>
          <p:cNvSpPr txBox="1"/>
          <p:nvPr/>
        </p:nvSpPr>
        <p:spPr>
          <a:xfrm>
            <a:off x="6217920" y="1874520"/>
            <a:ext cx="2331720" cy="1920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ML literature review</a:t>
            </a:r>
            <a:endParaRPr lang="en-US" sz="1400" dirty="0"/>
          </a:p>
          <a:p>
            <a:pPr marL="177800" indent="-177800">
              <a:spcAft>
                <a:spcPts val="600"/>
              </a:spcAft>
              <a:buSzPct val="100000"/>
              <a:buChar char="•"/>
            </a:pPr>
            <a:r>
              <a:rPr lang="en-US" sz="1400" dirty="0">
                <a:solidFill>
                  <a:schemeClr val="tx1"/>
                </a:solidFill>
              </a:rPr>
              <a:t>Model inputs and outputs</a:t>
            </a:r>
            <a:endParaRPr lang="en-US" sz="1400" dirty="0"/>
          </a:p>
          <a:p>
            <a:pPr marL="177800" indent="-177800">
              <a:spcAft>
                <a:spcPts val="600"/>
              </a:spcAft>
              <a:buSzPct val="100000"/>
              <a:buChar char="•"/>
            </a:pPr>
            <a:r>
              <a:rPr lang="en-US" sz="1400" dirty="0">
                <a:solidFill>
                  <a:schemeClr val="tx1"/>
                </a:solidFill>
              </a:rPr>
              <a:t>Training data format</a:t>
            </a:r>
            <a:endParaRPr lang="en-US" sz="1400" dirty="0"/>
          </a:p>
          <a:p>
            <a:pPr marL="177800" indent="-177800">
              <a:spcAft>
                <a:spcPts val="600"/>
              </a:spcAft>
              <a:buSzPct val="100000"/>
              <a:buChar char="•"/>
            </a:pPr>
            <a:r>
              <a:rPr lang="en-US" sz="1400" dirty="0">
                <a:solidFill>
                  <a:schemeClr val="tx1"/>
                </a:solidFill>
              </a:rPr>
              <a:t>Adapting across vehicles and conditions</a:t>
            </a:r>
            <a:endParaRPr lang="en-US" sz="14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5  PRELIMINARY PROJECT PLAN</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Progress so far</a:t>
            </a:r>
            <a:endParaRPr lang="en-US" sz="2800" dirty="0"/>
          </a:p>
        </p:txBody>
      </p:sp>
      <p:sp>
        <p:nvSpPr>
          <p:cNvPr id="5" name="Done"/>
          <p:cNvSpPr/>
          <p:nvPr/>
        </p:nvSpPr>
        <p:spPr>
          <a:xfrm>
            <a:off x="457200" y="1280160"/>
            <a:ext cx="4023360" cy="2743200"/>
          </a:xfrm>
          <a:prstGeom prst="roundRect">
            <a:avLst>
              <a:gd name="adj" fmla="val 2667"/>
            </a:avLst>
          </a:prstGeom>
          <a:solidFill>
            <a:schemeClr val="bg2"/>
          </a:solidFill>
          <a:ln/>
        </p:spPr>
      </p:sp>
      <p:sp>
        <p:nvSpPr>
          <p:cNvPr id="6" name="Text 3"/>
          <p:cNvSpPr txBox="1"/>
          <p:nvPr/>
        </p:nvSpPr>
        <p:spPr>
          <a:xfrm>
            <a:off x="640080" y="1417320"/>
            <a:ext cx="3657600" cy="320040"/>
          </a:xfrm>
          <a:prstGeom prst="rect">
            <a:avLst/>
          </a:prstGeom>
          <a:noFill/>
          <a:ln/>
        </p:spPr>
        <p:txBody>
          <a:bodyPr wrap="square" lIns="0" tIns="0" rIns="0" bIns="0" rtlCol="0" anchor="t"/>
          <a:lstStyle/>
          <a:p>
            <a:pPr marL="0" indent="0">
              <a:buNone/>
            </a:pPr>
            <a:r>
              <a:rPr lang="en-US" sz="1600" b="1" dirty="0">
                <a:solidFill>
                  <a:schemeClr val="accent4"/>
                </a:solidFill>
              </a:rPr>
              <a:t>Done: working CARLA demo</a:t>
            </a:r>
            <a:endParaRPr lang="en-US" sz="1600" dirty="0"/>
          </a:p>
        </p:txBody>
      </p:sp>
      <p:sp>
        <p:nvSpPr>
          <p:cNvPr id="7" name="Text 4"/>
          <p:cNvSpPr txBox="1"/>
          <p:nvPr/>
        </p:nvSpPr>
        <p:spPr>
          <a:xfrm>
            <a:off x="640080" y="1828800"/>
            <a:ext cx="3657600" cy="21031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Map loaded and car spawned</a:t>
            </a:r>
            <a:endParaRPr lang="en-US" sz="1400" dirty="0"/>
          </a:p>
          <a:p>
            <a:pPr marL="177800" indent="-177800">
              <a:spcAft>
                <a:spcPts val="600"/>
              </a:spcAft>
              <a:buSzPct val="100000"/>
              <a:buChar char="•"/>
            </a:pPr>
            <a:r>
              <a:rPr lang="en-US" sz="1400" dirty="0">
                <a:solidFill>
                  <a:schemeClr val="tx1"/>
                </a:solidFill>
              </a:rPr>
              <a:t>GNSS sensor attached to the vehicle</a:t>
            </a:r>
            <a:endParaRPr lang="en-US" sz="1400" dirty="0"/>
          </a:p>
          <a:p>
            <a:pPr marL="177800" indent="-177800">
              <a:spcAft>
                <a:spcPts val="600"/>
              </a:spcAft>
              <a:buSzPct val="100000"/>
              <a:buChar char="•"/>
            </a:pPr>
            <a:r>
              <a:rPr lang="en-US" sz="1400" dirty="0">
                <a:solidFill>
                  <a:schemeClr val="tx1"/>
                </a:solidFill>
              </a:rPr>
              <a:t>Autopilot driving the car</a:t>
            </a:r>
            <a:endParaRPr lang="en-US" sz="1400" dirty="0"/>
          </a:p>
          <a:p>
            <a:pPr marL="177800" indent="-177800">
              <a:spcAft>
                <a:spcPts val="600"/>
              </a:spcAft>
              <a:buSzPct val="100000"/>
              <a:buChar char="•"/>
            </a:pPr>
            <a:r>
              <a:rPr lang="en-US" sz="1400" dirty="0">
                <a:solidFill>
                  <a:schemeClr val="tx1"/>
                </a:solidFill>
              </a:rPr>
              <a:t>Live speed, throttle, brake and steering values printed</a:t>
            </a:r>
            <a:endParaRPr lang="en-US" sz="1400" dirty="0"/>
          </a:p>
        </p:txBody>
      </p:sp>
      <p:sp>
        <p:nvSpPr>
          <p:cNvPr id="8" name="Next"/>
          <p:cNvSpPr/>
          <p:nvPr/>
        </p:nvSpPr>
        <p:spPr>
          <a:xfrm>
            <a:off x="4663440" y="1280160"/>
            <a:ext cx="4023360" cy="2743200"/>
          </a:xfrm>
          <a:prstGeom prst="roundRect">
            <a:avLst>
              <a:gd name="adj" fmla="val 2667"/>
            </a:avLst>
          </a:prstGeom>
          <a:solidFill>
            <a:schemeClr val="bg2"/>
          </a:solidFill>
          <a:ln/>
        </p:spPr>
      </p:sp>
      <p:sp>
        <p:nvSpPr>
          <p:cNvPr id="9" name="Text 6"/>
          <p:cNvSpPr txBox="1"/>
          <p:nvPr/>
        </p:nvSpPr>
        <p:spPr>
          <a:xfrm>
            <a:off x="4846320" y="1417320"/>
            <a:ext cx="3657600" cy="320040"/>
          </a:xfrm>
          <a:prstGeom prst="rect">
            <a:avLst/>
          </a:prstGeom>
          <a:noFill/>
          <a:ln/>
        </p:spPr>
        <p:txBody>
          <a:bodyPr wrap="square" lIns="0" tIns="0" rIns="0" bIns="0" rtlCol="0" anchor="t"/>
          <a:lstStyle/>
          <a:p>
            <a:pPr marL="0" indent="0">
              <a:buNone/>
            </a:pPr>
            <a:r>
              <a:rPr lang="en-US" sz="1600" b="1" dirty="0">
                <a:solidFill>
                  <a:schemeClr val="accent2"/>
                </a:solidFill>
              </a:rPr>
              <a:t>Next</a:t>
            </a:r>
            <a:endParaRPr lang="en-US" sz="1600" dirty="0"/>
          </a:p>
        </p:txBody>
      </p:sp>
      <p:sp>
        <p:nvSpPr>
          <p:cNvPr id="10" name="Text 7"/>
          <p:cNvSpPr txBox="1"/>
          <p:nvPr/>
        </p:nvSpPr>
        <p:spPr>
          <a:xfrm>
            <a:off x="4846320" y="1828800"/>
            <a:ext cx="3657600" cy="21031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Coast-down test from about 40 km/h</a:t>
            </a:r>
            <a:endParaRPr lang="en-US" sz="1400" dirty="0"/>
          </a:p>
          <a:p>
            <a:pPr marL="177800" indent="-177800">
              <a:spcAft>
                <a:spcPts val="600"/>
              </a:spcAft>
              <a:buSzPct val="100000"/>
              <a:buChar char="•"/>
            </a:pPr>
            <a:r>
              <a:rPr lang="en-US" sz="1400" dirty="0">
                <a:solidFill>
                  <a:schemeClr val="tx1"/>
                </a:solidFill>
              </a:rPr>
              <a:t>Fixed timestep so runs repeat</a:t>
            </a:r>
            <a:endParaRPr lang="en-US" sz="1400" dirty="0"/>
          </a:p>
          <a:p>
            <a:pPr marL="177800" indent="-177800">
              <a:spcAft>
                <a:spcPts val="600"/>
              </a:spcAft>
              <a:buSzPct val="100000"/>
              <a:buChar char="•"/>
            </a:pPr>
            <a:r>
              <a:rPr lang="en-US" sz="1400" dirty="0">
                <a:solidFill>
                  <a:schemeClr val="tx1"/>
                </a:solidFill>
              </a:rPr>
              <a:t>Add the IMU and log to CSV</a:t>
            </a:r>
            <a:endParaRPr lang="en-US" sz="1400" dirty="0"/>
          </a:p>
          <a:p>
            <a:pPr marL="177800" indent="-177800">
              <a:spcAft>
                <a:spcPts val="600"/>
              </a:spcAft>
              <a:buSzPct val="100000"/>
              <a:buChar char="•"/>
            </a:pPr>
            <a:r>
              <a:rPr lang="en-US" sz="1400" dirty="0">
                <a:solidFill>
                  <a:schemeClr val="tx1"/>
                </a:solidFill>
              </a:rPr>
              <a:t>Log a run through a sharp 90° turn</a:t>
            </a:r>
            <a:endParaRPr lang="en-US" sz="1400" dirty="0"/>
          </a:p>
        </p:txBody>
      </p:sp>
      <p:sp>
        <p:nvSpPr>
          <p:cNvPr id="11" name="Text 8"/>
          <p:cNvSpPr txBox="1"/>
          <p:nvPr/>
        </p:nvSpPr>
        <p:spPr>
          <a:xfrm>
            <a:off x="457200" y="4206240"/>
            <a:ext cx="8229600" cy="320040"/>
          </a:xfrm>
          <a:prstGeom prst="rect">
            <a:avLst/>
          </a:prstGeom>
          <a:noFill/>
          <a:ln/>
        </p:spPr>
        <p:txBody>
          <a:bodyPr wrap="square" lIns="0" tIns="0" rIns="0" bIns="0" rtlCol="0" anchor="t"/>
          <a:lstStyle/>
          <a:p>
            <a:pPr marL="0" indent="0">
              <a:buNone/>
            </a:pPr>
            <a:r>
              <a:rPr lang="en-US" sz="1300" i="1" dirty="0">
                <a:solidFill>
                  <a:schemeClr val="tx2"/>
                </a:solidFill>
              </a:rPr>
              <a:t>Control values read from the vehicle stand in for reading its control unit in a real car.</a:t>
            </a:r>
            <a:endParaRPr lang="en-US" sz="13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5  PRELIMINARY PROJECT PLAN</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Risks and open questions</a:t>
            </a:r>
            <a:endParaRPr lang="en-US" sz="2800" dirty="0"/>
          </a:p>
        </p:txBody>
      </p:sp>
      <p:sp>
        <p:nvSpPr>
          <p:cNvPr id="4" name="Text 2"/>
          <p:cNvSpPr txBox="1"/>
          <p:nvPr/>
        </p:nvSpPr>
        <p:spPr>
          <a:xfrm>
            <a:off x="640080" y="1188720"/>
            <a:ext cx="3657600" cy="228600"/>
          </a:xfrm>
          <a:prstGeom prst="rect">
            <a:avLst/>
          </a:prstGeom>
          <a:noFill/>
          <a:ln/>
        </p:spPr>
        <p:txBody>
          <a:bodyPr wrap="square" lIns="0" tIns="0" rIns="0" bIns="0" rtlCol="0" anchor="t"/>
          <a:lstStyle/>
          <a:p>
            <a:pPr marL="0" indent="0">
              <a:buNone/>
            </a:pPr>
            <a:r>
              <a:rPr lang="en-US" sz="1200" b="1" dirty="0">
                <a:solidFill>
                  <a:schemeClr val="tx2"/>
                </a:solidFill>
              </a:rPr>
              <a:t>Risk</a:t>
            </a:r>
            <a:endParaRPr lang="en-US" sz="1200" dirty="0"/>
          </a:p>
        </p:txBody>
      </p:sp>
      <p:sp>
        <p:nvSpPr>
          <p:cNvPr id="5" name="Text 3"/>
          <p:cNvSpPr txBox="1"/>
          <p:nvPr/>
        </p:nvSpPr>
        <p:spPr>
          <a:xfrm>
            <a:off x="4846320" y="1188720"/>
            <a:ext cx="3657600" cy="228600"/>
          </a:xfrm>
          <a:prstGeom prst="rect">
            <a:avLst/>
          </a:prstGeom>
          <a:noFill/>
          <a:ln/>
        </p:spPr>
        <p:txBody>
          <a:bodyPr wrap="square" lIns="0" tIns="0" rIns="0" bIns="0" rtlCol="0" anchor="t"/>
          <a:lstStyle/>
          <a:p>
            <a:pPr marL="0" indent="0">
              <a:buNone/>
            </a:pPr>
            <a:r>
              <a:rPr lang="en-US" sz="1200" b="1" dirty="0">
                <a:solidFill>
                  <a:schemeClr val="tx2"/>
                </a:solidFill>
              </a:rPr>
              <a:t>Plan</a:t>
            </a:r>
            <a:endParaRPr lang="en-US" sz="1200" dirty="0"/>
          </a:p>
        </p:txBody>
      </p:sp>
      <p:sp>
        <p:nvSpPr>
          <p:cNvPr id="6" name="Risk 1"/>
          <p:cNvSpPr/>
          <p:nvPr/>
        </p:nvSpPr>
        <p:spPr>
          <a:xfrm>
            <a:off x="457200" y="1463040"/>
            <a:ext cx="4023360" cy="676656"/>
          </a:xfrm>
          <a:prstGeom prst="roundRect">
            <a:avLst>
              <a:gd name="adj" fmla="val 10811"/>
            </a:avLst>
          </a:prstGeom>
          <a:solidFill>
            <a:schemeClr val="bg2"/>
          </a:solidFill>
          <a:ln/>
        </p:spPr>
      </p:sp>
      <p:sp>
        <p:nvSpPr>
          <p:cNvPr id="7" name="Text 5"/>
          <p:cNvSpPr txBox="1"/>
          <p:nvPr/>
        </p:nvSpPr>
        <p:spPr>
          <a:xfrm>
            <a:off x="640080" y="1463040"/>
            <a:ext cx="3657600" cy="676656"/>
          </a:xfrm>
          <a:prstGeom prst="rect">
            <a:avLst/>
          </a:prstGeom>
          <a:noFill/>
          <a:ln/>
        </p:spPr>
        <p:txBody>
          <a:bodyPr wrap="square" lIns="0" tIns="0" rIns="0" bIns="0" rtlCol="0" anchor="ctr"/>
          <a:lstStyle/>
          <a:p>
            <a:pPr marL="0" indent="0">
              <a:buNone/>
            </a:pPr>
            <a:r>
              <a:rPr lang="en-US" sz="1400" b="1" dirty="0">
                <a:solidFill>
                  <a:schemeClr val="accent1"/>
                </a:solidFill>
              </a:rPr>
              <a:t>Fuel model: </a:t>
            </a:r>
            <a:r>
              <a:rPr lang="en-US" sz="1400" dirty="0">
                <a:solidFill>
                  <a:schemeClr val="tx1"/>
                </a:solidFill>
              </a:rPr>
              <a:t>CARLA gives no fuel output.</a:t>
            </a:r>
            <a:endParaRPr lang="en-US" sz="1400" dirty="0"/>
          </a:p>
        </p:txBody>
      </p:sp>
      <p:sp>
        <p:nvSpPr>
          <p:cNvPr id="8" name="Risk arrow 1"/>
          <p:cNvSpPr/>
          <p:nvPr/>
        </p:nvSpPr>
        <p:spPr>
          <a:xfrm>
            <a:off x="4526280" y="1801368"/>
            <a:ext cx="91440" cy="0"/>
          </a:xfrm>
          <a:prstGeom prst="line">
            <a:avLst/>
          </a:prstGeom>
          <a:noFill/>
          <a:ln w="19050">
            <a:solidFill>
              <a:schemeClr val="tx2"/>
            </a:solidFill>
            <a:prstDash val="solid"/>
            <a:tailEnd type="triangle"/>
          </a:ln>
        </p:spPr>
      </p:sp>
      <p:sp>
        <p:nvSpPr>
          <p:cNvPr id="9" name="Plan 1"/>
          <p:cNvSpPr/>
          <p:nvPr/>
        </p:nvSpPr>
        <p:spPr>
          <a:xfrm>
            <a:off x="4663440" y="1463040"/>
            <a:ext cx="4023360" cy="676656"/>
          </a:xfrm>
          <a:prstGeom prst="roundRect">
            <a:avLst>
              <a:gd name="adj" fmla="val 10811"/>
            </a:avLst>
          </a:prstGeom>
          <a:solidFill>
            <a:schemeClr val="bg2"/>
          </a:solidFill>
          <a:ln/>
        </p:spPr>
      </p:sp>
      <p:sp>
        <p:nvSpPr>
          <p:cNvPr id="10" name="Text 8"/>
          <p:cNvSpPr txBox="1"/>
          <p:nvPr/>
        </p:nvSpPr>
        <p:spPr>
          <a:xfrm>
            <a:off x="4846320" y="1463040"/>
            <a:ext cx="3657600" cy="676656"/>
          </a:xfrm>
          <a:prstGeom prst="rect">
            <a:avLst/>
          </a:prstGeom>
          <a:noFill/>
          <a:ln/>
        </p:spPr>
        <p:txBody>
          <a:bodyPr wrap="square" lIns="0" tIns="0" rIns="0" bIns="0" rtlCol="0" anchor="ctr"/>
          <a:lstStyle/>
          <a:p>
            <a:pPr marL="0" indent="0">
              <a:buNone/>
            </a:pPr>
            <a:r>
              <a:rPr lang="en-US" sz="1400" dirty="0">
                <a:solidFill>
                  <a:schemeClr val="tx1"/>
                </a:solidFill>
              </a:rPr>
              <a:t>Compute from logs. Test VT-Micro and model fuel cut-off.</a:t>
            </a:r>
            <a:endParaRPr lang="en-US" sz="1400" dirty="0"/>
          </a:p>
        </p:txBody>
      </p:sp>
      <p:sp>
        <p:nvSpPr>
          <p:cNvPr id="11" name="Risk 2"/>
          <p:cNvSpPr/>
          <p:nvPr/>
        </p:nvSpPr>
        <p:spPr>
          <a:xfrm>
            <a:off x="457200" y="2231136"/>
            <a:ext cx="4023360" cy="676656"/>
          </a:xfrm>
          <a:prstGeom prst="roundRect">
            <a:avLst>
              <a:gd name="adj" fmla="val 10811"/>
            </a:avLst>
          </a:prstGeom>
          <a:solidFill>
            <a:schemeClr val="bg2"/>
          </a:solidFill>
          <a:ln/>
        </p:spPr>
      </p:sp>
      <p:sp>
        <p:nvSpPr>
          <p:cNvPr id="12" name="Text 10"/>
          <p:cNvSpPr txBox="1"/>
          <p:nvPr/>
        </p:nvSpPr>
        <p:spPr>
          <a:xfrm>
            <a:off x="640080" y="2231136"/>
            <a:ext cx="3657600" cy="676656"/>
          </a:xfrm>
          <a:prstGeom prst="rect">
            <a:avLst/>
          </a:prstGeom>
          <a:noFill/>
          <a:ln/>
        </p:spPr>
        <p:txBody>
          <a:bodyPr wrap="square" lIns="0" tIns="0" rIns="0" bIns="0" rtlCol="0" anchor="ctr"/>
          <a:lstStyle/>
          <a:p>
            <a:pPr marL="0" indent="0">
              <a:buNone/>
            </a:pPr>
            <a:r>
              <a:rPr lang="en-US" sz="1400" b="1" dirty="0">
                <a:solidFill>
                  <a:schemeClr val="accent1"/>
                </a:solidFill>
              </a:rPr>
              <a:t>Surface and weather: </a:t>
            </a:r>
            <a:r>
              <a:rPr lang="en-US" sz="1400" dirty="0">
                <a:solidFill>
                  <a:schemeClr val="tx1"/>
                </a:solidFill>
              </a:rPr>
              <a:t>CARLA weather may be mostly visual.</a:t>
            </a:r>
            <a:endParaRPr lang="en-US" sz="1400" dirty="0"/>
          </a:p>
        </p:txBody>
      </p:sp>
      <p:sp>
        <p:nvSpPr>
          <p:cNvPr id="13" name="Risk arrow 2"/>
          <p:cNvSpPr/>
          <p:nvPr/>
        </p:nvSpPr>
        <p:spPr>
          <a:xfrm>
            <a:off x="4526280" y="2569464"/>
            <a:ext cx="91440" cy="0"/>
          </a:xfrm>
          <a:prstGeom prst="line">
            <a:avLst/>
          </a:prstGeom>
          <a:noFill/>
          <a:ln w="19050">
            <a:solidFill>
              <a:schemeClr val="tx2"/>
            </a:solidFill>
            <a:prstDash val="solid"/>
            <a:tailEnd type="triangle"/>
          </a:ln>
        </p:spPr>
      </p:sp>
      <p:sp>
        <p:nvSpPr>
          <p:cNvPr id="14" name="Plan 2"/>
          <p:cNvSpPr/>
          <p:nvPr/>
        </p:nvSpPr>
        <p:spPr>
          <a:xfrm>
            <a:off x="4663440" y="2231136"/>
            <a:ext cx="4023360" cy="676656"/>
          </a:xfrm>
          <a:prstGeom prst="roundRect">
            <a:avLst>
              <a:gd name="adj" fmla="val 10811"/>
            </a:avLst>
          </a:prstGeom>
          <a:solidFill>
            <a:schemeClr val="bg2"/>
          </a:solidFill>
          <a:ln/>
        </p:spPr>
      </p:sp>
      <p:sp>
        <p:nvSpPr>
          <p:cNvPr id="15" name="Text 13"/>
          <p:cNvSpPr txBox="1"/>
          <p:nvPr/>
        </p:nvSpPr>
        <p:spPr>
          <a:xfrm>
            <a:off x="4846320" y="2231136"/>
            <a:ext cx="3657600" cy="676656"/>
          </a:xfrm>
          <a:prstGeom prst="rect">
            <a:avLst/>
          </a:prstGeom>
          <a:noFill/>
          <a:ln/>
        </p:spPr>
        <p:txBody>
          <a:bodyPr wrap="square" lIns="0" tIns="0" rIns="0" bIns="0" rtlCol="0" anchor="ctr"/>
          <a:lstStyle/>
          <a:p>
            <a:pPr marL="0" indent="0">
              <a:buNone/>
            </a:pPr>
            <a:r>
              <a:rPr lang="en-US" sz="1400" dirty="0">
                <a:solidFill>
                  <a:schemeClr val="tx1"/>
                </a:solidFill>
              </a:rPr>
              <a:t>Vary tyre friction directly, using sourced values.</a:t>
            </a:r>
            <a:endParaRPr lang="en-US" sz="1400" dirty="0"/>
          </a:p>
        </p:txBody>
      </p:sp>
      <p:sp>
        <p:nvSpPr>
          <p:cNvPr id="16" name="Risk 3"/>
          <p:cNvSpPr/>
          <p:nvPr/>
        </p:nvSpPr>
        <p:spPr>
          <a:xfrm>
            <a:off x="457200" y="2999232"/>
            <a:ext cx="4023360" cy="676656"/>
          </a:xfrm>
          <a:prstGeom prst="roundRect">
            <a:avLst>
              <a:gd name="adj" fmla="val 10811"/>
            </a:avLst>
          </a:prstGeom>
          <a:solidFill>
            <a:schemeClr val="bg2"/>
          </a:solidFill>
          <a:ln/>
        </p:spPr>
      </p:sp>
      <p:sp>
        <p:nvSpPr>
          <p:cNvPr id="17" name="Text 15"/>
          <p:cNvSpPr txBox="1"/>
          <p:nvPr/>
        </p:nvSpPr>
        <p:spPr>
          <a:xfrm>
            <a:off x="640080" y="2999232"/>
            <a:ext cx="3657600" cy="676656"/>
          </a:xfrm>
          <a:prstGeom prst="rect">
            <a:avLst/>
          </a:prstGeom>
          <a:noFill/>
          <a:ln/>
        </p:spPr>
        <p:txBody>
          <a:bodyPr wrap="square" lIns="0" tIns="0" rIns="0" bIns="0" rtlCol="0" anchor="ctr"/>
          <a:lstStyle/>
          <a:p>
            <a:pPr marL="0" indent="0">
              <a:buNone/>
            </a:pPr>
            <a:r>
              <a:rPr lang="en-US" sz="1400" b="1" dirty="0">
                <a:solidFill>
                  <a:schemeClr val="accent1"/>
                </a:solidFill>
              </a:rPr>
              <a:t>Baseline realism: </a:t>
            </a:r>
            <a:r>
              <a:rPr lang="en-US" sz="1400" dirty="0">
                <a:solidFill>
                  <a:schemeClr val="tx1"/>
                </a:solidFill>
              </a:rPr>
              <a:t>The autopilot is not a typical human driver.</a:t>
            </a:r>
            <a:endParaRPr lang="en-US" sz="1400" dirty="0"/>
          </a:p>
        </p:txBody>
      </p:sp>
      <p:sp>
        <p:nvSpPr>
          <p:cNvPr id="18" name="Risk arrow 3"/>
          <p:cNvSpPr/>
          <p:nvPr/>
        </p:nvSpPr>
        <p:spPr>
          <a:xfrm>
            <a:off x="4526280" y="3337560"/>
            <a:ext cx="91440" cy="0"/>
          </a:xfrm>
          <a:prstGeom prst="line">
            <a:avLst/>
          </a:prstGeom>
          <a:noFill/>
          <a:ln w="19050">
            <a:solidFill>
              <a:schemeClr val="tx2"/>
            </a:solidFill>
            <a:prstDash val="solid"/>
            <a:tailEnd type="triangle"/>
          </a:ln>
        </p:spPr>
      </p:sp>
      <p:sp>
        <p:nvSpPr>
          <p:cNvPr id="19" name="Plan 3"/>
          <p:cNvSpPr/>
          <p:nvPr/>
        </p:nvSpPr>
        <p:spPr>
          <a:xfrm>
            <a:off x="4663440" y="2999232"/>
            <a:ext cx="4023360" cy="676656"/>
          </a:xfrm>
          <a:prstGeom prst="roundRect">
            <a:avLst>
              <a:gd name="adj" fmla="val 10811"/>
            </a:avLst>
          </a:prstGeom>
          <a:solidFill>
            <a:schemeClr val="bg2"/>
          </a:solidFill>
          <a:ln/>
        </p:spPr>
      </p:sp>
      <p:sp>
        <p:nvSpPr>
          <p:cNvPr id="20" name="Text 18"/>
          <p:cNvSpPr txBox="1"/>
          <p:nvPr/>
        </p:nvSpPr>
        <p:spPr>
          <a:xfrm>
            <a:off x="4846320" y="2999232"/>
            <a:ext cx="3657600" cy="676656"/>
          </a:xfrm>
          <a:prstGeom prst="rect">
            <a:avLst/>
          </a:prstGeom>
          <a:noFill/>
          <a:ln/>
        </p:spPr>
        <p:txBody>
          <a:bodyPr wrap="square" lIns="0" tIns="0" rIns="0" bIns="0" rtlCol="0" anchor="ctr"/>
          <a:lstStyle/>
          <a:p>
            <a:pPr marL="0" indent="0">
              <a:buNone/>
            </a:pPr>
            <a:r>
              <a:rPr lang="en-US" sz="1400" dirty="0">
                <a:solidFill>
                  <a:schemeClr val="tx1"/>
                </a:solidFill>
              </a:rPr>
              <a:t>Script a late-braking driver with some variation.</a:t>
            </a:r>
            <a:endParaRPr lang="en-US" sz="1400" dirty="0"/>
          </a:p>
        </p:txBody>
      </p:sp>
      <p:sp>
        <p:nvSpPr>
          <p:cNvPr id="21" name="Risk 4"/>
          <p:cNvSpPr/>
          <p:nvPr/>
        </p:nvSpPr>
        <p:spPr>
          <a:xfrm>
            <a:off x="457200" y="3767328"/>
            <a:ext cx="4023360" cy="676656"/>
          </a:xfrm>
          <a:prstGeom prst="roundRect">
            <a:avLst>
              <a:gd name="adj" fmla="val 10811"/>
            </a:avLst>
          </a:prstGeom>
          <a:solidFill>
            <a:schemeClr val="bg2"/>
          </a:solidFill>
          <a:ln/>
        </p:spPr>
      </p:sp>
      <p:sp>
        <p:nvSpPr>
          <p:cNvPr id="22" name="Text 20"/>
          <p:cNvSpPr txBox="1"/>
          <p:nvPr/>
        </p:nvSpPr>
        <p:spPr>
          <a:xfrm>
            <a:off x="640080" y="3767328"/>
            <a:ext cx="3657600" cy="676656"/>
          </a:xfrm>
          <a:prstGeom prst="rect">
            <a:avLst/>
          </a:prstGeom>
          <a:noFill/>
          <a:ln/>
        </p:spPr>
        <p:txBody>
          <a:bodyPr wrap="square" lIns="0" tIns="0" rIns="0" bIns="0" rtlCol="0" anchor="ctr"/>
          <a:lstStyle/>
          <a:p>
            <a:pPr marL="0" indent="0">
              <a:buNone/>
            </a:pPr>
            <a:r>
              <a:rPr lang="en-US" sz="1400" b="1" dirty="0">
                <a:solidFill>
                  <a:schemeClr val="accent1"/>
                </a:solidFill>
              </a:rPr>
              <a:t>Evidence quality: </a:t>
            </a:r>
            <a:r>
              <a:rPr lang="en-US" sz="1400" dirty="0">
                <a:solidFill>
                  <a:schemeClr val="tx1"/>
                </a:solidFill>
              </a:rPr>
              <a:t>Racing figures are simulator-based.</a:t>
            </a:r>
            <a:endParaRPr lang="en-US" sz="1400" dirty="0"/>
          </a:p>
        </p:txBody>
      </p:sp>
      <p:sp>
        <p:nvSpPr>
          <p:cNvPr id="23" name="Risk arrow 4"/>
          <p:cNvSpPr/>
          <p:nvPr/>
        </p:nvSpPr>
        <p:spPr>
          <a:xfrm>
            <a:off x="4526280" y="4105656"/>
            <a:ext cx="91440" cy="0"/>
          </a:xfrm>
          <a:prstGeom prst="line">
            <a:avLst/>
          </a:prstGeom>
          <a:noFill/>
          <a:ln w="19050">
            <a:solidFill>
              <a:schemeClr val="tx2"/>
            </a:solidFill>
            <a:prstDash val="solid"/>
            <a:tailEnd type="triangle"/>
          </a:ln>
        </p:spPr>
      </p:sp>
      <p:sp>
        <p:nvSpPr>
          <p:cNvPr id="24" name="Plan 4"/>
          <p:cNvSpPr/>
          <p:nvPr/>
        </p:nvSpPr>
        <p:spPr>
          <a:xfrm>
            <a:off x="4663440" y="3767328"/>
            <a:ext cx="4023360" cy="676656"/>
          </a:xfrm>
          <a:prstGeom prst="roundRect">
            <a:avLst>
              <a:gd name="adj" fmla="val 10811"/>
            </a:avLst>
          </a:prstGeom>
          <a:solidFill>
            <a:schemeClr val="bg2"/>
          </a:solidFill>
          <a:ln/>
        </p:spPr>
      </p:sp>
      <p:sp>
        <p:nvSpPr>
          <p:cNvPr id="25" name="Text 23"/>
          <p:cNvSpPr txBox="1"/>
          <p:nvPr/>
        </p:nvSpPr>
        <p:spPr>
          <a:xfrm>
            <a:off x="4846320" y="3767328"/>
            <a:ext cx="3657600" cy="676656"/>
          </a:xfrm>
          <a:prstGeom prst="rect">
            <a:avLst/>
          </a:prstGeom>
          <a:noFill/>
          <a:ln/>
        </p:spPr>
        <p:txBody>
          <a:bodyPr wrap="square" lIns="0" tIns="0" rIns="0" bIns="0" rtlCol="0" anchor="ctr"/>
          <a:lstStyle/>
          <a:p>
            <a:pPr marL="0" indent="0">
              <a:buNone/>
            </a:pPr>
            <a:r>
              <a:rPr lang="en-US" sz="1400" dirty="0">
                <a:solidFill>
                  <a:schemeClr val="tx1"/>
                </a:solidFill>
              </a:rPr>
              <a:t>Label as indicative. Measure our own savings.</a:t>
            </a:r>
            <a:endParaRPr lang="en-US" sz="1400" dirty="0"/>
          </a:p>
        </p:txBody>
      </p:sp>
      <p:sp>
        <p:nvSpPr>
          <p:cNvPr id="26"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274320"/>
            <a:ext cx="54864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REFERENCES</a:t>
            </a:r>
            <a:endParaRPr lang="en-US" sz="1100" dirty="0"/>
          </a:p>
        </p:txBody>
      </p:sp>
      <p:sp>
        <p:nvSpPr>
          <p:cNvPr id="3" name="Text 0"/>
          <p:cNvSpPr>
            <a:spLocks noGrp="1"/>
          </p:cNvSpPr>
          <p:nvPr>
            <p:ph type="title" idx="100" hasCustomPrompt="1"/>
          </p:nvPr>
        </p:nvSpPr>
        <p:spPr>
          <a:xfrm>
            <a:off x="457200" y="5029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References</a:t>
            </a:r>
            <a:endParaRPr lang="en-US" sz="2800" dirty="0"/>
          </a:p>
        </p:txBody>
      </p:sp>
      <p:sp>
        <p:nvSpPr>
          <p:cNvPr id="4" name="Text 2"/>
          <p:cNvSpPr txBox="1"/>
          <p:nvPr/>
        </p:nvSpPr>
        <p:spPr>
          <a:xfrm>
            <a:off x="457200" y="1143000"/>
            <a:ext cx="8229600" cy="3566160"/>
          </a:xfrm>
          <a:prstGeom prst="rect">
            <a:avLst/>
          </a:prstGeom>
          <a:noFill/>
          <a:ln/>
        </p:spPr>
        <p:txBody>
          <a:bodyPr wrap="square" lIns="0" tIns="0" rIns="0" bIns="0" rtlCol="0" anchor="t"/>
          <a:lstStyle/>
          <a:p>
            <a:pPr marL="0" indent="0">
              <a:spcAft>
                <a:spcPts val="300"/>
              </a:spcAft>
              <a:buNone/>
            </a:pPr>
            <a:r>
              <a:rPr lang="en-US" sz="1000" b="1" dirty="0">
                <a:solidFill>
                  <a:schemeClr val="accent1"/>
                </a:solidFill>
              </a:rPr>
              <a:t>Closest prior art</a:t>
            </a:r>
            <a:endParaRPr lang="en-US" sz="1000" dirty="0"/>
          </a:p>
          <a:p>
            <a:pPr marL="0" indent="0">
              <a:spcAft>
                <a:spcPts val="200"/>
              </a:spcAft>
              <a:buNone/>
            </a:pPr>
            <a:r>
              <a:rPr lang="en-US" sz="1000" dirty="0">
                <a:solidFill>
                  <a:schemeClr val="tx1"/>
                </a:solidFill>
              </a:rPr>
              <a:t>[1] Bakibillah ASM, Kamal MAS, Tan CP, Hayakawa T, Imura J. Optimal eco-driving scheme for reducing energy consumption and carbon emissions on curved roads. Heliyon 2024;10:e23586.</a:t>
            </a:r>
            <a:endParaRPr lang="en-US" sz="1000" dirty="0"/>
          </a:p>
          <a:p>
            <a:pPr marL="0" indent="0">
              <a:spcAft>
                <a:spcPts val="200"/>
              </a:spcAft>
              <a:buNone/>
            </a:pPr>
            <a:r>
              <a:rPr lang="en-US" sz="1000" dirty="0">
                <a:solidFill>
                  <a:schemeClr val="tx1"/>
                </a:solidFill>
              </a:rPr>
              <a:t>[2] Heuts YJJ, Velpari R, Donkers MCF. Eco-driving and road curvature estimation: Retrospective analysis of experimental data of a fully electric coach. Energy 2025;334:137526.</a:t>
            </a:r>
            <a:endParaRPr lang="en-US" sz="1000" dirty="0"/>
          </a:p>
          <a:p>
            <a:pPr marL="0" indent="0">
              <a:spcAft>
                <a:spcPts val="300"/>
              </a:spcAft>
              <a:buNone/>
            </a:pPr>
            <a:r>
              <a:rPr lang="en-US" sz="1000" b="1" dirty="0">
                <a:solidFill>
                  <a:schemeClr val="accent1"/>
                </a:solidFill>
              </a:rPr>
              <a:t>Supporting, as cited in [1] and [2]</a:t>
            </a:r>
            <a:endParaRPr lang="en-US" sz="1000" dirty="0"/>
          </a:p>
          <a:p>
            <a:pPr marL="0" indent="0">
              <a:spcAft>
                <a:spcPts val="200"/>
              </a:spcAft>
              <a:buNone/>
            </a:pPr>
            <a:r>
              <a:rPr lang="en-US" sz="1000" dirty="0">
                <a:solidFill>
                  <a:schemeClr val="tx1"/>
                </a:solidFill>
              </a:rPr>
              <a:t>[3] Ahn K, Rakha H, Trani A, Van Aerde M. Estimating vehicle fuel consumption and emissions based on instantaneous speed and acceleration levels. J Transp Eng 2002;128(2):182-190.</a:t>
            </a:r>
            <a:endParaRPr lang="en-US" sz="1000" dirty="0"/>
          </a:p>
          <a:p>
            <a:pPr marL="0" indent="0">
              <a:spcAft>
                <a:spcPts val="200"/>
              </a:spcAft>
              <a:buNone/>
            </a:pPr>
            <a:r>
              <a:rPr lang="en-US" sz="1000" dirty="0">
                <a:solidFill>
                  <a:schemeClr val="tx1"/>
                </a:solidFill>
              </a:rPr>
              <a:t>[4] Rakha H, Ahn K, Trani A. Development of VT-Micro model for estimating hot stabilized light duty vehicle and truck emissions. Transp Res Part D 2004;9:49-74.</a:t>
            </a:r>
            <a:endParaRPr lang="en-US" sz="1000" dirty="0"/>
          </a:p>
          <a:p>
            <a:pPr marL="0" indent="0">
              <a:spcAft>
                <a:spcPts val="200"/>
              </a:spcAft>
              <a:buNone/>
            </a:pPr>
            <a:r>
              <a:rPr lang="en-US" sz="1000" dirty="0">
                <a:solidFill>
                  <a:schemeClr val="tx1"/>
                </a:solidFill>
              </a:rPr>
              <a:t>[5] Zamfir S, Drosescu R, Gaiginschi R. Practical method for estimating road curvatures using onboard GPS and IMU equipment. IOP Conf Ser Mater Sci Eng 2016;147:012114.</a:t>
            </a:r>
            <a:endParaRPr lang="en-US" sz="1000" dirty="0"/>
          </a:p>
          <a:p>
            <a:pPr marL="0" indent="0">
              <a:spcAft>
                <a:spcPts val="200"/>
              </a:spcAft>
              <a:buNone/>
            </a:pPr>
            <a:r>
              <a:rPr lang="en-US" sz="1000" dirty="0">
                <a:solidFill>
                  <a:schemeClr val="tx1"/>
                </a:solidFill>
              </a:rPr>
              <a:t>[6] Beckers CJJ, Besselink IJM, Nijmeijer H. Assessing the impact of cornering losses on the energy consumption of electric city buses. Transp Res Part D 2020;86:102360.</a:t>
            </a:r>
            <a:endParaRPr lang="en-US" sz="1000" dirty="0"/>
          </a:p>
          <a:p>
            <a:pPr marL="0" indent="0">
              <a:spcAft>
                <a:spcPts val="200"/>
              </a:spcAft>
              <a:buNone/>
            </a:pPr>
            <a:r>
              <a:rPr lang="en-US" sz="1000" dirty="0">
                <a:solidFill>
                  <a:schemeClr val="tx1"/>
                </a:solidFill>
              </a:rPr>
              <a:t>[7] Huang R, He H, Su Q. An intelligent full-knowledge transferable collaborative eco-driving framework based on improved soft actor-critic algorithm. Appl Energy 2024;375:124078.</a:t>
            </a:r>
            <a:endParaRPr lang="en-US" sz="1000" dirty="0"/>
          </a:p>
          <a:p>
            <a:pPr marL="0" indent="0">
              <a:spcAft>
                <a:spcPts val="200"/>
              </a:spcAft>
              <a:buNone/>
            </a:pPr>
            <a:r>
              <a:rPr lang="en-US" sz="1000" dirty="0">
                <a:solidFill>
                  <a:schemeClr val="tx1"/>
                </a:solidFill>
              </a:rPr>
              <a:t>[8] Nie Z, Farzaneh H. Real-time dynamic predictive cruise control for enhancing eco-driving of electric vehicles (ANN-based energy model). Energy 2022;241:122888.</a:t>
            </a:r>
            <a:endParaRPr lang="en-US" sz="1000" dirty="0"/>
          </a:p>
          <a:p>
            <a:pPr marL="0" indent="0">
              <a:spcAft>
                <a:spcPts val="300"/>
              </a:spcAft>
              <a:buNone/>
            </a:pPr>
            <a:r>
              <a:rPr lang="en-US" sz="1000" b="1" dirty="0">
                <a:solidFill>
                  <a:schemeClr val="accent1"/>
                </a:solidFill>
              </a:rPr>
              <a:t>Simulator-based sources (indicative only)</a:t>
            </a:r>
            <a:endParaRPr lang="en-US" sz="1000" dirty="0"/>
          </a:p>
          <a:p>
            <a:pPr marL="0" indent="0">
              <a:spcAft>
                <a:spcPts val="200"/>
              </a:spcAft>
              <a:buNone/>
            </a:pPr>
            <a:r>
              <a:rPr lang="en-US" sz="1000" dirty="0">
                <a:solidFill>
                  <a:schemeClr val="tx1"/>
                </a:solidFill>
              </a:rPr>
              <a:t>[9] Coach Dave Delta. Mastering Lift and Coast: How to Save Fuel Without Sacrificing Speed. coachdaveacademy.com/tutorials/mastering-lift-and-coast-how-to-save-fuel-without-sacrificing-speed</a:t>
            </a:r>
            <a:endParaRPr lang="en-US" sz="1000" dirty="0"/>
          </a:p>
          <a:p>
            <a:pPr marL="0" indent="0">
              <a:spcAft>
                <a:spcPts val="200"/>
              </a:spcAft>
              <a:buNone/>
            </a:pPr>
            <a:r>
              <a:rPr lang="en-US" sz="1000" dirty="0">
                <a:solidFill>
                  <a:schemeClr val="tx1"/>
                </a:solidFill>
              </a:rPr>
              <a:t>[10] iRacerHUB. How to Save Fuel in iRacing GT3 Cars. iracerhub.com/how-to-save-fuel-iracing-gt3/</a:t>
            </a:r>
            <a:endParaRPr lang="en-US" sz="10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0434" y="617220"/>
            <a:ext cx="7863840" cy="822960"/>
          </a:xfrm>
          <a:prstGeom prst="rect">
            <a:avLst/>
          </a:prstGeom>
          <a:noFill/>
          <a:ln/>
        </p:spPr>
        <p:txBody>
          <a:bodyPr wrap="square" lIns="0" tIns="0" rIns="0" bIns="0" rtlCol="0" anchor="t"/>
          <a:lstStyle/>
          <a:p>
            <a:pPr marL="0" indent="0" algn="l">
              <a:buNone/>
            </a:pPr>
            <a:r>
              <a:rPr lang="en-US" sz="4800" b="1" dirty="0">
                <a:solidFill>
                  <a:schemeClr val="bg1"/>
                </a:solidFill>
              </a:rPr>
              <a:t>Summary</a:t>
            </a:r>
            <a:endParaRPr lang="en-US" sz="4800" dirty="0"/>
          </a:p>
        </p:txBody>
      </p:sp>
      <p:sp>
        <p:nvSpPr>
          <p:cNvPr id="3" name="Text 1"/>
          <p:cNvSpPr txBox="1"/>
          <p:nvPr/>
        </p:nvSpPr>
        <p:spPr>
          <a:xfrm>
            <a:off x="540434" y="1703363"/>
            <a:ext cx="7863840" cy="1371600"/>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chemeClr val="bg2"/>
                </a:solidFill>
              </a:rPr>
              <a:t>Problem: LiCo saves fuel but takes skill; we automate it for sharp turns</a:t>
            </a:r>
            <a:endParaRPr lang="en-US" sz="1800" dirty="0"/>
          </a:p>
          <a:p>
            <a:pPr marL="203200" indent="-203200">
              <a:spcAft>
                <a:spcPts val="800"/>
              </a:spcAft>
              <a:buSzPct val="100000"/>
              <a:buChar char="•"/>
            </a:pPr>
            <a:r>
              <a:rPr lang="en-US" sz="1800" dirty="0">
                <a:solidFill>
                  <a:schemeClr val="bg2"/>
                </a:solidFill>
              </a:rPr>
              <a:t>Gap: we did not find work doing this with GPS and map data only, adapting to the vehicle</a:t>
            </a:r>
            <a:endParaRPr lang="en-US" sz="1800" dirty="0"/>
          </a:p>
          <a:p>
            <a:pPr marL="203200" indent="-203200">
              <a:buSzPct val="100000"/>
              <a:buChar char="•"/>
            </a:pPr>
            <a:r>
              <a:rPr lang="en-US" sz="1800" dirty="0">
                <a:solidFill>
                  <a:schemeClr val="bg2"/>
                </a:solidFill>
              </a:rPr>
              <a:t>Next: coast-down tests, baseline driver, fuel model, first logged turn runs</a:t>
            </a:r>
            <a:endParaRPr lang="en-US" sz="1800" dirty="0"/>
          </a:p>
        </p:txBody>
      </p:sp>
      <p:sp>
        <p:nvSpPr>
          <p:cNvPr id="4" name="Text 2"/>
          <p:cNvSpPr txBox="1"/>
          <p:nvPr/>
        </p:nvSpPr>
        <p:spPr>
          <a:xfrm>
            <a:off x="640080" y="4160520"/>
            <a:ext cx="7315200" cy="365760"/>
          </a:xfrm>
          <a:prstGeom prst="rect">
            <a:avLst/>
          </a:prstGeom>
          <a:noFill/>
          <a:ln/>
        </p:spPr>
        <p:txBody>
          <a:bodyPr wrap="square" lIns="0" tIns="0" rIns="0" bIns="0" rtlCol="0" anchor="t"/>
          <a:lstStyle/>
          <a:p>
            <a:pPr marL="0" indent="0">
              <a:buNone/>
            </a:pPr>
            <a:r>
              <a:rPr lang="en-US" sz="2000" b="1" dirty="0">
                <a:solidFill>
                  <a:schemeClr val="bg1"/>
                </a:solidFill>
              </a:rPr>
              <a:t>Thank you.</a:t>
            </a:r>
            <a:endParaRPr lang="en-US" sz="2000" dirty="0"/>
          </a:p>
        </p:txBody>
      </p:sp>
    </p:spTree>
  </p:cSld>
  <p:clrMapOvr>
    <a:masterClrMapping/>
  </p:clrMapOvr>
</p:sld>
</file>

<file path=ppt/theme/theme1.xml><?xml version="1.0" encoding="utf-8"?>
<a:theme xmlns:a="http://schemas.openxmlformats.org/drawingml/2006/main" name="ALiCoFSS Review 2">
  <a:themeElements>
    <a:clrScheme name="ALiCoFSS Review 2">
      <a:dk1>
        <a:srgbClr val="1F2933"/>
      </a:dk1>
      <a:lt1>
        <a:srgbClr val="FFFFFF"/>
      </a:lt1>
      <a:dk2>
        <a:srgbClr val="52606D"/>
      </a:dk2>
      <a:lt2>
        <a:srgbClr val="F1F3F5"/>
      </a:lt2>
      <a:accent1>
        <a:srgbClr val="B3202A"/>
      </a:accent1>
      <a:accent2>
        <a:srgbClr val="2F6F8F"/>
      </a:accent2>
      <a:accent3>
        <a:srgbClr val="7B8794"/>
      </a:accent3>
      <a:accent4>
        <a:srgbClr val="2E7D32"/>
      </a:accent4>
      <a:accent5>
        <a:srgbClr val="C77700"/>
      </a:accent5>
      <a:accent6>
        <a:srgbClr val="5B4B8A"/>
      </a:accent6>
      <a:hlink>
        <a:srgbClr val="2F6F8F"/>
      </a:hlink>
      <a:folHlink>
        <a:srgbClr val="7B8794"/>
      </a:folHlink>
    </a:clrScheme>
    <a:fontScheme name="ALiCoFSS Review 2">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3075</Words>
  <Application>Microsoft Office PowerPoint</Application>
  <PresentationFormat>On-screen Show (16:9)</PresentationFormat>
  <Paragraphs>392</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Cambria</vt:lpstr>
      <vt:lpstr>ALiCoFSS Review 2</vt:lpstr>
      <vt:lpstr>ALiCoFSS</vt:lpstr>
      <vt:lpstr>The problem</vt:lpstr>
      <vt:lpstr>Who is affected, and when</vt:lpstr>
      <vt:lpstr>Evidence that the problem is real</vt:lpstr>
      <vt:lpstr>What already exists and the gap</vt:lpstr>
      <vt:lpstr>Scope of the project</vt:lpstr>
      <vt:lpstr>How success will be measured</vt:lpstr>
      <vt:lpstr>Functional requirements</vt:lpstr>
      <vt:lpstr>Data and simulation requirements</vt:lpstr>
      <vt:lpstr>Performance and safety requirements</vt:lpstr>
      <vt:lpstr>Requirements by discipline</vt:lpstr>
      <vt:lpstr>Closest prior art: Bakibillah et al.</vt:lpstr>
      <vt:lpstr>Closest prior art: Heuts et al.</vt:lpstr>
      <vt:lpstr>Shared limits and our difference</vt:lpstr>
      <vt:lpstr>Supporting references</vt:lpstr>
      <vt:lpstr>Survey takeaway and next reading</vt:lpstr>
      <vt:lpstr>System concept</vt:lpstr>
      <vt:lpstr>What the model learns and decides</vt:lpstr>
      <vt:lpstr>Physics baseline for lift-off</vt:lpstr>
      <vt:lpstr>Fuel model concept</vt:lpstr>
      <vt:lpstr>Objectives</vt:lpstr>
      <vt:lpstr>Methodology</vt:lpstr>
      <vt:lpstr>Roles and ownership</vt:lpstr>
      <vt:lpstr>Progress so far</vt:lpstr>
      <vt:lpstr>Risks and open questions</vt:lpstr>
      <vt:lpstr>References</vt:lpstr>
      <vt:lpstr>Summary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ALiCoFSS - Review 2</dc:title>
  <dc:subject>PptxGenJS Presentation</dc:subject>
  <dc:creator>PptxGenJS</dc:creator>
  <cp:lastModifiedBy>Setu Swarit</cp:lastModifiedBy>
  <cp:revision>2</cp:revision>
  <dcterms:created xsi:type="dcterms:W3CDTF">2026-10-14T04:02:47Z</dcterms:created>
  <dcterms:modified xsi:type="dcterms:W3CDTF">2026-10-14T05:53:03Z</dcterms:modified>
</cp:coreProperties>
</file>
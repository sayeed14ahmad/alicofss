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6947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240000">
            <a:off x="-914400" y="5257800"/>
            <a:ext cx="14630400" cy="2377440"/>
          </a:xfrm>
          <a:prstGeom prst="rect">
            <a:avLst/>
          </a:prstGeom>
          <a:solidFill>
            <a:srgbClr val="232327"/>
          </a:solidFill>
          <a:ln/>
        </p:spPr>
      </p:sp>
      <p:sp>
        <p:nvSpPr>
          <p:cNvPr id="3" name="Shape 1"/>
          <p:cNvSpPr/>
          <p:nvPr/>
        </p:nvSpPr>
        <p:spPr>
          <a:xfrm rot="-240000">
            <a:off x="-457200" y="5669280"/>
            <a:ext cx="1005840" cy="100584"/>
          </a:xfrm>
          <a:prstGeom prst="rect">
            <a:avLst/>
          </a:prstGeom>
          <a:solidFill>
            <a:srgbClr val="3A3A3F"/>
          </a:solidFill>
          <a:ln/>
        </p:spPr>
      </p:sp>
      <p:sp>
        <p:nvSpPr>
          <p:cNvPr id="4" name="Shape 2"/>
          <p:cNvSpPr/>
          <p:nvPr/>
        </p:nvSpPr>
        <p:spPr>
          <a:xfrm rot="-240000">
            <a:off x="1645920" y="5669280"/>
            <a:ext cx="1005840" cy="100584"/>
          </a:xfrm>
          <a:prstGeom prst="rect">
            <a:avLst/>
          </a:prstGeom>
          <a:solidFill>
            <a:srgbClr val="3A3A3F"/>
          </a:solidFill>
          <a:ln/>
        </p:spPr>
      </p:sp>
      <p:sp>
        <p:nvSpPr>
          <p:cNvPr id="5" name="Shape 3"/>
          <p:cNvSpPr/>
          <p:nvPr/>
        </p:nvSpPr>
        <p:spPr>
          <a:xfrm rot="-240000">
            <a:off x="3749040" y="5669280"/>
            <a:ext cx="1005840" cy="100584"/>
          </a:xfrm>
          <a:prstGeom prst="rect">
            <a:avLst/>
          </a:prstGeom>
          <a:solidFill>
            <a:srgbClr val="3A3A3F"/>
          </a:solidFill>
          <a:ln/>
        </p:spPr>
      </p:sp>
      <p:sp>
        <p:nvSpPr>
          <p:cNvPr id="6" name="Shape 4"/>
          <p:cNvSpPr/>
          <p:nvPr/>
        </p:nvSpPr>
        <p:spPr>
          <a:xfrm rot="-240000">
            <a:off x="5852160" y="5669280"/>
            <a:ext cx="1005840" cy="100584"/>
          </a:xfrm>
          <a:prstGeom prst="rect">
            <a:avLst/>
          </a:prstGeom>
          <a:solidFill>
            <a:srgbClr val="3A3A3F"/>
          </a:solidFill>
          <a:ln/>
        </p:spPr>
      </p:sp>
      <p:sp>
        <p:nvSpPr>
          <p:cNvPr id="7" name="Shape 5"/>
          <p:cNvSpPr/>
          <p:nvPr/>
        </p:nvSpPr>
        <p:spPr>
          <a:xfrm rot="-240000">
            <a:off x="7955280" y="5669280"/>
            <a:ext cx="1005840" cy="100584"/>
          </a:xfrm>
          <a:prstGeom prst="rect">
            <a:avLst/>
          </a:prstGeom>
          <a:solidFill>
            <a:srgbClr val="3A3A3F"/>
          </a:solidFill>
          <a:ln/>
        </p:spPr>
      </p:sp>
      <p:sp>
        <p:nvSpPr>
          <p:cNvPr id="8" name="Shape 6"/>
          <p:cNvSpPr/>
          <p:nvPr/>
        </p:nvSpPr>
        <p:spPr>
          <a:xfrm rot="-240000">
            <a:off x="10058400" y="5669280"/>
            <a:ext cx="1005840" cy="100584"/>
          </a:xfrm>
          <a:prstGeom prst="rect">
            <a:avLst/>
          </a:prstGeom>
          <a:solidFill>
            <a:srgbClr val="3A3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C7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·  MULTIDISCIPLINARY DESIGN PROJECT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14173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ALiCoFSS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5146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8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Lift-and-Coast Fuel Saving System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22960" y="3246120"/>
            <a:ext cx="640080" cy="45720"/>
          </a:xfrm>
          <a:prstGeom prst="rect">
            <a:avLst/>
          </a:prstGeom>
          <a:solidFill>
            <a:srgbClr val="C342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4290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7B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 vehicle to replace hard braking with a coast, automatically - for every driver, not just skilled racers.</a:t>
            </a:r>
            <a:endParaRPr lang="en-US" sz="1400" dirty="0"/>
          </a:p>
        </p:txBody>
      </p:sp>
      <p:pic>
        <p:nvPicPr>
          <p:cNvPr id="14" name="Image 0" descr="icons/racecar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8778240" y="502920"/>
            <a:ext cx="3017520" cy="30175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22960" y="5989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Swarit
</a:t>
            </a:r>
            <a:r>
              <a:rPr lang="en-US" sz="11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429000" y="5989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Sayeed Ahmad
</a:t>
            </a:r>
            <a:r>
              <a:rPr lang="en-US" sz="11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035040" y="5989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Dhanvi
</a:t>
            </a:r>
            <a:r>
              <a:rPr lang="en-US" sz="11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641080" y="5989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Varshith
</a:t>
            </a:r>
            <a:r>
              <a:rPr lang="en-US" sz="11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02920" cy="41148"/>
          </a:xfrm>
          <a:prstGeom prst="rect">
            <a:avLst/>
          </a:prstGeom>
          <a:solidFill>
            <a:srgbClr val="C3423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F4F4F5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icons/stee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2860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21762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Lift-and-Coast (LiCo)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9260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well-known technique among skilled racing drivers: lift off the accelerator well before a turn and coast down to the required speed, instead of braking hard at the last moment.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68680" y="4142232"/>
            <a:ext cx="91440" cy="91440"/>
          </a:xfrm>
          <a:prstGeom prst="ellipse">
            <a:avLst/>
          </a:prstGeom>
          <a:solidFill>
            <a:srgbClr val="C3423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97280" y="39959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fuel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68680" y="4599432"/>
            <a:ext cx="91440" cy="91440"/>
          </a:xfrm>
          <a:prstGeom prst="ellipse">
            <a:avLst/>
          </a:prstGeom>
          <a:solidFill>
            <a:srgbClr val="C3423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97280" y="44531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brake &amp; tyre wear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68680" y="5056632"/>
            <a:ext cx="91440" cy="91440"/>
          </a:xfrm>
          <a:prstGeom prst="ellipse">
            <a:avLst/>
          </a:prstGeom>
          <a:solidFill>
            <a:srgbClr val="C3423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97280" y="49103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routinely in motorsport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72200" y="1828800"/>
            <a:ext cx="5440680" cy="4160520"/>
          </a:xfrm>
          <a:prstGeom prst="roundRect">
            <a:avLst>
              <a:gd name="adj" fmla="val 2198"/>
            </a:avLst>
          </a:prstGeom>
          <a:solidFill>
            <a:srgbClr val="1A1A1D"/>
          </a:solidFill>
          <a:ln/>
        </p:spPr>
      </p:sp>
      <p:sp>
        <p:nvSpPr>
          <p:cNvPr id="17" name="Shape 14"/>
          <p:cNvSpPr/>
          <p:nvPr/>
        </p:nvSpPr>
        <p:spPr>
          <a:xfrm>
            <a:off x="6492240" y="2148840"/>
            <a:ext cx="685800" cy="685800"/>
          </a:xfrm>
          <a:prstGeom prst="ellipse">
            <a:avLst/>
          </a:prstGeom>
          <a:solidFill>
            <a:srgbClr val="2E2E32"/>
          </a:solidFill>
          <a:ln/>
        </p:spPr>
      </p:sp>
      <p:pic>
        <p:nvPicPr>
          <p:cNvPr id="18" name="Image 1" descr="icons/carwhe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6545" y="2303145"/>
            <a:ext cx="377190" cy="37719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360920" y="21031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It Doesn't Scale to Everyday Drivers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492240" y="3136392"/>
            <a:ext cx="91440" cy="91440"/>
          </a:xfrm>
          <a:prstGeom prst="ellipse">
            <a:avLst/>
          </a:prstGeom>
          <a:solidFill>
            <a:srgbClr val="C3423F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720840" y="293522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precise timing and years of practised skill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492240" y="3913632"/>
            <a:ext cx="91440" cy="91440"/>
          </a:xfrm>
          <a:prstGeom prst="ellipse">
            <a:avLst/>
          </a:prstGeom>
          <a:solidFill>
            <a:srgbClr val="C3423F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720840" y="371246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the right lift-off point is not intuitive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492240" y="4690872"/>
            <a:ext cx="91440" cy="91440"/>
          </a:xfrm>
          <a:prstGeom prst="ellipse">
            <a:avLst/>
          </a:prstGeom>
          <a:solidFill>
            <a:srgbClr val="C3423F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720840" y="448970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incorrectly, it becomes a genuine safety risk to the driver and others nearby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ALiCoFSS  |  Review 1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02920" cy="41148"/>
          </a:xfrm>
          <a:prstGeom prst="rect">
            <a:avLst/>
          </a:prstGeom>
          <a:solidFill>
            <a:srgbClr val="C3423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6596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4F4F5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228600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icons/gas_pu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150" y="24771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3375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Rising Fuel Costs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4023360"/>
            <a:ext cx="22951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prices remain high and volatile worldwide, directly raising the cost of everyday driving.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74720" y="196596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4F4F5"/>
          </a:solidFill>
          <a:ln/>
        </p:spPr>
      </p:sp>
      <p:sp>
        <p:nvSpPr>
          <p:cNvPr id="11" name="Shape 8"/>
          <p:cNvSpPr/>
          <p:nvPr/>
        </p:nvSpPr>
        <p:spPr>
          <a:xfrm>
            <a:off x="4389120" y="228600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icons/c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0230" y="247711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7600" y="33375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Pollution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3675888" y="4023360"/>
            <a:ext cx="22951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Braking and re-accelerating wastes energy and increases emissions per trip, compounding across millions of daily drivers.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0" y="196596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4F4F5"/>
          </a:solidFill>
          <a:ln/>
        </p:spPr>
      </p:sp>
      <p:sp>
        <p:nvSpPr>
          <p:cNvPr id="16" name="Shape 12"/>
          <p:cNvSpPr/>
          <p:nvPr/>
        </p:nvSpPr>
        <p:spPr>
          <a:xfrm>
            <a:off x="7315200" y="228600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icons/lea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6310" y="2477110"/>
            <a:ext cx="486461" cy="48646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83680" y="33375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Finite Resources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6601968" y="4023360"/>
            <a:ext cx="22951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Fossil fuels remain limited; efficiency gains matter regardless of the pace of the energy transition.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326880" y="196596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4F4F5"/>
          </a:solidFill>
          <a:ln/>
        </p:spPr>
      </p:sp>
      <p:sp>
        <p:nvSpPr>
          <p:cNvPr id="21" name="Shape 16"/>
          <p:cNvSpPr/>
          <p:nvPr/>
        </p:nvSpPr>
        <p:spPr>
          <a:xfrm>
            <a:off x="10241280" y="228600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icons/mone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2390" y="2477110"/>
            <a:ext cx="486461" cy="48646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509760" y="33375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EVs Don’t Fully Solve This</a:t>
            </a:r>
            <a:endParaRPr lang="en-US" sz="1450" dirty="0"/>
          </a:p>
        </p:txBody>
      </p:sp>
      <p:sp>
        <p:nvSpPr>
          <p:cNvPr id="24" name="Text 18"/>
          <p:cNvSpPr txBox="1"/>
          <p:nvPr/>
        </p:nvSpPr>
        <p:spPr>
          <a:xfrm>
            <a:off x="9528048" y="4023360"/>
            <a:ext cx="22951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vehicles will remain on roads for decades, and even EV efficiency is reduced by harsh braking and re-acceleration.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ALiCoFSS  |  Review 1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02920" cy="41148"/>
          </a:xfrm>
          <a:prstGeom prst="rect">
            <a:avLst/>
          </a:prstGeom>
          <a:solidFill>
            <a:srgbClr val="C3423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286000"/>
            <a:ext cx="10515600" cy="2926080"/>
          </a:xfrm>
          <a:prstGeom prst="roundRect">
            <a:avLst>
              <a:gd name="adj" fmla="val 3125"/>
            </a:avLst>
          </a:prstGeom>
          <a:solidFill>
            <a:srgbClr val="2323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80160" y="2606040"/>
            <a:ext cx="9601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drivers cannot safely and consistently execute Lift-and-Coast to save fuel - and no existing low-cost, non-connected system automates it specifically for different kind of turns, while adapting to the driver’s own vehicle, its condition, the road surface, and the weather.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54864" cy="2926080"/>
          </a:xfrm>
          <a:prstGeom prst="rect">
            <a:avLst/>
          </a:prstGeom>
          <a:solidFill>
            <a:srgbClr val="C3423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ALiCoFSS  |  Review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02920" cy="41148"/>
          </a:xfrm>
          <a:prstGeom prst="rect">
            <a:avLst/>
          </a:prstGeom>
          <a:solidFill>
            <a:srgbClr val="C3423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65960"/>
            <a:ext cx="2048256" cy="3657600"/>
          </a:xfrm>
          <a:prstGeom prst="roundRect">
            <a:avLst>
              <a:gd name="adj" fmla="val 3571"/>
            </a:avLst>
          </a:prstGeom>
          <a:solidFill>
            <a:srgbClr val="F4F4F5"/>
          </a:solidFill>
          <a:ln/>
        </p:spPr>
      </p:sp>
      <p:sp>
        <p:nvSpPr>
          <p:cNvPr id="6" name="Shape 4"/>
          <p:cNvSpPr/>
          <p:nvPr/>
        </p:nvSpPr>
        <p:spPr>
          <a:xfrm>
            <a:off x="1243584" y="224028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icons/turn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425" y="2385121"/>
            <a:ext cx="368686" cy="36868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063240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LiCo decisions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749040"/>
            <a:ext cx="177393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optimal lift-off timing and distance before a turn, using GPS and map data — no driver input required.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24912" y="1965960"/>
            <a:ext cx="2048256" cy="3657600"/>
          </a:xfrm>
          <a:prstGeom prst="roundRect">
            <a:avLst>
              <a:gd name="adj" fmla="val 3571"/>
            </a:avLst>
          </a:prstGeom>
          <a:solidFill>
            <a:srgbClr val="F4F4F5"/>
          </a:solidFill>
          <a:ln/>
        </p:spPr>
      </p:sp>
      <p:sp>
        <p:nvSpPr>
          <p:cNvPr id="11" name="Shape 8"/>
          <p:cNvSpPr/>
          <p:nvPr/>
        </p:nvSpPr>
        <p:spPr>
          <a:xfrm>
            <a:off x="3419856" y="224028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icons/gea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697" y="2385121"/>
            <a:ext cx="368686" cy="36868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862072" y="3063240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 to the vehicle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2862072" y="3749040"/>
            <a:ext cx="177393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and adjust to different vehicles and vehicle conditions — including wear and lack of servicing.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901184" y="1965960"/>
            <a:ext cx="2048256" cy="3657600"/>
          </a:xfrm>
          <a:prstGeom prst="roundRect">
            <a:avLst>
              <a:gd name="adj" fmla="val 3571"/>
            </a:avLst>
          </a:prstGeom>
          <a:solidFill>
            <a:srgbClr val="F4F4F5"/>
          </a:solidFill>
          <a:ln/>
        </p:spPr>
      </p:sp>
      <p:sp>
        <p:nvSpPr>
          <p:cNvPr id="16" name="Shape 12"/>
          <p:cNvSpPr/>
          <p:nvPr/>
        </p:nvSpPr>
        <p:spPr>
          <a:xfrm>
            <a:off x="5596128" y="224028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icons/ro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0969" y="2385121"/>
            <a:ext cx="368686" cy="36868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038344" y="3063240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 to the road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5038344" y="3749040"/>
            <a:ext cx="177393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for different road surfaces and weather conditions that change achievable braking / coasting distance.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077456" y="1965960"/>
            <a:ext cx="2048256" cy="3657600"/>
          </a:xfrm>
          <a:prstGeom prst="roundRect">
            <a:avLst>
              <a:gd name="adj" fmla="val 3571"/>
            </a:avLst>
          </a:prstGeom>
          <a:solidFill>
            <a:srgbClr val="F4F4F5"/>
          </a:solidFill>
          <a:ln/>
        </p:spPr>
      </p:sp>
      <p:sp>
        <p:nvSpPr>
          <p:cNvPr id="21" name="Shape 16"/>
          <p:cNvSpPr/>
          <p:nvPr/>
        </p:nvSpPr>
        <p:spPr>
          <a:xfrm>
            <a:off x="7772400" y="224028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icons/rou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7241" y="2385121"/>
            <a:ext cx="368686" cy="36868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214616" y="3063240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Personalise over time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7214616" y="3749040"/>
            <a:ext cx="177393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optimise behaviour on the driver’s own frequently travelled routes.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9253728" y="1965960"/>
            <a:ext cx="2048256" cy="3657600"/>
          </a:xfrm>
          <a:prstGeom prst="roundRect">
            <a:avLst>
              <a:gd name="adj" fmla="val 3571"/>
            </a:avLst>
          </a:prstGeom>
          <a:solidFill>
            <a:srgbClr val="F4F4F5"/>
          </a:solidFill>
          <a:ln/>
        </p:spPr>
      </p:sp>
      <p:sp>
        <p:nvSpPr>
          <p:cNvPr id="26" name="Shape 20"/>
          <p:cNvSpPr/>
          <p:nvPr/>
        </p:nvSpPr>
        <p:spPr>
          <a:xfrm>
            <a:off x="9948672" y="224028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icons/checkcirc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3513" y="2385121"/>
            <a:ext cx="368686" cy="36868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390888" y="3063240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the fuel saving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9390888" y="3749040"/>
            <a:ext cx="177393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in simulation, measurable fuel savings against normal human driving on the same route and conditions.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ALiCoFSS  |  Review 1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10412"/>
            <a:ext cx="502920" cy="41148"/>
          </a:xfrm>
          <a:prstGeom prst="rect">
            <a:avLst/>
          </a:prstGeom>
          <a:solidFill>
            <a:srgbClr val="C3423F"/>
          </a:solidFill>
          <a:ln/>
        </p:spPr>
      </p:sp>
      <p:sp>
        <p:nvSpPr>
          <p:cNvPr id="5" name="Shape 3"/>
          <p:cNvSpPr/>
          <p:nvPr/>
        </p:nvSpPr>
        <p:spPr>
          <a:xfrm>
            <a:off x="3360420" y="1659636"/>
            <a:ext cx="5440680" cy="3977640"/>
          </a:xfrm>
          <a:prstGeom prst="roundRect">
            <a:avLst>
              <a:gd name="adj" fmla="val 2247"/>
            </a:avLst>
          </a:prstGeom>
          <a:solidFill>
            <a:srgbClr val="F4F4F5"/>
          </a:solidFill>
          <a:ln/>
        </p:spPr>
      </p:sp>
      <p:sp>
        <p:nvSpPr>
          <p:cNvPr id="7" name="Shape 5"/>
          <p:cNvSpPr/>
          <p:nvPr/>
        </p:nvSpPr>
        <p:spPr>
          <a:xfrm>
            <a:off x="3772301" y="2244852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2306" y="2284857"/>
            <a:ext cx="240030" cy="24003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229501" y="22174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Simulation-only, in CARLA (with a model as a stretch goal)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772301" y="2866644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2306" y="2906649"/>
            <a:ext cx="240030" cy="2400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29501" y="283921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</a:t>
            </a:r>
            <a:r>
              <a:rPr lang="en-US" sz="1250" dirty="0" err="1">
                <a:solidFill>
                  <a:srgbClr val="3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LiCo</a:t>
            </a:r>
            <a:r>
              <a:rPr lang="en-US" sz="1250" dirty="0">
                <a:solidFill>
                  <a:srgbClr val="3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distance based on different kind of turns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772301" y="3488436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2306" y="3528441"/>
            <a:ext cx="240030" cy="24003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229501" y="346100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variability: vehicle dynamics &amp; condition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3772301" y="4110228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2306" y="4150233"/>
            <a:ext cx="240030" cy="24003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229501" y="408279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variability: road surface &amp; friction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3772301" y="473202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4" descr="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2306" y="4772025"/>
            <a:ext cx="240030" cy="24003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229501" y="470458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 on regularly-driven routes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ALiCoFSS  |  Review 1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02920" cy="41148"/>
          </a:xfrm>
          <a:prstGeom prst="rect">
            <a:avLst/>
          </a:prstGeom>
          <a:solidFill>
            <a:srgbClr val="C3423F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2286000"/>
            <a:ext cx="822960" cy="822960"/>
          </a:xfrm>
          <a:prstGeom prst="ellipse">
            <a:avLst/>
          </a:prstGeom>
          <a:solidFill>
            <a:srgbClr val="F4F4F5"/>
          </a:solidFill>
          <a:ln/>
        </p:spPr>
      </p:sp>
      <p:pic>
        <p:nvPicPr>
          <p:cNvPr id="6" name="Image 0" descr="icons/g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486" y="2471166"/>
            <a:ext cx="452628" cy="4526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84248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34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46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6576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IMU (accelerometer, gyroscope) read the vehicle’s position, speed, and real coasting behaviour.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127248" y="2578608"/>
            <a:ext cx="164592" cy="228600"/>
          </a:xfrm>
          <a:prstGeom prst="rightArrow">
            <a:avLst/>
          </a:prstGeom>
          <a:solidFill>
            <a:srgbClr val="6E6E73"/>
          </a:solidFill>
          <a:ln/>
        </p:spPr>
      </p:sp>
      <p:sp>
        <p:nvSpPr>
          <p:cNvPr id="11" name="Shape 8"/>
          <p:cNvSpPr/>
          <p:nvPr/>
        </p:nvSpPr>
        <p:spPr>
          <a:xfrm>
            <a:off x="4160520" y="2286000"/>
            <a:ext cx="822960" cy="822960"/>
          </a:xfrm>
          <a:prstGeom prst="ellipse">
            <a:avLst/>
          </a:prstGeom>
          <a:solidFill>
            <a:srgbClr val="F4F4F5"/>
          </a:solidFill>
          <a:ln/>
        </p:spPr>
      </p:sp>
      <p:pic>
        <p:nvPicPr>
          <p:cNvPr id="12" name="Image 1" descr="icons/r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5686" y="2471166"/>
            <a:ext cx="452628" cy="45262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27448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34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291840" y="3246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383280" y="36576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upcoming turn’s geometry and the current road surface / weather are characterised.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870448" y="2578608"/>
            <a:ext cx="164592" cy="228600"/>
          </a:xfrm>
          <a:prstGeom prst="rightArrow">
            <a:avLst/>
          </a:prstGeom>
          <a:solidFill>
            <a:srgbClr val="6E6E73"/>
          </a:solidFill>
          <a:ln/>
        </p:spPr>
      </p:sp>
      <p:sp>
        <p:nvSpPr>
          <p:cNvPr id="17" name="Shape 13"/>
          <p:cNvSpPr/>
          <p:nvPr/>
        </p:nvSpPr>
        <p:spPr>
          <a:xfrm>
            <a:off x="6903720" y="2286000"/>
            <a:ext cx="822960" cy="822960"/>
          </a:xfrm>
          <a:prstGeom prst="ellipse">
            <a:avLst/>
          </a:prstGeom>
          <a:solidFill>
            <a:srgbClr val="F4F4F5"/>
          </a:solidFill>
          <a:ln/>
        </p:spPr>
      </p:sp>
      <p:pic>
        <p:nvPicPr>
          <p:cNvPr id="18" name="Image 2" descr="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8886" y="2471166"/>
            <a:ext cx="452628" cy="45262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470648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34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035040" y="3246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126480" y="36576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learning model predicts the lift-off point needed to reach the turn’s safe speed without braking.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613648" y="2578608"/>
            <a:ext cx="164592" cy="228600"/>
          </a:xfrm>
          <a:prstGeom prst="rightArrow">
            <a:avLst/>
          </a:prstGeom>
          <a:solidFill>
            <a:srgbClr val="6E6E73"/>
          </a:solidFill>
          <a:ln/>
        </p:spPr>
      </p:sp>
      <p:sp>
        <p:nvSpPr>
          <p:cNvPr id="23" name="Shape 18"/>
          <p:cNvSpPr/>
          <p:nvPr/>
        </p:nvSpPr>
        <p:spPr>
          <a:xfrm>
            <a:off x="9646920" y="2286000"/>
            <a:ext cx="822960" cy="822960"/>
          </a:xfrm>
          <a:prstGeom prst="ellipse">
            <a:avLst/>
          </a:prstGeom>
          <a:solidFill>
            <a:srgbClr val="F4F4F5"/>
          </a:solidFill>
          <a:ln/>
        </p:spPr>
      </p:sp>
      <p:pic>
        <p:nvPicPr>
          <p:cNvPr id="24" name="Image 3" descr="icons/spe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2086" y="2471166"/>
            <a:ext cx="452628" cy="45262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213848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34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8778240" y="3246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 &amp; Learn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8869680" y="36576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simulated vehicle coasts instead of braking; outcomes refine the model and the driver’s route profile.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4F5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868680" y="502920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platform:  </a:t>
            </a:r>
            <a:r>
              <a:rPr lang="en-US" sz="1300" dirty="0">
                <a:solidFill>
                  <a:srgbClr val="3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CARLA (open-source, research-grade) — Python-scripted vehicle control, tunable vehicle physics, configurable weather, and a GPS + IMU sensor suite.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ALiCoFSS  |  Review 1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02920" cy="41148"/>
          </a:xfrm>
          <a:prstGeom prst="rect">
            <a:avLst/>
          </a:prstGeom>
          <a:solidFill>
            <a:srgbClr val="C3423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202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4F4F5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7744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icons/sp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5831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217627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decision model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965960" y="2633472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simulated model that reliably decides coast-vs-brake approaching sharp turns.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72200" y="19202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4F4F5"/>
          </a:solidFill>
          <a:ln/>
        </p:spPr>
      </p:sp>
      <p:sp>
        <p:nvSpPr>
          <p:cNvPr id="11" name="Shape 8"/>
          <p:cNvSpPr/>
          <p:nvPr/>
        </p:nvSpPr>
        <p:spPr>
          <a:xfrm>
            <a:off x="6446520" y="237744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icons/gas_pu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260" y="258318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589520" y="217627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fuel savings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7589520" y="2633472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fuel-consumption comparison: automated LiCo vs. normal human driving, same route &amp; conditions.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9776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4F4F5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443484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icons/gea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464058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965960" y="423367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Cross-vehicle generalisation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1965960" y="4690872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the model adapts across varied vehicle conditions and road surfaces without full retraining.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172200" y="39776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4F4F5"/>
          </a:solidFill>
          <a:ln/>
        </p:spPr>
      </p:sp>
      <p:sp>
        <p:nvSpPr>
          <p:cNvPr id="21" name="Shape 16"/>
          <p:cNvSpPr/>
          <p:nvPr/>
        </p:nvSpPr>
        <p:spPr>
          <a:xfrm>
            <a:off x="6446520" y="443484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icons/rou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2260" y="464058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589520" y="423367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personalisation</a:t>
            </a:r>
            <a:endParaRPr lang="en-US" sz="1450" dirty="0"/>
          </a:p>
        </p:txBody>
      </p:sp>
      <p:sp>
        <p:nvSpPr>
          <p:cNvPr id="24" name="Text 18"/>
          <p:cNvSpPr txBox="1"/>
          <p:nvPr/>
        </p:nvSpPr>
        <p:spPr>
          <a:xfrm>
            <a:off x="7589520" y="4690872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extra optimisation on the driver’s own frequently travelled paths.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ALiCoFSS  |  Review 1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&amp; Contributions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02920" cy="41148"/>
          </a:xfrm>
          <a:prstGeom prst="rect">
            <a:avLst/>
          </a:prstGeom>
          <a:solidFill>
            <a:srgbClr val="C3423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7452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4F4F5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945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icons/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953" y="2365553"/>
            <a:ext cx="435254" cy="43525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154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 Swarit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5204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34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4096512"/>
            <a:ext cx="82296" cy="82296"/>
          </a:xfrm>
          <a:prstGeom prst="ellipse">
            <a:avLst/>
          </a:prstGeom>
          <a:solidFill>
            <a:srgbClr val="C3423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24128" y="39136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IMU sensor integration and fusion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22960" y="4718304"/>
            <a:ext cx="82296" cy="82296"/>
          </a:xfrm>
          <a:prstGeom prst="ellipse">
            <a:avLst/>
          </a:prstGeom>
          <a:solidFill>
            <a:srgbClr val="C3423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24128" y="45354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dynamics &amp; physics parameterisation in CARLA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2960" y="5340096"/>
            <a:ext cx="82296" cy="82296"/>
          </a:xfrm>
          <a:prstGeom prst="ellipse">
            <a:avLst/>
          </a:prstGeom>
          <a:solidFill>
            <a:srgbClr val="C3423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24128" y="51572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Coast-vs-brake decision logic (control layer)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325112" y="187452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1A1A1D"/>
          </a:solidFill>
          <a:ln/>
        </p:spPr>
      </p:sp>
      <p:sp>
        <p:nvSpPr>
          <p:cNvPr id="17" name="Shape 14"/>
          <p:cNvSpPr/>
          <p:nvPr/>
        </p:nvSpPr>
        <p:spPr>
          <a:xfrm>
            <a:off x="4599432" y="2194560"/>
            <a:ext cx="777240" cy="777240"/>
          </a:xfrm>
          <a:prstGeom prst="ellipse">
            <a:avLst/>
          </a:prstGeom>
          <a:solidFill>
            <a:srgbClr val="2E2E32"/>
          </a:solidFill>
          <a:ln/>
        </p:spPr>
      </p:sp>
      <p:pic>
        <p:nvPicPr>
          <p:cNvPr id="18" name="Image 1" descr="icons/hard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0425" y="2365553"/>
            <a:ext cx="435254" cy="43525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599432" y="3154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Sayeed Ahmad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4599432" y="35204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34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599432" y="4096512"/>
            <a:ext cx="82296" cy="82296"/>
          </a:xfrm>
          <a:prstGeom prst="ellipse">
            <a:avLst/>
          </a:prstGeom>
          <a:solidFill>
            <a:srgbClr val="C3423F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4800600" y="39136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geometry classification &amp; design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4599432" y="4718304"/>
            <a:ext cx="82296" cy="82296"/>
          </a:xfrm>
          <a:prstGeom prst="ellipse">
            <a:avLst/>
          </a:prstGeom>
          <a:solidFill>
            <a:srgbClr val="C3423F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4800600" y="45354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Road-surface / friction characterisation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4599432" y="5340096"/>
            <a:ext cx="82296" cy="82296"/>
          </a:xfrm>
          <a:prstGeom prst="ellipse">
            <a:avLst/>
          </a:prstGeom>
          <a:solidFill>
            <a:srgbClr val="C3423F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4800600" y="51572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Weather-linked friction modelling (rain, etc.)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8101584" y="187452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4F4F5"/>
          </a:solidFill>
          <a:ln/>
        </p:spPr>
      </p:sp>
      <p:sp>
        <p:nvSpPr>
          <p:cNvPr id="28" name="Shape 24"/>
          <p:cNvSpPr/>
          <p:nvPr/>
        </p:nvSpPr>
        <p:spPr>
          <a:xfrm>
            <a:off x="8375904" y="21945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2" descr="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6897" y="2365553"/>
            <a:ext cx="435254" cy="435254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375904" y="3154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Dhanvi &amp; Varshith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8375904" y="35204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34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8375904" y="4096512"/>
            <a:ext cx="82296" cy="82296"/>
          </a:xfrm>
          <a:prstGeom prst="ellipse">
            <a:avLst/>
          </a:prstGeom>
          <a:solidFill>
            <a:srgbClr val="C3423F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577072" y="39136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LiCo-distance / timing model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8375904" y="4718304"/>
            <a:ext cx="82296" cy="82296"/>
          </a:xfrm>
          <a:prstGeom prst="ellipse">
            <a:avLst/>
          </a:prstGeom>
          <a:solidFill>
            <a:srgbClr val="C3423F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8577072" y="45354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Generalisation across vehicle &amp; road variability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8375904" y="5340096"/>
            <a:ext cx="82296" cy="82296"/>
          </a:xfrm>
          <a:prstGeom prst="ellipse">
            <a:avLst/>
          </a:prstGeom>
          <a:solidFill>
            <a:srgbClr val="C3423F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8577072" y="51572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 to the driver’s regular routes</a:t>
            </a:r>
            <a:endParaRPr lang="en-US" sz="1150" dirty="0"/>
          </a:p>
        </p:txBody>
      </p:sp>
      <p:sp>
        <p:nvSpPr>
          <p:cNvPr id="38" name="Text 3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ALiCoFSS  |  Review 1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240000">
            <a:off x="-914400" y="5394960"/>
            <a:ext cx="14630400" cy="2011680"/>
          </a:xfrm>
          <a:prstGeom prst="rect">
            <a:avLst/>
          </a:prstGeom>
          <a:solidFill>
            <a:srgbClr val="232327"/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1280160"/>
            <a:ext cx="1371600" cy="1371600"/>
          </a:xfrm>
          <a:prstGeom prst="ellipse">
            <a:avLst/>
          </a:prstGeom>
          <a:solidFill>
            <a:srgbClr val="2E2E32"/>
          </a:solidFill>
          <a:ln/>
        </p:spPr>
      </p:sp>
      <p:pic>
        <p:nvPicPr>
          <p:cNvPr id="4" name="Image 0" descr="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860" y="162306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880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ALiCoFSS  |  Review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720</Words>
  <Application>Microsoft Office PowerPoint</Application>
  <PresentationFormat>Widescreen</PresentationFormat>
  <Paragraphs>114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Setu Swarit</cp:lastModifiedBy>
  <cp:revision>3</cp:revision>
  <dcterms:created xsi:type="dcterms:W3CDTF">2026-09-16T08:24:36Z</dcterms:created>
  <dcterms:modified xsi:type="dcterms:W3CDTF">2026-09-16T09:02:26Z</dcterms:modified>
</cp:coreProperties>
</file>